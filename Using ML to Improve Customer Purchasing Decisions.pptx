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 id="273" r:id="rId14"/>
    <p:sldId id="277" r:id="rId15"/>
    <p:sldId id="278" r:id="rId16"/>
    <p:sldId id="279" r:id="rId17"/>
    <p:sldId id="274" r:id="rId18"/>
    <p:sldId id="275" r:id="rId19"/>
    <p:sldId id="276" r:id="rId20"/>
    <p:sldId id="280" r:id="rId21"/>
    <p:sldId id="266" r:id="rId22"/>
    <p:sldId id="267" r:id="rId23"/>
    <p:sldId id="268" r:id="rId24"/>
    <p:sldId id="270" r:id="rId25"/>
    <p:sldId id="269"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strRef>
              <c:f>Sheet1!$B$1</c:f>
              <c:strCache>
                <c:ptCount val="1"/>
                <c:pt idx="0">
                  <c:v>Silhouette Score</c:v>
                </c:pt>
              </c:strCache>
            </c:strRef>
          </c:tx>
          <c:spPr>
            <a:ln w="28575" cap="rnd">
              <a:solidFill>
                <a:srgbClr val="1F52D6"/>
              </a:solidFill>
              <a:round/>
            </a:ln>
            <a:effectLst/>
          </c:spPr>
          <c:marker>
            <c:symbol val="circle"/>
            <c:size val="7"/>
            <c:spPr>
              <a:solidFill>
                <a:srgbClr val="1F52D6"/>
              </a:solidFill>
              <a:ln w="9525">
                <a:solidFill>
                  <a:srgbClr val="FFFFFF"/>
                </a:solidFill>
              </a:ln>
            </c:spPr>
          </c:marker>
          <c:dPt>
            <c:idx val="3"/>
            <c:marker>
              <c:symbol val="circle"/>
              <c:size val="11"/>
              <c:spPr>
                <a:solidFill>
                  <a:srgbClr val="F5A623"/>
                </a:solidFill>
                <a:ln w="12700">
                  <a:solidFill>
                    <a:srgbClr val="FFFFFF"/>
                  </a:solidFill>
                </a:ln>
              </c:spPr>
            </c:marker>
            <c:bubble3D val="0"/>
            <c:extLst>
              <c:ext xmlns:c16="http://schemas.microsoft.com/office/drawing/2014/chart" uri="{C3380CC4-5D6E-409C-BE32-E72D297353CC}">
                <c16:uniqueId val="{00000000-243F-4529-9EEA-1795347949BD}"/>
              </c:ext>
            </c:extLst>
          </c:dPt>
          <c:dLbls>
            <c:numFmt formatCode="0.000" sourceLinked="0"/>
            <c:spPr>
              <a:noFill/>
              <a:ln>
                <a:noFill/>
              </a:ln>
            </c:spPr>
            <c:txPr>
              <a:bodyPr/>
              <a:lstStyle/>
              <a:p>
                <a:pPr>
                  <a:defRPr sz="1000" b="0">
                    <a:solidFill>
                      <a:srgbClr val="5C6B85"/>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c:v>
                </c:pt>
                <c:pt idx="1">
                  <c:v>3</c:v>
                </c:pt>
                <c:pt idx="2">
                  <c:v>4</c:v>
                </c:pt>
                <c:pt idx="3">
                  <c:v>5</c:v>
                </c:pt>
                <c:pt idx="4">
                  <c:v>6</c:v>
                </c:pt>
                <c:pt idx="5">
                  <c:v>7</c:v>
                </c:pt>
                <c:pt idx="6">
                  <c:v>8</c:v>
                </c:pt>
                <c:pt idx="7">
                  <c:v>9</c:v>
                </c:pt>
                <c:pt idx="8">
                  <c:v>10</c:v>
                </c:pt>
              </c:numCache>
            </c:numRef>
          </c:cat>
          <c:val>
            <c:numRef>
              <c:f>Sheet1!$B$2:$B$10</c:f>
              <c:numCache>
                <c:formatCode>0.000</c:formatCode>
                <c:ptCount val="9"/>
                <c:pt idx="0">
                  <c:v>0.44259999999999999</c:v>
                </c:pt>
                <c:pt idx="1">
                  <c:v>0.40210000000000001</c:v>
                </c:pt>
                <c:pt idx="2">
                  <c:v>0.36480000000000001</c:v>
                </c:pt>
                <c:pt idx="3">
                  <c:v>0.36720000000000003</c:v>
                </c:pt>
                <c:pt idx="4">
                  <c:v>0.37330000000000002</c:v>
                </c:pt>
                <c:pt idx="5">
                  <c:v>0.38200000000000001</c:v>
                </c:pt>
                <c:pt idx="6">
                  <c:v>0.37240000000000001</c:v>
                </c:pt>
                <c:pt idx="7">
                  <c:v>0.36759999999999998</c:v>
                </c:pt>
                <c:pt idx="8">
                  <c:v>0.36959999999999998</c:v>
                </c:pt>
              </c:numCache>
            </c:numRef>
          </c:val>
          <c:smooth val="0"/>
          <c:extLst>
            <c:ext xmlns:c16="http://schemas.microsoft.com/office/drawing/2014/chart" uri="{C3380CC4-5D6E-409C-BE32-E72D297353CC}">
              <c16:uniqueId val="{00000001-243F-4529-9EEA-1795347949BD}"/>
            </c:ext>
          </c:extLst>
        </c:ser>
        <c:dLbls>
          <c:showLegendKey val="0"/>
          <c:showVal val="0"/>
          <c:showCatName val="0"/>
          <c:showSerName val="0"/>
          <c:showPercent val="0"/>
          <c:showBubbleSize val="0"/>
        </c:dLbls>
        <c:marker val="1"/>
        <c:smooth val="0"/>
        <c:axId val="111111111"/>
        <c:axId val="222222222"/>
      </c:lineChart>
      <c:catAx>
        <c:axId val="111111111"/>
        <c:scaling>
          <c:orientation val="minMax"/>
        </c:scaling>
        <c:delete val="0"/>
        <c:axPos val="b"/>
        <c:title>
          <c:tx>
            <c:rich>
              <a:bodyPr rot="0" spcFirstLastPara="1" vertOverflow="ellipsis" vert="horz" wrap="square" anchor="ctr" anchorCtr="1"/>
              <a:lstStyle/>
              <a:p>
                <a:pPr>
                  <a:defRPr sz="1100" b="1">
                    <a:solidFill>
                      <a:srgbClr val="16233B"/>
                    </a:solidFill>
                    <a:latin typeface="Calibri"/>
                  </a:defRPr>
                </a:pPr>
                <a:r>
                  <a:rPr lang="en-US" sz="1100" b="1">
                    <a:solidFill>
                      <a:srgbClr val="16233B"/>
                    </a:solidFill>
                    <a:latin typeface="Calibri"/>
                  </a:rPr>
                  <a:t>Number of Clusters (k)</a:t>
                </a:r>
              </a:p>
            </c:rich>
          </c:tx>
          <c:overlay val="0"/>
        </c:title>
        <c:numFmt formatCode="General" sourceLinked="1"/>
        <c:majorTickMark val="none"/>
        <c:minorTickMark val="none"/>
        <c:tickLblPos val="nextTo"/>
        <c:spPr>
          <a:ln w="9525">
            <a:solidFill>
              <a:srgbClr val="D4DCEA"/>
            </a:solidFill>
          </a:ln>
        </c:spPr>
        <c:txPr>
          <a:bodyPr/>
          <a:lstStyle/>
          <a:p>
            <a:pPr>
              <a:defRPr sz="1000">
                <a:solidFill>
                  <a:srgbClr val="5C6B85"/>
                </a:solidFill>
                <a:latin typeface="Calibri"/>
              </a:defRPr>
            </a:pPr>
            <a:endParaRPr lang="en-US"/>
          </a:p>
        </c:txPr>
        <c:crossAx val="222222222"/>
        <c:crosses val="autoZero"/>
        <c:auto val="1"/>
        <c:lblAlgn val="ctr"/>
        <c:lblOffset val="100"/>
        <c:noMultiLvlLbl val="0"/>
      </c:catAx>
      <c:valAx>
        <c:axId val="222222222"/>
        <c:scaling>
          <c:orientation val="minMax"/>
          <c:max val="0.46"/>
          <c:min val="0.34"/>
        </c:scaling>
        <c:delete val="0"/>
        <c:axPos val="l"/>
        <c:title>
          <c:tx>
            <c:rich>
              <a:bodyPr rot="-5400000" spcFirstLastPara="1" vertOverflow="ellipsis" vert="horz" wrap="square" anchor="ctr" anchorCtr="1"/>
              <a:lstStyle/>
              <a:p>
                <a:pPr>
                  <a:defRPr sz="1100" b="1">
                    <a:solidFill>
                      <a:srgbClr val="16233B"/>
                    </a:solidFill>
                    <a:latin typeface="Calibri"/>
                  </a:defRPr>
                </a:pPr>
                <a:r>
                  <a:rPr lang="en-US" sz="1100" b="1">
                    <a:solidFill>
                      <a:srgbClr val="16233B"/>
                    </a:solidFill>
                    <a:latin typeface="Calibri"/>
                  </a:rPr>
                  <a:t>Silhouette Score</a:t>
                </a:r>
              </a:p>
            </c:rich>
          </c:tx>
          <c:overlay val="0"/>
        </c:title>
        <c:numFmt formatCode="0.00" sourceLinked="0"/>
        <c:majorTickMark val="out"/>
        <c:minorTickMark val="none"/>
        <c:tickLblPos val="nextTo"/>
        <c:spPr>
          <a:ln>
            <a:noFill/>
          </a:ln>
        </c:spPr>
        <c:txPr>
          <a:bodyPr/>
          <a:lstStyle/>
          <a:p>
            <a:pPr>
              <a:defRPr sz="1000">
                <a:solidFill>
                  <a:srgbClr val="5C6B85"/>
                </a:solidFill>
                <a:latin typeface="Calibri"/>
              </a:defRPr>
            </a:pPr>
            <a:endParaRPr lang="en-US"/>
          </a:p>
        </c:txPr>
        <c:crossAx val="111111111"/>
        <c:crosses val="autoZero"/>
        <c:crossBetween val="between"/>
        <c:majorUnit val="0.02"/>
      </c:valAx>
      <c:spPr>
        <a:noFill/>
        <a:ln>
          <a:noFill/>
        </a:ln>
      </c:spPr>
    </c:plotArea>
    <c:plotVisOnly val="1"/>
    <c:dispBlanksAs val="gap"/>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Sheet1!$A$1</c:f>
              <c:strCache>
                <c:ptCount val="1"/>
                <c:pt idx="0">
                  <c:v>0  Low-Value Newcomers</c:v>
                </c:pt>
              </c:strCache>
            </c:strRef>
          </c:tx>
          <c:spPr>
            <a:ln w="19050">
              <a:noFill/>
            </a:ln>
          </c:spPr>
          <c:marker>
            <c:symbol val="circle"/>
            <c:size val="7"/>
            <c:spPr>
              <a:solidFill>
                <a:srgbClr val="1F52D6">
                  <a:alpha val="88000"/>
                </a:srgbClr>
              </a:solidFill>
              <a:ln w="6350">
                <a:solidFill>
                  <a:srgbClr val="FFFFFF"/>
                </a:solidFill>
              </a:ln>
            </c:spPr>
          </c:marker>
          <c:xVal>
            <c:numLit>
              <c:formatCode>General</c:formatCode>
              <c:ptCount val="20"/>
              <c:pt idx="0">
                <c:v>0.33</c:v>
              </c:pt>
              <c:pt idx="1">
                <c:v>-0.85599999999999998</c:v>
              </c:pt>
              <c:pt idx="2">
                <c:v>-0.58199999999999996</c:v>
              </c:pt>
              <c:pt idx="3">
                <c:v>-0.376</c:v>
              </c:pt>
              <c:pt idx="4">
                <c:v>-1.034</c:v>
              </c:pt>
              <c:pt idx="5">
                <c:v>-0.59899999999999998</c:v>
              </c:pt>
              <c:pt idx="6">
                <c:v>-0.6</c:v>
              </c:pt>
              <c:pt idx="7">
                <c:v>-1.5649999999999999</c:v>
              </c:pt>
              <c:pt idx="8">
                <c:v>-0.04</c:v>
              </c:pt>
              <c:pt idx="9">
                <c:v>-0.27</c:v>
              </c:pt>
              <c:pt idx="10">
                <c:v>-0.94399999999999995</c:v>
              </c:pt>
              <c:pt idx="11">
                <c:v>-0.69399999999999995</c:v>
              </c:pt>
              <c:pt idx="12">
                <c:v>-0.32200000000000001</c:v>
              </c:pt>
              <c:pt idx="13">
                <c:v>-0.74399999999999999</c:v>
              </c:pt>
              <c:pt idx="14">
                <c:v>-0.73399999999999999</c:v>
              </c:pt>
              <c:pt idx="15">
                <c:v>-1.399</c:v>
              </c:pt>
              <c:pt idx="16">
                <c:v>-0.29499999999999998</c:v>
              </c:pt>
              <c:pt idx="17">
                <c:v>-0.53200000000000003</c:v>
              </c:pt>
              <c:pt idx="18">
                <c:v>-0.44900000000000001</c:v>
              </c:pt>
              <c:pt idx="19">
                <c:v>-1.44</c:v>
              </c:pt>
            </c:numLit>
          </c:xVal>
          <c:yVal>
            <c:numLit>
              <c:formatCode>General</c:formatCode>
              <c:ptCount val="20"/>
              <c:pt idx="0">
                <c:v>1.925</c:v>
              </c:pt>
              <c:pt idx="1">
                <c:v>1.177</c:v>
              </c:pt>
              <c:pt idx="2">
                <c:v>0.90600000000000003</c:v>
              </c:pt>
              <c:pt idx="3">
                <c:v>2.1150000000000002</c:v>
              </c:pt>
              <c:pt idx="4">
                <c:v>1.077</c:v>
              </c:pt>
              <c:pt idx="5">
                <c:v>0.375</c:v>
              </c:pt>
              <c:pt idx="6">
                <c:v>0.89700000000000002</c:v>
              </c:pt>
              <c:pt idx="7">
                <c:v>-4.3999999999999997E-2</c:v>
              </c:pt>
              <c:pt idx="8">
                <c:v>1.625</c:v>
              </c:pt>
              <c:pt idx="9">
                <c:v>0.89200000000000002</c:v>
              </c:pt>
              <c:pt idx="10">
                <c:v>0.72899999999999998</c:v>
              </c:pt>
              <c:pt idx="11">
                <c:v>1.6359999999999999</c:v>
              </c:pt>
              <c:pt idx="12">
                <c:v>0.27400000000000002</c:v>
              </c:pt>
              <c:pt idx="13">
                <c:v>1.3680000000000001</c:v>
              </c:pt>
              <c:pt idx="14">
                <c:v>6.8000000000000005E-2</c:v>
              </c:pt>
              <c:pt idx="15">
                <c:v>0.76900000000000002</c:v>
              </c:pt>
              <c:pt idx="16">
                <c:v>0.498</c:v>
              </c:pt>
              <c:pt idx="17">
                <c:v>1.831</c:v>
              </c:pt>
              <c:pt idx="18">
                <c:v>1.9830000000000001</c:v>
              </c:pt>
              <c:pt idx="19">
                <c:v>0.93500000000000005</c:v>
              </c:pt>
            </c:numLit>
          </c:yVal>
          <c:smooth val="0"/>
          <c:extLst>
            <c:ext xmlns:c16="http://schemas.microsoft.com/office/drawing/2014/chart" uri="{C3380CC4-5D6E-409C-BE32-E72D297353CC}">
              <c16:uniqueId val="{00000000-C7DA-4E29-A48F-989FCC1C0776}"/>
            </c:ext>
          </c:extLst>
        </c:ser>
        <c:ser>
          <c:idx val="1"/>
          <c:order val="1"/>
          <c:tx>
            <c:strRef>
              <c:f>Sheet1!$A$2</c:f>
              <c:strCache>
                <c:ptCount val="1"/>
                <c:pt idx="0">
                  <c:v>1  Micro Outlier Group</c:v>
                </c:pt>
              </c:strCache>
            </c:strRef>
          </c:tx>
          <c:spPr>
            <a:ln w="19050">
              <a:noFill/>
            </a:ln>
          </c:spPr>
          <c:marker>
            <c:symbol val="circle"/>
            <c:size val="7"/>
            <c:spPr>
              <a:solidFill>
                <a:srgbClr val="F5A623">
                  <a:alpha val="88000"/>
                </a:srgbClr>
              </a:solidFill>
              <a:ln w="6350">
                <a:solidFill>
                  <a:srgbClr val="FFFFFF"/>
                </a:solidFill>
              </a:ln>
            </c:spPr>
          </c:marker>
          <c:xVal>
            <c:numLit>
              <c:formatCode>General</c:formatCode>
              <c:ptCount val="6"/>
              <c:pt idx="0">
                <c:v>4.694</c:v>
              </c:pt>
              <c:pt idx="1">
                <c:v>4.3369999999999997</c:v>
              </c:pt>
              <c:pt idx="2">
                <c:v>4.5990000000000002</c:v>
              </c:pt>
              <c:pt idx="3">
                <c:v>4.1369999999999996</c:v>
              </c:pt>
              <c:pt idx="4">
                <c:v>3.802</c:v>
              </c:pt>
              <c:pt idx="5">
                <c:v>3.7690000000000001</c:v>
              </c:pt>
            </c:numLit>
          </c:xVal>
          <c:yVal>
            <c:numLit>
              <c:formatCode>General</c:formatCode>
              <c:ptCount val="6"/>
              <c:pt idx="0">
                <c:v>3.4340000000000002</c:v>
              </c:pt>
              <c:pt idx="1">
                <c:v>4.0869999999999997</c:v>
              </c:pt>
              <c:pt idx="2">
                <c:v>3.3940000000000001</c:v>
              </c:pt>
              <c:pt idx="3">
                <c:v>3.1160000000000001</c:v>
              </c:pt>
              <c:pt idx="4">
                <c:v>3.9689999999999999</c:v>
              </c:pt>
              <c:pt idx="5">
                <c:v>3.383</c:v>
              </c:pt>
            </c:numLit>
          </c:yVal>
          <c:smooth val="0"/>
          <c:extLst>
            <c:ext xmlns:c16="http://schemas.microsoft.com/office/drawing/2014/chart" uri="{C3380CC4-5D6E-409C-BE32-E72D297353CC}">
              <c16:uniqueId val="{00000001-C7DA-4E29-A48F-989FCC1C0776}"/>
            </c:ext>
          </c:extLst>
        </c:ser>
        <c:ser>
          <c:idx val="2"/>
          <c:order val="2"/>
          <c:tx>
            <c:strRef>
              <c:f>Sheet1!$A$3</c:f>
              <c:strCache>
                <c:ptCount val="1"/>
                <c:pt idx="0">
                  <c:v>2  Mid-Sized Cluster</c:v>
                </c:pt>
              </c:strCache>
            </c:strRef>
          </c:tx>
          <c:spPr>
            <a:ln w="19050">
              <a:noFill/>
            </a:ln>
          </c:spPr>
          <c:marker>
            <c:symbol val="circle"/>
            <c:size val="7"/>
            <c:spPr>
              <a:solidFill>
                <a:srgbClr val="5C6B85">
                  <a:alpha val="88000"/>
                </a:srgbClr>
              </a:solidFill>
              <a:ln w="6350">
                <a:solidFill>
                  <a:srgbClr val="FFFFFF"/>
                </a:solidFill>
              </a:ln>
            </c:spPr>
          </c:marker>
          <c:xVal>
            <c:numLit>
              <c:formatCode>General</c:formatCode>
              <c:ptCount val="16"/>
              <c:pt idx="0">
                <c:v>0.46100000000000002</c:v>
              </c:pt>
              <c:pt idx="1">
                <c:v>0.55200000000000005</c:v>
              </c:pt>
              <c:pt idx="2">
                <c:v>0.32100000000000001</c:v>
              </c:pt>
              <c:pt idx="3">
                <c:v>0.214</c:v>
              </c:pt>
              <c:pt idx="4">
                <c:v>-0.46100000000000002</c:v>
              </c:pt>
              <c:pt idx="5">
                <c:v>0.70099999999999996</c:v>
              </c:pt>
              <c:pt idx="6">
                <c:v>0.34300000000000003</c:v>
              </c:pt>
              <c:pt idx="7">
                <c:v>1.1160000000000001</c:v>
              </c:pt>
              <c:pt idx="8">
                <c:v>0.17899999999999999</c:v>
              </c:pt>
              <c:pt idx="9">
                <c:v>-0.74399999999999999</c:v>
              </c:pt>
              <c:pt idx="10">
                <c:v>0.34</c:v>
              </c:pt>
              <c:pt idx="11">
                <c:v>1.42</c:v>
              </c:pt>
              <c:pt idx="12">
                <c:v>0.17</c:v>
              </c:pt>
              <c:pt idx="13">
                <c:v>-0.13400000000000001</c:v>
              </c:pt>
              <c:pt idx="14">
                <c:v>-0.316</c:v>
              </c:pt>
              <c:pt idx="15">
                <c:v>-0.23</c:v>
              </c:pt>
            </c:numLit>
          </c:xVal>
          <c:yVal>
            <c:numLit>
              <c:formatCode>General</c:formatCode>
              <c:ptCount val="16"/>
              <c:pt idx="0">
                <c:v>-1.45</c:v>
              </c:pt>
              <c:pt idx="1">
                <c:v>-1.89</c:v>
              </c:pt>
              <c:pt idx="2">
                <c:v>-0.55100000000000005</c:v>
              </c:pt>
              <c:pt idx="3">
                <c:v>-1.4410000000000001</c:v>
              </c:pt>
              <c:pt idx="4">
                <c:v>-1.246</c:v>
              </c:pt>
              <c:pt idx="5">
                <c:v>-0.58099999999999996</c:v>
              </c:pt>
              <c:pt idx="6">
                <c:v>-0.54800000000000004</c:v>
              </c:pt>
              <c:pt idx="7">
                <c:v>-1.4059999999999999</c:v>
              </c:pt>
              <c:pt idx="8">
                <c:v>-1.1339999999999999</c:v>
              </c:pt>
              <c:pt idx="9">
                <c:v>-0.93200000000000005</c:v>
              </c:pt>
              <c:pt idx="10">
                <c:v>-1.3959999999999999</c:v>
              </c:pt>
              <c:pt idx="11">
                <c:v>-2.1890000000000001</c:v>
              </c:pt>
              <c:pt idx="12">
                <c:v>-0.97299999999999998</c:v>
              </c:pt>
              <c:pt idx="13">
                <c:v>-0.85299999999999998</c:v>
              </c:pt>
              <c:pt idx="14">
                <c:v>-1.0920000000000001</c:v>
              </c:pt>
              <c:pt idx="15">
                <c:v>-1.762</c:v>
              </c:pt>
            </c:numLit>
          </c:yVal>
          <c:smooth val="0"/>
          <c:extLst>
            <c:ext xmlns:c16="http://schemas.microsoft.com/office/drawing/2014/chart" uri="{C3380CC4-5D6E-409C-BE32-E72D297353CC}">
              <c16:uniqueId val="{00000002-C7DA-4E29-A48F-989FCC1C0776}"/>
            </c:ext>
          </c:extLst>
        </c:ser>
        <c:ser>
          <c:idx val="3"/>
          <c:order val="3"/>
          <c:tx>
            <c:strRef>
              <c:f>Sheet1!$A$4</c:f>
              <c:strCache>
                <c:ptCount val="1"/>
                <c:pt idx="0">
                  <c:v>3  Dormant Long-Tenured</c:v>
                </c:pt>
              </c:strCache>
            </c:strRef>
          </c:tx>
          <c:spPr>
            <a:ln w="19050">
              <a:noFill/>
            </a:ln>
          </c:spPr>
          <c:marker>
            <c:symbol val="circle"/>
            <c:size val="7"/>
            <c:spPr>
              <a:solidFill>
                <a:srgbClr val="27AE8F">
                  <a:alpha val="88000"/>
                </a:srgbClr>
              </a:solidFill>
              <a:ln w="6350">
                <a:solidFill>
                  <a:srgbClr val="FFFFFF"/>
                </a:solidFill>
              </a:ln>
            </c:spPr>
          </c:marker>
          <c:xVal>
            <c:numLit>
              <c:formatCode>General</c:formatCode>
              <c:ptCount val="22"/>
              <c:pt idx="0">
                <c:v>-1.498</c:v>
              </c:pt>
              <c:pt idx="1">
                <c:v>-1.6950000000000001</c:v>
              </c:pt>
              <c:pt idx="2">
                <c:v>-1.55</c:v>
              </c:pt>
              <c:pt idx="3">
                <c:v>-0.752</c:v>
              </c:pt>
              <c:pt idx="4">
                <c:v>-0.63500000000000001</c:v>
              </c:pt>
              <c:pt idx="5">
                <c:v>-1.0649999999999999</c:v>
              </c:pt>
              <c:pt idx="6">
                <c:v>-1.1259999999999999</c:v>
              </c:pt>
              <c:pt idx="7">
                <c:v>-1.0620000000000001</c:v>
              </c:pt>
              <c:pt idx="8">
                <c:v>-1.4059999999999999</c:v>
              </c:pt>
              <c:pt idx="9">
                <c:v>-1.4379999999999999</c:v>
              </c:pt>
              <c:pt idx="10">
                <c:v>-1.7370000000000001</c:v>
              </c:pt>
              <c:pt idx="11">
                <c:v>-1.4279999999999999</c:v>
              </c:pt>
              <c:pt idx="12">
                <c:v>-0.27</c:v>
              </c:pt>
              <c:pt idx="13">
                <c:v>-0.96499999999999997</c:v>
              </c:pt>
              <c:pt idx="14">
                <c:v>-1.571</c:v>
              </c:pt>
              <c:pt idx="15">
                <c:v>-1.6359999999999999</c:v>
              </c:pt>
              <c:pt idx="16">
                <c:v>-1.8320000000000001</c:v>
              </c:pt>
              <c:pt idx="17">
                <c:v>-1.2130000000000001</c:v>
              </c:pt>
              <c:pt idx="18">
                <c:v>-1.204</c:v>
              </c:pt>
              <c:pt idx="19">
                <c:v>-2.1219999999999999</c:v>
              </c:pt>
              <c:pt idx="20">
                <c:v>-1.157</c:v>
              </c:pt>
              <c:pt idx="21">
                <c:v>-1.6850000000000001</c:v>
              </c:pt>
            </c:numLit>
          </c:xVal>
          <c:yVal>
            <c:numLit>
              <c:formatCode>General</c:formatCode>
              <c:ptCount val="22"/>
              <c:pt idx="0">
                <c:v>0.58499999999999996</c:v>
              </c:pt>
              <c:pt idx="1">
                <c:v>-0.114</c:v>
              </c:pt>
              <c:pt idx="2">
                <c:v>0.745</c:v>
              </c:pt>
              <c:pt idx="3">
                <c:v>-0.45200000000000001</c:v>
              </c:pt>
              <c:pt idx="4">
                <c:v>-0.35799999999999998</c:v>
              </c:pt>
              <c:pt idx="5">
                <c:v>-3.5000000000000003E-2</c:v>
              </c:pt>
              <c:pt idx="6">
                <c:v>0.38100000000000001</c:v>
              </c:pt>
              <c:pt idx="7">
                <c:v>0.111</c:v>
              </c:pt>
              <c:pt idx="8">
                <c:v>-0.878</c:v>
              </c:pt>
              <c:pt idx="9">
                <c:v>-9.9000000000000005E-2</c:v>
              </c:pt>
              <c:pt idx="10">
                <c:v>-0.188</c:v>
              </c:pt>
              <c:pt idx="11">
                <c:v>-0.436</c:v>
              </c:pt>
              <c:pt idx="12">
                <c:v>-0.55600000000000005</c:v>
              </c:pt>
              <c:pt idx="13">
                <c:v>0.76100000000000001</c:v>
              </c:pt>
              <c:pt idx="14">
                <c:v>-0.41499999999999998</c:v>
              </c:pt>
              <c:pt idx="15">
                <c:v>-0.66500000000000004</c:v>
              </c:pt>
              <c:pt idx="16">
                <c:v>0.15</c:v>
              </c:pt>
              <c:pt idx="17">
                <c:v>-0.128</c:v>
              </c:pt>
              <c:pt idx="18">
                <c:v>-0.24199999999999999</c:v>
              </c:pt>
              <c:pt idx="19">
                <c:v>0.23</c:v>
              </c:pt>
              <c:pt idx="20">
                <c:v>6.9000000000000006E-2</c:v>
              </c:pt>
              <c:pt idx="21">
                <c:v>-1E-3</c:v>
              </c:pt>
            </c:numLit>
          </c:yVal>
          <c:smooth val="0"/>
          <c:extLst>
            <c:ext xmlns:c16="http://schemas.microsoft.com/office/drawing/2014/chart" uri="{C3380CC4-5D6E-409C-BE32-E72D297353CC}">
              <c16:uniqueId val="{00000003-C7DA-4E29-A48F-989FCC1C0776}"/>
            </c:ext>
          </c:extLst>
        </c:ser>
        <c:ser>
          <c:idx val="4"/>
          <c:order val="4"/>
          <c:tx>
            <c:strRef>
              <c:f>Sheet1!$A$5</c:f>
              <c:strCache>
                <c:ptCount val="1"/>
                <c:pt idx="0">
                  <c:v>4  High-Value Actives</c:v>
                </c:pt>
              </c:strCache>
            </c:strRef>
          </c:tx>
          <c:spPr>
            <a:ln w="19050">
              <a:noFill/>
            </a:ln>
          </c:spPr>
          <c:marker>
            <c:symbol val="circle"/>
            <c:size val="7"/>
            <c:spPr>
              <a:solidFill>
                <a:srgbClr val="16233B">
                  <a:alpha val="88000"/>
                </a:srgbClr>
              </a:solidFill>
              <a:ln w="6350">
                <a:solidFill>
                  <a:srgbClr val="FFFFFF"/>
                </a:solidFill>
              </a:ln>
            </c:spPr>
          </c:marker>
          <c:xVal>
            <c:numLit>
              <c:formatCode>General</c:formatCode>
              <c:ptCount val="20"/>
              <c:pt idx="0">
                <c:v>3.1680000000000001</c:v>
              </c:pt>
              <c:pt idx="1">
                <c:v>2.5550000000000002</c:v>
              </c:pt>
              <c:pt idx="2">
                <c:v>1.7450000000000001</c:v>
              </c:pt>
              <c:pt idx="3">
                <c:v>1.974</c:v>
              </c:pt>
              <c:pt idx="4">
                <c:v>1.831</c:v>
              </c:pt>
              <c:pt idx="5">
                <c:v>2.4889999999999999</c:v>
              </c:pt>
              <c:pt idx="6">
                <c:v>1.33</c:v>
              </c:pt>
              <c:pt idx="7">
                <c:v>0.65100000000000002</c:v>
              </c:pt>
              <c:pt idx="8">
                <c:v>2.379</c:v>
              </c:pt>
              <c:pt idx="9">
                <c:v>1.097</c:v>
              </c:pt>
              <c:pt idx="10">
                <c:v>0.54300000000000004</c:v>
              </c:pt>
              <c:pt idx="11">
                <c:v>2.6360000000000001</c:v>
              </c:pt>
              <c:pt idx="12">
                <c:v>1.66</c:v>
              </c:pt>
              <c:pt idx="13">
                <c:v>2.7469999999999999</c:v>
              </c:pt>
              <c:pt idx="14">
                <c:v>1.8220000000000001</c:v>
              </c:pt>
              <c:pt idx="15">
                <c:v>1.29</c:v>
              </c:pt>
              <c:pt idx="16">
                <c:v>1.181</c:v>
              </c:pt>
              <c:pt idx="17">
                <c:v>1.837</c:v>
              </c:pt>
              <c:pt idx="18">
                <c:v>2.0539999999999998</c:v>
              </c:pt>
              <c:pt idx="19">
                <c:v>1.5589999999999999</c:v>
              </c:pt>
            </c:numLit>
          </c:xVal>
          <c:yVal>
            <c:numLit>
              <c:formatCode>General</c:formatCode>
              <c:ptCount val="20"/>
              <c:pt idx="0">
                <c:v>0.28899999999999998</c:v>
              </c:pt>
              <c:pt idx="1">
                <c:v>-0.65200000000000002</c:v>
              </c:pt>
              <c:pt idx="2">
                <c:v>0.51100000000000001</c:v>
              </c:pt>
              <c:pt idx="3">
                <c:v>-0.84499999999999997</c:v>
              </c:pt>
              <c:pt idx="4">
                <c:v>0.35499999999999998</c:v>
              </c:pt>
              <c:pt idx="5">
                <c:v>1.0229999999999999</c:v>
              </c:pt>
              <c:pt idx="6">
                <c:v>1.319</c:v>
              </c:pt>
              <c:pt idx="7">
                <c:v>1.786</c:v>
              </c:pt>
              <c:pt idx="8">
                <c:v>-0.66700000000000004</c:v>
              </c:pt>
              <c:pt idx="9">
                <c:v>1.069</c:v>
              </c:pt>
              <c:pt idx="10">
                <c:v>1.405</c:v>
              </c:pt>
              <c:pt idx="11">
                <c:v>1.2350000000000001</c:v>
              </c:pt>
              <c:pt idx="12">
                <c:v>-0.19700000000000001</c:v>
              </c:pt>
              <c:pt idx="13">
                <c:v>0.80900000000000005</c:v>
              </c:pt>
              <c:pt idx="14">
                <c:v>1.895</c:v>
              </c:pt>
              <c:pt idx="15">
                <c:v>-0.623</c:v>
              </c:pt>
              <c:pt idx="16">
                <c:v>0.85699999999999998</c:v>
              </c:pt>
              <c:pt idx="17">
                <c:v>1.3340000000000001</c:v>
              </c:pt>
              <c:pt idx="18">
                <c:v>-2.1999999999999999E-2</c:v>
              </c:pt>
              <c:pt idx="19">
                <c:v>0.93700000000000006</c:v>
              </c:pt>
            </c:numLit>
          </c:yVal>
          <c:smooth val="0"/>
          <c:extLst>
            <c:ext xmlns:c16="http://schemas.microsoft.com/office/drawing/2014/chart" uri="{C3380CC4-5D6E-409C-BE32-E72D297353CC}">
              <c16:uniqueId val="{00000004-C7DA-4E29-A48F-989FCC1C0776}"/>
            </c:ext>
          </c:extLst>
        </c:ser>
        <c:dLbls>
          <c:showLegendKey val="0"/>
          <c:showVal val="0"/>
          <c:showCatName val="0"/>
          <c:showSerName val="0"/>
          <c:showPercent val="0"/>
          <c:showBubbleSize val="0"/>
        </c:dLbls>
        <c:axId val="333333333"/>
        <c:axId val="444444444"/>
      </c:scatterChart>
      <c:valAx>
        <c:axId val="333333333"/>
        <c:scaling>
          <c:orientation val="minMax"/>
        </c:scaling>
        <c:delete val="0"/>
        <c:axPos val="b"/>
        <c:title>
          <c:tx>
            <c:rich>
              <a:bodyPr/>
              <a:lstStyle/>
              <a:p>
                <a:pPr>
                  <a:defRPr sz="1100" b="1">
                    <a:solidFill>
                      <a:srgbClr val="16233B"/>
                    </a:solidFill>
                    <a:latin typeface="Calibri"/>
                  </a:defRPr>
                </a:pPr>
                <a:r>
                  <a:rPr lang="en-US" sz="1100" b="1">
                    <a:solidFill>
                      <a:srgbClr val="16233B"/>
                    </a:solidFill>
                    <a:latin typeface="Calibri"/>
                  </a:rPr>
                  <a:t>Principal Component 1</a:t>
                </a:r>
              </a:p>
            </c:rich>
          </c:tx>
          <c:overlay val="0"/>
        </c:title>
        <c:numFmt formatCode="0.0" sourceLinked="0"/>
        <c:majorTickMark val="none"/>
        <c:minorTickMark val="none"/>
        <c:tickLblPos val="nextTo"/>
        <c:spPr>
          <a:ln w="9525">
            <a:solidFill>
              <a:srgbClr val="D4DCEA"/>
            </a:solidFill>
          </a:ln>
        </c:spPr>
        <c:txPr>
          <a:bodyPr/>
          <a:lstStyle/>
          <a:p>
            <a:pPr>
              <a:defRPr sz="1000">
                <a:solidFill>
                  <a:srgbClr val="5C6B85"/>
                </a:solidFill>
                <a:latin typeface="Calibri"/>
              </a:defRPr>
            </a:pPr>
            <a:endParaRPr lang="en-US"/>
          </a:p>
        </c:txPr>
        <c:crossAx val="444444444"/>
        <c:crosses val="autoZero"/>
        <c:crossBetween val="midCat"/>
      </c:valAx>
      <c:valAx>
        <c:axId val="444444444"/>
        <c:scaling>
          <c:orientation val="minMax"/>
        </c:scaling>
        <c:delete val="0"/>
        <c:axPos val="l"/>
        <c:title>
          <c:tx>
            <c:rich>
              <a:bodyPr rot="-5400000" vert="horz"/>
              <a:lstStyle/>
              <a:p>
                <a:pPr>
                  <a:defRPr sz="1100" b="1">
                    <a:solidFill>
                      <a:srgbClr val="16233B"/>
                    </a:solidFill>
                    <a:latin typeface="Calibri"/>
                  </a:defRPr>
                </a:pPr>
                <a:r>
                  <a:rPr lang="en-US" sz="1100" b="1">
                    <a:solidFill>
                      <a:srgbClr val="16233B"/>
                    </a:solidFill>
                    <a:latin typeface="Calibri"/>
                  </a:rPr>
                  <a:t>Principal Component 2</a:t>
                </a:r>
              </a:p>
            </c:rich>
          </c:tx>
          <c:overlay val="0"/>
        </c:title>
        <c:numFmt formatCode="0.0" sourceLinked="0"/>
        <c:majorTickMark val="none"/>
        <c:minorTickMark val="none"/>
        <c:tickLblPos val="nextTo"/>
        <c:spPr>
          <a:ln>
            <a:noFill/>
          </a:ln>
        </c:spPr>
        <c:txPr>
          <a:bodyPr/>
          <a:lstStyle/>
          <a:p>
            <a:pPr>
              <a:defRPr sz="1000">
                <a:solidFill>
                  <a:srgbClr val="5C6B85"/>
                </a:solidFill>
                <a:latin typeface="Calibri"/>
              </a:defRPr>
            </a:pPr>
            <a:endParaRPr lang="en-US"/>
          </a:p>
        </c:txPr>
        <c:crossAx val="333333333"/>
        <c:crosses val="autoZero"/>
        <c:crossBetween val="midCat"/>
      </c:valAx>
      <c:spPr>
        <a:noFill/>
        <a:ln>
          <a:noFill/>
        </a:ln>
      </c:spPr>
    </c:plotArea>
    <c:legend>
      <c:legendPos val="t"/>
      <c:overlay val="0"/>
      <c:txPr>
        <a:bodyPr/>
        <a:lstStyle/>
        <a:p>
          <a:pPr>
            <a:defRPr sz="1000">
              <a:solidFill>
                <a:srgbClr val="16233B"/>
              </a:solidFill>
              <a:latin typeface="Calibri"/>
            </a:defRPr>
          </a:pPr>
          <a:endParaRPr lang="en-US"/>
        </a:p>
      </c:txPr>
    </c:legend>
    <c:plotVisOnly val="1"/>
    <c:dispBlanksAs val="gap"/>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2926080"/>
            <a:ext cx="10789920" cy="13716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8229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076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bstract network of cobalt blue nodes on a clean white background"/>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7955280" cy="6858000"/>
          </a:xfrm>
          <a:prstGeom prst="rect">
            <a:avLst/>
          </a:prstGeom>
          <a:solidFill>
            <a:srgbClr val="FFFFFF">
              <a:alpha val="78000"/>
            </a:srgbClr>
          </a:solidFill>
          <a:ln/>
        </p:spPr>
        <p:txBody>
          <a:bodyPr/>
          <a:lstStyle/>
          <a:p>
            <a:endParaRPr lang="en-US"/>
          </a:p>
        </p:txBody>
      </p:sp>
      <p:sp>
        <p:nvSpPr>
          <p:cNvPr id="4" name="Shape 1"/>
          <p:cNvSpPr/>
          <p:nvPr/>
        </p:nvSpPr>
        <p:spPr>
          <a:xfrm>
            <a:off x="859536" y="2542032"/>
            <a:ext cx="822960" cy="82296"/>
          </a:xfrm>
          <a:prstGeom prst="rect">
            <a:avLst/>
          </a:prstGeom>
          <a:solidFill>
            <a:srgbClr val="F5A623"/>
          </a:solidFill>
          <a:ln/>
        </p:spPr>
        <p:txBody>
          <a:bodyPr/>
          <a:lstStyle/>
          <a:p>
            <a:endParaRPr lang="en-US"/>
          </a:p>
        </p:txBody>
      </p:sp>
      <p:sp>
        <p:nvSpPr>
          <p:cNvPr id="5" name="Text 2"/>
          <p:cNvSpPr/>
          <p:nvPr/>
        </p:nvSpPr>
        <p:spPr>
          <a:xfrm>
            <a:off x="822960" y="2084832"/>
            <a:ext cx="10058400" cy="365760"/>
          </a:xfrm>
          <a:prstGeom prst="rect">
            <a:avLst/>
          </a:prstGeom>
          <a:noFill/>
          <a:ln/>
        </p:spPr>
        <p:txBody>
          <a:bodyPr wrap="square" lIns="0" tIns="0" rIns="0" bIns="0" rtlCol="0" anchor="ctr"/>
          <a:lstStyle/>
          <a:p>
            <a:pPr marL="0" indent="0" algn="l">
              <a:buNone/>
            </a:pPr>
            <a:r>
              <a:rPr lang="en-US" sz="1400" b="1" kern="0" spc="300" dirty="0">
                <a:solidFill>
                  <a:srgbClr val="1F52D6"/>
                </a:solidFill>
                <a:latin typeface="Calibri" pitchFamily="34" charset="0"/>
                <a:ea typeface="Calibri" pitchFamily="34" charset="-122"/>
                <a:cs typeface="Calibri" pitchFamily="34" charset="-120"/>
              </a:rPr>
              <a:t>CHURN PREDICTION  ·  CUSTOMER ANALYTICS  ·  RETAIL</a:t>
            </a:r>
            <a:endParaRPr lang="en-US" sz="1400" dirty="0"/>
          </a:p>
        </p:txBody>
      </p:sp>
      <p:sp>
        <p:nvSpPr>
          <p:cNvPr id="6" name="Text 0"/>
          <p:cNvSpPr>
            <a:spLocks noGrp="1"/>
          </p:cNvSpPr>
          <p:nvPr>
            <p:ph type="title" idx="100" hasCustomPrompt="1"/>
          </p:nvPr>
        </p:nvSpPr>
        <p:spPr>
          <a:xfrm>
            <a:off x="841248" y="2926080"/>
            <a:ext cx="10789920" cy="1371600"/>
          </a:xfrm>
          <a:prstGeom prst="rect">
            <a:avLst/>
          </a:prstGeom>
          <a:noFill/>
          <a:ln/>
        </p:spPr>
        <p:txBody>
          <a:bodyPr wrap="square" lIns="0" tIns="0" rIns="0" bIns="0" rtlCol="0"/>
          <a:lstStyle/>
          <a:p>
            <a:pPr marL="0" indent="0" algn="l">
              <a:buNone/>
            </a:pPr>
            <a:r>
              <a:rPr lang="en-US" sz="4000" b="1">
                <a:solidFill>
                  <a:srgbClr val="16233B"/>
                </a:solidFill>
                <a:latin typeface="Georgia" pitchFamily="34" charset="0"/>
                <a:ea typeface="Georgia" pitchFamily="34" charset="-122"/>
                <a:cs typeface="Georgia" pitchFamily="34" charset="-120"/>
              </a:rPr>
              <a:t>Predicting Customer Churn </a:t>
            </a:r>
            <a:r>
              <a:rPr lang="en-US" sz="4000" b="1" dirty="0">
                <a:solidFill>
                  <a:srgbClr val="16233B"/>
                </a:solidFill>
                <a:latin typeface="Georgia" pitchFamily="34" charset="0"/>
                <a:ea typeface="Georgia" pitchFamily="34" charset="-122"/>
                <a:cs typeface="Georgia" pitchFamily="34" charset="-120"/>
              </a:rPr>
              <a:t>to Improve</a:t>
            </a:r>
            <a:endParaRPr lang="en-US" sz="4000" dirty="0"/>
          </a:p>
          <a:p>
            <a:pPr marL="0" indent="0" algn="l">
              <a:buNone/>
            </a:pPr>
            <a:r>
              <a:rPr lang="en-US" sz="4000" b="1">
                <a:solidFill>
                  <a:srgbClr val="16233B"/>
                </a:solidFill>
                <a:latin typeface="Georgia" pitchFamily="34" charset="0"/>
                <a:ea typeface="Georgia" pitchFamily="34" charset="-122"/>
                <a:cs typeface="Georgia" pitchFamily="34" charset="-120"/>
              </a:rPr>
              <a:t>Retention and Business Performance</a:t>
            </a:r>
            <a:endParaRPr lang="en-US" sz="4000" dirty="0"/>
          </a:p>
        </p:txBody>
      </p:sp>
      <p:sp>
        <p:nvSpPr>
          <p:cNvPr id="7" name="Text 4"/>
          <p:cNvSpPr/>
          <p:nvPr/>
        </p:nvSpPr>
        <p:spPr>
          <a:xfrm>
            <a:off x="859536" y="4892040"/>
            <a:ext cx="8778240" cy="548640"/>
          </a:xfrm>
          <a:prstGeom prst="rect">
            <a:avLst/>
          </a:prstGeom>
          <a:noFill/>
          <a:ln/>
        </p:spPr>
        <p:txBody>
          <a:bodyPr wrap="square" lIns="0" tIns="0" rIns="0" bIns="0" rtlCol="0" anchor="ctr"/>
          <a:lstStyle/>
          <a:p>
            <a:pPr marL="0" indent="0" algn="l">
              <a:buNone/>
            </a:pPr>
            <a:r>
              <a:rPr lang="en-US" sz="1700" i="1" dirty="0">
                <a:solidFill>
                  <a:srgbClr val="5C6B85"/>
                </a:solidFill>
                <a:latin typeface="Calibri" pitchFamily="34" charset="0"/>
                <a:ea typeface="Calibri" pitchFamily="34" charset="-122"/>
                <a:cs typeface="Calibri" pitchFamily="34" charset="-120"/>
              </a:rPr>
              <a:t>Predicting and reducing customer churn with historical transaction data</a:t>
            </a:r>
            <a:endParaRPr lang="en-US" sz="1700" dirty="0"/>
          </a:p>
        </p:txBody>
      </p:sp>
      <p:sp>
        <p:nvSpPr>
          <p:cNvPr id="8" name="Shape 5"/>
          <p:cNvSpPr/>
          <p:nvPr/>
        </p:nvSpPr>
        <p:spPr>
          <a:xfrm>
            <a:off x="877824" y="5650992"/>
            <a:ext cx="3108960" cy="12802"/>
          </a:xfrm>
          <a:prstGeom prst="rect">
            <a:avLst/>
          </a:prstGeom>
          <a:solidFill>
            <a:srgbClr val="D4DCEA"/>
          </a:solidFill>
          <a:ln/>
        </p:spPr>
        <p:txBody>
          <a:bodyPr/>
          <a:lstStyle/>
          <a:p>
            <a:endParaRPr lang="en-US"/>
          </a:p>
        </p:txBody>
      </p:sp>
      <p:sp>
        <p:nvSpPr>
          <p:cNvPr id="9" name="Text 6"/>
          <p:cNvSpPr/>
          <p:nvPr/>
        </p:nvSpPr>
        <p:spPr>
          <a:xfrm>
            <a:off x="859536" y="5760720"/>
            <a:ext cx="8778240" cy="365760"/>
          </a:xfrm>
          <a:prstGeom prst="rect">
            <a:avLst/>
          </a:prstGeom>
          <a:noFill/>
          <a:ln/>
        </p:spPr>
        <p:txBody>
          <a:bodyPr wrap="square" lIns="0" tIns="0" rIns="0" bIns="0" rtlCol="0" anchor="ctr"/>
          <a:lstStyle/>
          <a:p>
            <a:pPr marL="0" indent="0" algn="l">
              <a:buNone/>
            </a:pPr>
            <a:r>
              <a:rPr lang="en-US" sz="1400" b="1" dirty="0">
                <a:solidFill>
                  <a:srgbClr val="16233B"/>
                </a:solidFill>
                <a:latin typeface="Calibri" pitchFamily="34" charset="0"/>
                <a:ea typeface="Calibri" pitchFamily="34" charset="-122"/>
                <a:cs typeface="Calibri" pitchFamily="34" charset="-120"/>
              </a:rPr>
              <a:t>Lisa A Phillips, MBA, MHP, HIA</a:t>
            </a:r>
            <a:r>
              <a:rPr lang="en-US" sz="1400" dirty="0">
                <a:solidFill>
                  <a:srgbClr val="5C6B85"/>
                </a:solidFill>
                <a:latin typeface="Calibri" pitchFamily="34" charset="0"/>
                <a:ea typeface="Calibri" pitchFamily="34" charset="-122"/>
                <a:cs typeface="Calibri" pitchFamily="34" charset="-120"/>
              </a:rPr>
              <a:t>   ·   July 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EXECUTIVE SUMMARY</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The story in brief</a:t>
            </a:r>
            <a:endParaRPr lang="en-US" sz="3000" dirty="0"/>
          </a:p>
        </p:txBody>
      </p:sp>
      <p:sp>
        <p:nvSpPr>
          <p:cNvPr id="4" name="Shape 2"/>
          <p:cNvSpPr/>
          <p:nvPr/>
        </p:nvSpPr>
        <p:spPr>
          <a:xfrm>
            <a:off x="548640" y="1737360"/>
            <a:ext cx="3514344" cy="15087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37360"/>
            <a:ext cx="3514344" cy="91440"/>
          </a:xfrm>
          <a:prstGeom prst="rect">
            <a:avLst/>
          </a:prstGeom>
          <a:solidFill>
            <a:srgbClr val="1F52D6"/>
          </a:solidFill>
          <a:ln/>
        </p:spPr>
        <p:txBody>
          <a:bodyPr/>
          <a:lstStyle/>
          <a:p>
            <a:endParaRPr lang="en-US"/>
          </a:p>
        </p:txBody>
      </p:sp>
      <p:sp>
        <p:nvSpPr>
          <p:cNvPr id="6" name="Text 4"/>
          <p:cNvSpPr/>
          <p:nvPr/>
        </p:nvSpPr>
        <p:spPr>
          <a:xfrm>
            <a:off x="822960" y="2011680"/>
            <a:ext cx="2965704" cy="777240"/>
          </a:xfrm>
          <a:prstGeom prst="rect">
            <a:avLst/>
          </a:prstGeom>
          <a:noFill/>
          <a:ln/>
        </p:spPr>
        <p:txBody>
          <a:bodyPr wrap="square" lIns="0" tIns="0" rIns="0" bIns="0" rtlCol="0" anchor="ctr"/>
          <a:lstStyle/>
          <a:p>
            <a:pPr marL="0" indent="0" algn="l">
              <a:buNone/>
            </a:pPr>
            <a:r>
              <a:rPr lang="en-US" sz="3800" b="1" dirty="0">
                <a:solidFill>
                  <a:srgbClr val="16233B"/>
                </a:solidFill>
                <a:latin typeface="Georgia" pitchFamily="34" charset="0"/>
                <a:ea typeface="Georgia" pitchFamily="34" charset="-122"/>
                <a:cs typeface="Georgia" pitchFamily="34" charset="-120"/>
              </a:rPr>
              <a:t>2,130</a:t>
            </a:r>
            <a:endParaRPr lang="en-US" sz="3800" dirty="0"/>
          </a:p>
        </p:txBody>
      </p:sp>
      <p:sp>
        <p:nvSpPr>
          <p:cNvPr id="7" name="Text 5"/>
          <p:cNvSpPr/>
          <p:nvPr/>
        </p:nvSpPr>
        <p:spPr>
          <a:xfrm>
            <a:off x="841248" y="2761488"/>
            <a:ext cx="2965704" cy="320040"/>
          </a:xfrm>
          <a:prstGeom prst="rect">
            <a:avLst/>
          </a:prstGeom>
          <a:noFill/>
          <a:ln/>
        </p:spPr>
        <p:txBody>
          <a:bodyPr wrap="square" lIns="0" tIns="0" rIns="0" bIns="0" rtlCol="0" anchor="ctr"/>
          <a:lstStyle/>
          <a:p>
            <a:pPr marL="0" indent="0" algn="l">
              <a:buNone/>
            </a:pPr>
            <a:r>
              <a:rPr lang="en-US" sz="1350" dirty="0">
                <a:solidFill>
                  <a:srgbClr val="5C6B85"/>
                </a:solidFill>
                <a:latin typeface="Calibri" pitchFamily="34" charset="0"/>
                <a:ea typeface="Calibri" pitchFamily="34" charset="-122"/>
                <a:cs typeface="Calibri" pitchFamily="34" charset="-120"/>
              </a:rPr>
              <a:t>customers modeled</a:t>
            </a:r>
            <a:endParaRPr lang="en-US" sz="1350" dirty="0"/>
          </a:p>
        </p:txBody>
      </p:sp>
      <p:sp>
        <p:nvSpPr>
          <p:cNvPr id="8" name="Shape 6"/>
          <p:cNvSpPr/>
          <p:nvPr/>
        </p:nvSpPr>
        <p:spPr>
          <a:xfrm>
            <a:off x="4337304" y="1737360"/>
            <a:ext cx="3514344" cy="15087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9" name="Shape 7"/>
          <p:cNvSpPr/>
          <p:nvPr/>
        </p:nvSpPr>
        <p:spPr>
          <a:xfrm>
            <a:off x="4337304" y="1737360"/>
            <a:ext cx="3514344" cy="91440"/>
          </a:xfrm>
          <a:prstGeom prst="rect">
            <a:avLst/>
          </a:prstGeom>
          <a:solidFill>
            <a:srgbClr val="F5A623"/>
          </a:solidFill>
          <a:ln/>
        </p:spPr>
        <p:txBody>
          <a:bodyPr/>
          <a:lstStyle/>
          <a:p>
            <a:endParaRPr lang="en-US"/>
          </a:p>
        </p:txBody>
      </p:sp>
      <p:sp>
        <p:nvSpPr>
          <p:cNvPr id="10" name="Text 8"/>
          <p:cNvSpPr/>
          <p:nvPr/>
        </p:nvSpPr>
        <p:spPr>
          <a:xfrm>
            <a:off x="4611624" y="2011680"/>
            <a:ext cx="2965704" cy="777240"/>
          </a:xfrm>
          <a:prstGeom prst="rect">
            <a:avLst/>
          </a:prstGeom>
          <a:noFill/>
          <a:ln/>
        </p:spPr>
        <p:txBody>
          <a:bodyPr wrap="square" lIns="0" tIns="0" rIns="0" bIns="0" rtlCol="0" anchor="ctr"/>
          <a:lstStyle/>
          <a:p>
            <a:pPr marL="0" indent="0" algn="l">
              <a:buNone/>
            </a:pPr>
            <a:r>
              <a:rPr lang="en-US" sz="3800" b="1" dirty="0">
                <a:solidFill>
                  <a:srgbClr val="16233B"/>
                </a:solidFill>
                <a:latin typeface="Georgia" pitchFamily="34" charset="0"/>
                <a:ea typeface="Georgia" pitchFamily="34" charset="-122"/>
                <a:cs typeface="Georgia" pitchFamily="34" charset="-120"/>
              </a:rPr>
              <a:t>65% / 35%</a:t>
            </a:r>
            <a:endParaRPr lang="en-US" sz="3800" dirty="0"/>
          </a:p>
        </p:txBody>
      </p:sp>
      <p:sp>
        <p:nvSpPr>
          <p:cNvPr id="11" name="Text 9"/>
          <p:cNvSpPr/>
          <p:nvPr/>
        </p:nvSpPr>
        <p:spPr>
          <a:xfrm>
            <a:off x="4629912" y="2761488"/>
            <a:ext cx="2965704" cy="320040"/>
          </a:xfrm>
          <a:prstGeom prst="rect">
            <a:avLst/>
          </a:prstGeom>
          <a:noFill/>
          <a:ln/>
        </p:spPr>
        <p:txBody>
          <a:bodyPr wrap="square" lIns="0" tIns="0" rIns="0" bIns="0" rtlCol="0" anchor="ctr"/>
          <a:lstStyle/>
          <a:p>
            <a:pPr marL="0" indent="0" algn="l">
              <a:buNone/>
            </a:pPr>
            <a:r>
              <a:rPr lang="en-US" sz="1350" dirty="0">
                <a:solidFill>
                  <a:srgbClr val="5C6B85"/>
                </a:solidFill>
                <a:latin typeface="Calibri" pitchFamily="34" charset="0"/>
                <a:ea typeface="Calibri" pitchFamily="34" charset="-122"/>
                <a:cs typeface="Calibri" pitchFamily="34" charset="-120"/>
              </a:rPr>
              <a:t>retained vs. churned</a:t>
            </a:r>
            <a:endParaRPr lang="en-US" sz="1350" dirty="0"/>
          </a:p>
        </p:txBody>
      </p:sp>
      <p:sp>
        <p:nvSpPr>
          <p:cNvPr id="12" name="Shape 10"/>
          <p:cNvSpPr/>
          <p:nvPr/>
        </p:nvSpPr>
        <p:spPr>
          <a:xfrm>
            <a:off x="8125968" y="1737360"/>
            <a:ext cx="3514344" cy="15087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3" name="Shape 11"/>
          <p:cNvSpPr/>
          <p:nvPr/>
        </p:nvSpPr>
        <p:spPr>
          <a:xfrm>
            <a:off x="8125968" y="1737360"/>
            <a:ext cx="3514344" cy="91440"/>
          </a:xfrm>
          <a:prstGeom prst="rect">
            <a:avLst/>
          </a:prstGeom>
          <a:solidFill>
            <a:srgbClr val="1F52D6"/>
          </a:solidFill>
          <a:ln/>
        </p:spPr>
        <p:txBody>
          <a:bodyPr/>
          <a:lstStyle/>
          <a:p>
            <a:endParaRPr lang="en-US"/>
          </a:p>
        </p:txBody>
      </p:sp>
      <p:sp>
        <p:nvSpPr>
          <p:cNvPr id="14" name="Text 12"/>
          <p:cNvSpPr/>
          <p:nvPr/>
        </p:nvSpPr>
        <p:spPr>
          <a:xfrm>
            <a:off x="8400288" y="2011680"/>
            <a:ext cx="2965704" cy="777240"/>
          </a:xfrm>
          <a:prstGeom prst="rect">
            <a:avLst/>
          </a:prstGeom>
          <a:noFill/>
          <a:ln/>
        </p:spPr>
        <p:txBody>
          <a:bodyPr wrap="square" lIns="0" tIns="0" rIns="0" bIns="0" rtlCol="0" anchor="ctr"/>
          <a:lstStyle/>
          <a:p>
            <a:pPr marL="0" indent="0" algn="l">
              <a:buNone/>
            </a:pPr>
            <a:r>
              <a:rPr lang="en-US" sz="3800" b="1" dirty="0">
                <a:solidFill>
                  <a:srgbClr val="16233B"/>
                </a:solidFill>
                <a:latin typeface="Georgia" pitchFamily="34" charset="0"/>
                <a:ea typeface="Georgia" pitchFamily="34" charset="-122"/>
                <a:cs typeface="Georgia" pitchFamily="34" charset="-120"/>
              </a:rPr>
              <a:t>4</a:t>
            </a:r>
            <a:endParaRPr lang="en-US" sz="3800" dirty="0"/>
          </a:p>
        </p:txBody>
      </p:sp>
      <p:sp>
        <p:nvSpPr>
          <p:cNvPr id="15" name="Text 13"/>
          <p:cNvSpPr/>
          <p:nvPr/>
        </p:nvSpPr>
        <p:spPr>
          <a:xfrm>
            <a:off x="8418576" y="2761488"/>
            <a:ext cx="2965704" cy="320040"/>
          </a:xfrm>
          <a:prstGeom prst="rect">
            <a:avLst/>
          </a:prstGeom>
          <a:noFill/>
          <a:ln/>
        </p:spPr>
        <p:txBody>
          <a:bodyPr wrap="square" lIns="0" tIns="0" rIns="0" bIns="0" rtlCol="0" anchor="ctr"/>
          <a:lstStyle/>
          <a:p>
            <a:pPr marL="0" indent="0" algn="l">
              <a:buNone/>
            </a:pPr>
            <a:r>
              <a:rPr lang="en-US" sz="1350" dirty="0">
                <a:solidFill>
                  <a:srgbClr val="5C6B85"/>
                </a:solidFill>
                <a:latin typeface="Calibri" pitchFamily="34" charset="0"/>
                <a:ea typeface="Calibri" pitchFamily="34" charset="-122"/>
                <a:cs typeface="Calibri" pitchFamily="34" charset="-120"/>
              </a:rPr>
              <a:t>models compared</a:t>
            </a:r>
            <a:endParaRPr lang="en-US" sz="1350" dirty="0"/>
          </a:p>
        </p:txBody>
      </p:sp>
      <p:sp>
        <p:nvSpPr>
          <p:cNvPr id="16" name="Shape 14"/>
          <p:cNvSpPr/>
          <p:nvPr/>
        </p:nvSpPr>
        <p:spPr>
          <a:xfrm>
            <a:off x="548640" y="3520440"/>
            <a:ext cx="11091672" cy="2423160"/>
          </a:xfrm>
          <a:prstGeom prst="rect">
            <a:avLst/>
          </a:prstGeom>
          <a:solidFill>
            <a:srgbClr val="E7EE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7" name="Shape 15"/>
          <p:cNvSpPr/>
          <p:nvPr/>
        </p:nvSpPr>
        <p:spPr>
          <a:xfrm>
            <a:off x="548640" y="3520440"/>
            <a:ext cx="11091672" cy="91440"/>
          </a:xfrm>
          <a:prstGeom prst="rect">
            <a:avLst/>
          </a:prstGeom>
          <a:solidFill>
            <a:srgbClr val="1F52D6"/>
          </a:solidFill>
          <a:ln/>
        </p:spPr>
        <p:txBody>
          <a:bodyPr/>
          <a:lstStyle/>
          <a:p>
            <a:endParaRPr lang="en-US"/>
          </a:p>
        </p:txBody>
      </p:sp>
      <p:sp>
        <p:nvSpPr>
          <p:cNvPr id="18" name="Text 16"/>
          <p:cNvSpPr/>
          <p:nvPr/>
        </p:nvSpPr>
        <p:spPr>
          <a:xfrm>
            <a:off x="868680" y="3776472"/>
            <a:ext cx="10058400" cy="274320"/>
          </a:xfrm>
          <a:prstGeom prst="rect">
            <a:avLst/>
          </a:prstGeom>
          <a:noFill/>
          <a:ln/>
        </p:spPr>
        <p:txBody>
          <a:bodyPr wrap="square" lIns="0" tIns="0" rIns="0" bIns="0" rtlCol="0" anchor="ctr"/>
          <a:lstStyle/>
          <a:p>
            <a:pPr marL="0" indent="0">
              <a:buNone/>
            </a:pPr>
            <a:r>
              <a:rPr lang="en-US" sz="1200" b="1" kern="0" spc="200" dirty="0">
                <a:solidFill>
                  <a:srgbClr val="1F52D6"/>
                </a:solidFill>
                <a:latin typeface="Calibri" pitchFamily="34" charset="0"/>
                <a:ea typeface="Calibri" pitchFamily="34" charset="-122"/>
                <a:cs typeface="Calibri" pitchFamily="34" charset="-120"/>
              </a:rPr>
              <a:t>KEY TAKEAWAYS</a:t>
            </a:r>
            <a:endParaRPr lang="en-US" sz="1200" dirty="0"/>
          </a:p>
        </p:txBody>
      </p:sp>
      <p:sp>
        <p:nvSpPr>
          <p:cNvPr id="19" name="Text 17"/>
          <p:cNvSpPr/>
          <p:nvPr/>
        </p:nvSpPr>
        <p:spPr>
          <a:xfrm>
            <a:off x="868680" y="4178808"/>
            <a:ext cx="10424160" cy="1554480"/>
          </a:xfrm>
          <a:prstGeom prst="rect">
            <a:avLst/>
          </a:prstGeom>
          <a:noFill/>
          <a:ln/>
        </p:spPr>
        <p:txBody>
          <a:bodyPr wrap="square" lIns="0" tIns="0" rIns="0" bIns="0" rtlCol="0" anchor="ctr"/>
          <a:lstStyle/>
          <a:p>
            <a:pPr marL="203200" indent="-203200" algn="l">
              <a:lnSpc>
                <a:spcPct val="110000"/>
              </a:lnSpc>
              <a:spcAft>
                <a:spcPts val="1100"/>
              </a:spcAft>
              <a:buSzPct val="100000"/>
              <a:buChar char="•"/>
            </a:pPr>
            <a:r>
              <a:rPr lang="en-US" sz="1500">
                <a:solidFill>
                  <a:srgbClr val="16233B"/>
                </a:solidFill>
                <a:latin typeface="Calibri" pitchFamily="34" charset="0"/>
                <a:ea typeface="Calibri" pitchFamily="34" charset="-122"/>
                <a:cs typeface="Calibri" pitchFamily="34" charset="-120"/>
              </a:rPr>
              <a:t>Catching customers before they leave matters more than raw </a:t>
            </a:r>
            <a:r>
              <a:rPr lang="en-US" sz="1500" dirty="0">
                <a:solidFill>
                  <a:srgbClr val="16233B"/>
                </a:solidFill>
                <a:latin typeface="Calibri" pitchFamily="34" charset="0"/>
                <a:ea typeface="Calibri" pitchFamily="34" charset="-122"/>
                <a:cs typeface="Calibri" pitchFamily="34" charset="-120"/>
              </a:rPr>
              <a:t>accuracy </a:t>
            </a:r>
            <a:r>
              <a:rPr lang="en-US" sz="1500">
                <a:solidFill>
                  <a:srgbClr val="16233B"/>
                </a:solidFill>
                <a:latin typeface="Calibri" pitchFamily="34" charset="0"/>
                <a:ea typeface="Calibri" pitchFamily="34" charset="-122"/>
                <a:cs typeface="Calibri" pitchFamily="34" charset="-120"/>
              </a:rPr>
              <a:t>— the recommended model flags nearly three times as many at-risk customers as the higher-accuracy alternatives</a:t>
            </a:r>
            <a:r>
              <a:rPr lang="en-US" sz="1500" dirty="0">
                <a:solidFill>
                  <a:srgbClr val="16233B"/>
                </a:solidFill>
                <a:latin typeface="Calibri" pitchFamily="34" charset="0"/>
                <a:ea typeface="Calibri" pitchFamily="34" charset="-122"/>
                <a:cs typeface="Calibri" pitchFamily="34" charset="-120"/>
              </a:rPr>
              <a:t>.</a:t>
            </a:r>
            <a:endParaRPr lang="en-US" sz="1500" dirty="0"/>
          </a:p>
          <a:p>
            <a:pPr marL="203200" indent="-203200" algn="l">
              <a:lnSpc>
                <a:spcPct val="110000"/>
              </a:lnSpc>
              <a:spcAft>
                <a:spcPts val="1100"/>
              </a:spcAft>
              <a:buSzPct val="100000"/>
              <a:buChar char="•"/>
            </a:pPr>
            <a:r>
              <a:rPr lang="en-US" sz="1500" dirty="0">
                <a:solidFill>
                  <a:srgbClr val="16233B"/>
                </a:solidFill>
                <a:latin typeface="Calibri" pitchFamily="34" charset="0"/>
                <a:ea typeface="Calibri" pitchFamily="34" charset="-122"/>
                <a:cs typeface="Calibri" pitchFamily="34" charset="-120"/>
              </a:rPr>
              <a:t>Random Forest </a:t>
            </a:r>
            <a:r>
              <a:rPr lang="en-US" sz="1500">
                <a:solidFill>
                  <a:srgbClr val="16233B"/>
                </a:solidFill>
                <a:latin typeface="Calibri" pitchFamily="34" charset="0"/>
                <a:ea typeface="Calibri" pitchFamily="34" charset="-122"/>
                <a:cs typeface="Calibri" pitchFamily="34" charset="-120"/>
              </a:rPr>
              <a:t>and XGBoost scored higher accuracy (56%) but low recall, missing most </a:t>
            </a:r>
            <a:r>
              <a:rPr lang="en-US" sz="1500" dirty="0">
                <a:solidFill>
                  <a:srgbClr val="16233B"/>
                </a:solidFill>
                <a:latin typeface="Calibri" pitchFamily="34" charset="0"/>
                <a:ea typeface="Calibri" pitchFamily="34" charset="-122"/>
                <a:cs typeface="Calibri" pitchFamily="34" charset="-120"/>
              </a:rPr>
              <a:t>at-risk churners.</a:t>
            </a:r>
            <a:endParaRPr lang="en-US" sz="1500" dirty="0"/>
          </a:p>
          <a:p>
            <a:pPr marL="203200" indent="-203200" algn="l">
              <a:lnSpc>
                <a:spcPct val="110000"/>
              </a:lnSpc>
              <a:spcAft>
                <a:spcPts val="1100"/>
              </a:spcAft>
              <a:buSzPct val="100000"/>
              <a:buChar char="•"/>
            </a:pPr>
            <a:r>
              <a:rPr lang="en-US" sz="1500" dirty="0">
                <a:solidFill>
                  <a:srgbClr val="16233B"/>
                </a:solidFill>
                <a:latin typeface="Calibri" pitchFamily="34" charset="0"/>
                <a:ea typeface="Calibri" pitchFamily="34" charset="-122"/>
                <a:cs typeface="Calibri" pitchFamily="34" charset="-120"/>
              </a:rPr>
              <a:t>Purchase frequency, recency, and spend are the strongest signals of customer churn.</a:t>
            </a:r>
            <a:endParaRPr lang="en-US" sz="1500" dirty="0"/>
          </a:p>
          <a:p>
            <a:pPr marL="203200" indent="-203200" algn="l">
              <a:lnSpc>
                <a:spcPct val="110000"/>
              </a:lnSpc>
              <a:spcAft>
                <a:spcPts val="1100"/>
              </a:spcAft>
              <a:buSzPct val="100000"/>
              <a:buChar char="•"/>
            </a:pPr>
            <a:r>
              <a:rPr lang="en-US" sz="1500" dirty="0">
                <a:solidFill>
                  <a:srgbClr val="16233B"/>
                </a:solidFill>
                <a:latin typeface="Calibri" pitchFamily="34" charset="0"/>
                <a:ea typeface="Calibri" pitchFamily="34" charset="-122"/>
                <a:cs typeface="Calibri" pitchFamily="34" charset="-120"/>
              </a:rPr>
              <a:t>Recommended next step: launch targeted retention for the customers most likely to leave.</a:t>
            </a:r>
            <a:endParaRPr lang="en-US" sz="1500" dirty="0"/>
          </a:p>
        </p:txBody>
      </p:sp>
      <p:sp>
        <p:nvSpPr>
          <p:cNvPr id="20" name="Text 18"/>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21" name="Text 19"/>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02</a:t>
            </a:r>
            <a:endParaRPr lang="en-US" sz="900" dirty="0"/>
          </a:p>
        </p:txBody>
      </p:sp>
      <p:sp>
        <p:nvSpPr>
          <p:cNvPr id="22" name="Recommended Model Card"/>
          <p:cNvSpPr/>
          <p:nvPr/>
        </p:nvSpPr>
        <p:spPr>
          <a:xfrm>
            <a:off x="8686800" y="300000"/>
            <a:ext cx="2953512" cy="1300000"/>
          </a:xfrm>
          <a:prstGeom prst="rect">
            <a:avLst/>
          </a:prstGeom>
          <a:solidFill>
            <a:srgbClr val="1F52D6"/>
          </a:solidFill>
          <a:ln/>
          <a:effectLst>
            <a:outerShdw blurRad="101600" dist="25400" dir="5400000" algn="bl" rotWithShape="0">
              <a:srgbClr val="8CA0C4">
                <a:alpha val="28000"/>
              </a:srgbClr>
            </a:outerShdw>
          </a:effectLst>
        </p:spPr>
        <p:txBody>
          <a:bodyPr/>
          <a:lstStyle/>
          <a:p>
            <a:endParaRPr lang="en-US"/>
          </a:p>
        </p:txBody>
      </p:sp>
      <p:sp>
        <p:nvSpPr>
          <p:cNvPr id="23" name="Recommended Model Accent"/>
          <p:cNvSpPr/>
          <p:nvPr/>
        </p:nvSpPr>
        <p:spPr>
          <a:xfrm>
            <a:off x="8686800" y="300000"/>
            <a:ext cx="2953512" cy="68580"/>
          </a:xfrm>
          <a:prstGeom prst="rect">
            <a:avLst/>
          </a:prstGeom>
          <a:solidFill>
            <a:srgbClr val="F5A623"/>
          </a:solidFill>
          <a:ln/>
        </p:spPr>
        <p:txBody>
          <a:bodyPr/>
          <a:lstStyle/>
          <a:p>
            <a:endParaRPr lang="en-US"/>
          </a:p>
        </p:txBody>
      </p:sp>
      <p:sp>
        <p:nvSpPr>
          <p:cNvPr id="24" name="Recommended Model Text"/>
          <p:cNvSpPr/>
          <p:nvPr/>
        </p:nvSpPr>
        <p:spPr>
          <a:xfrm>
            <a:off x="8887320" y="405000"/>
            <a:ext cx="2552472" cy="1150000"/>
          </a:xfrm>
          <a:prstGeom prst="rect">
            <a:avLst/>
          </a:prstGeom>
          <a:noFill/>
          <a:ln/>
        </p:spPr>
        <p:txBody>
          <a:bodyPr wrap="square" lIns="0" tIns="0" rIns="0" bIns="0" rtlCol="0" anchor="ctr"/>
          <a:lstStyle/>
          <a:p>
            <a:pPr marL="0" indent="0" algn="l">
              <a:buNone/>
            </a:pPr>
            <a:r>
              <a:rPr lang="en-US" sz="1000" b="1" spc="120">
                <a:solidFill>
                  <a:srgbClr val="F5A623"/>
                </a:solidFill>
                <a:latin typeface="Calibri" pitchFamily="34" charset="0"/>
                <a:ea typeface="Calibri" pitchFamily="34" charset="-122"/>
                <a:cs typeface="Calibri" pitchFamily="34" charset="-120"/>
              </a:rPr>
              <a:t>RECOMMENDED MODEL</a:t>
            </a:r>
            <a:endParaRPr lang="en-US" sz="1000" b="1"/>
          </a:p>
          <a:p>
            <a:pPr marL="0" indent="0" algn="l">
              <a:buNone/>
            </a:pPr>
            <a:r>
              <a:rPr lang="en-US" sz="1800" b="1">
                <a:solidFill>
                  <a:srgbClr val="FFFFFF"/>
                </a:solidFill>
                <a:latin typeface="Georgia" pitchFamily="34" charset="0"/>
                <a:ea typeface="Georgia" pitchFamily="34" charset="-122"/>
                <a:cs typeface="Georgia" pitchFamily="34" charset="-120"/>
              </a:rPr>
              <a:t>Logistic Regression</a:t>
            </a:r>
            <a:endParaRPr lang="en-US" sz="1800" b="1"/>
          </a:p>
          <a:p>
            <a:pPr marL="0" indent="0" algn="l">
              <a:buNone/>
            </a:pPr>
            <a:r>
              <a:rPr lang="en-US" sz="1000">
                <a:solidFill>
                  <a:srgbClr val="DCE6FB"/>
                </a:solidFill>
                <a:latin typeface="Calibri" pitchFamily="34" charset="0"/>
                <a:ea typeface="Calibri" pitchFamily="34" charset="-122"/>
                <a:cs typeface="Calibri" pitchFamily="34" charset="-120"/>
              </a:rPr>
              <a:t>Every missed churner is lost revenue — best recall (0.67) catches the most.</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BUSINESS PROBLEM</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What we set out to solve</a:t>
            </a:r>
            <a:endParaRPr lang="en-US" sz="3000" dirty="0"/>
          </a:p>
        </p:txBody>
      </p:sp>
      <p:sp>
        <p:nvSpPr>
          <p:cNvPr id="4" name="Shape 2"/>
          <p:cNvSpPr/>
          <p:nvPr/>
        </p:nvSpPr>
        <p:spPr>
          <a:xfrm>
            <a:off x="548640" y="1783080"/>
            <a:ext cx="5852160" cy="416052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5852160" cy="91440"/>
          </a:xfrm>
          <a:prstGeom prst="rect">
            <a:avLst/>
          </a:prstGeom>
          <a:solidFill>
            <a:srgbClr val="1F52D6"/>
          </a:solidFill>
          <a:ln/>
        </p:spPr>
        <p:txBody>
          <a:bodyPr/>
          <a:lstStyle/>
          <a:p>
            <a:endParaRPr lang="en-US"/>
          </a:p>
        </p:txBody>
      </p:sp>
      <p:sp>
        <p:nvSpPr>
          <p:cNvPr id="6" name="Text 4"/>
          <p:cNvSpPr/>
          <p:nvPr/>
        </p:nvSpPr>
        <p:spPr>
          <a:xfrm>
            <a:off x="914400" y="2057400"/>
            <a:ext cx="5120640" cy="274320"/>
          </a:xfrm>
          <a:prstGeom prst="rect">
            <a:avLst/>
          </a:prstGeom>
          <a:noFill/>
          <a:ln/>
        </p:spPr>
        <p:txBody>
          <a:bodyPr wrap="square" lIns="0" tIns="0" rIns="0" bIns="0" rtlCol="0" anchor="ctr"/>
          <a:lstStyle/>
          <a:p>
            <a:pPr marL="0" indent="0">
              <a:buNone/>
            </a:pPr>
            <a:r>
              <a:rPr lang="en-US" sz="1200" b="1" kern="0" spc="200" dirty="0">
                <a:solidFill>
                  <a:srgbClr val="1F52D6"/>
                </a:solidFill>
                <a:latin typeface="Calibri" pitchFamily="34" charset="0"/>
                <a:ea typeface="Calibri" pitchFamily="34" charset="-122"/>
                <a:cs typeface="Calibri" pitchFamily="34" charset="-120"/>
              </a:rPr>
              <a:t>OBJECTIVE</a:t>
            </a:r>
            <a:endParaRPr lang="en-US" sz="1200" dirty="0"/>
          </a:p>
        </p:txBody>
      </p:sp>
      <p:sp>
        <p:nvSpPr>
          <p:cNvPr id="22" name="Text Obj"/>
          <p:cNvSpPr/>
          <p:nvPr/>
        </p:nvSpPr>
        <p:spPr>
          <a:xfrm>
            <a:off x="914400" y="2377440"/>
            <a:ext cx="5120640" cy="914400"/>
          </a:xfrm>
          <a:prstGeom prst="rect">
            <a:avLst/>
          </a:prstGeom>
          <a:noFill/>
          <a:ln/>
        </p:spPr>
        <p:txBody>
          <a:bodyPr wrap="square" lIns="0" tIns="0" rIns="0" bIns="0" rtlCol="0" anchor="t"/>
          <a:lstStyle/>
          <a:p>
            <a:pPr marL="0" indent="0" algn="l">
              <a:lnSpc>
                <a:spcPct val="108000"/>
              </a:lnSpc>
              <a:buNone/>
            </a:pPr>
            <a:r>
              <a:rPr lang="en-US" sz="1300">
                <a:solidFill>
                  <a:srgbClr val="16233B"/>
                </a:solidFill>
                <a:latin typeface="Calibri" pitchFamily="34" charset="0"/>
                <a:ea typeface="Calibri" pitchFamily="34" charset="-122"/>
                <a:cs typeface="Calibri" pitchFamily="34" charset="-120"/>
              </a:rPr>
              <a:t>Develop a machine learning solution that predicts which customers are most likely to churn so the retailer can proactively improve customer retention and maximize long-term revenue.</a:t>
            </a:r>
            <a:endParaRPr lang="en-US" sz="1300"/>
          </a:p>
        </p:txBody>
      </p:sp>
      <p:sp>
        <p:nvSpPr>
          <p:cNvPr id="23" name="Text Goals Label"/>
          <p:cNvSpPr/>
          <p:nvPr/>
        </p:nvSpPr>
        <p:spPr>
          <a:xfrm>
            <a:off x="914400" y="3383280"/>
            <a:ext cx="5120640" cy="274320"/>
          </a:xfrm>
          <a:prstGeom prst="rect">
            <a:avLst/>
          </a:prstGeom>
          <a:noFill/>
          <a:ln/>
        </p:spPr>
        <p:txBody>
          <a:bodyPr wrap="square" lIns="0" tIns="0" rIns="0" bIns="0" rtlCol="0" anchor="ctr"/>
          <a:lstStyle/>
          <a:p>
            <a:pPr marL="0" indent="0">
              <a:buNone/>
            </a:pPr>
            <a:r>
              <a:rPr lang="en-US" sz="1200" b="1" kern="0" spc="200">
                <a:solidFill>
                  <a:srgbClr val="1F52D6"/>
                </a:solidFill>
                <a:latin typeface="Calibri" pitchFamily="34" charset="0"/>
                <a:ea typeface="Calibri" pitchFamily="34" charset="-122"/>
                <a:cs typeface="Calibri" pitchFamily="34" charset="-120"/>
              </a:rPr>
              <a:t>BUSINESS GOALS</a:t>
            </a:r>
            <a:endParaRPr lang="en-US" sz="1200"/>
          </a:p>
        </p:txBody>
      </p:sp>
      <p:sp>
        <p:nvSpPr>
          <p:cNvPr id="7" name="Text 5"/>
          <p:cNvSpPr/>
          <p:nvPr/>
        </p:nvSpPr>
        <p:spPr>
          <a:xfrm>
            <a:off x="914400" y="3703320"/>
            <a:ext cx="5120640" cy="2130000"/>
          </a:xfrm>
          <a:prstGeom prst="rect">
            <a:avLst/>
          </a:prstGeom>
          <a:noFill/>
          <a:ln/>
        </p:spPr>
        <p:txBody>
          <a:bodyPr wrap="square" lIns="0" tIns="0" rIns="0" bIns="0" rtlCol="0" anchor="ctr"/>
          <a:lstStyle/>
          <a:p>
            <a:pPr marL="203200" indent="-203200" algn="l">
              <a:lnSpc>
                <a:spcPct val="108000"/>
              </a:lnSpc>
              <a:spcAft>
                <a:spcPts val="900"/>
              </a:spcAft>
              <a:buSzPct val="100000"/>
              <a:buChar char="•"/>
            </a:pPr>
            <a:r>
              <a:rPr lang="en-US" sz="1450">
                <a:solidFill>
                  <a:srgbClr val="16233B"/>
                </a:solidFill>
                <a:latin typeface="Calibri" pitchFamily="34" charset="0"/>
                <a:ea typeface="Calibri" pitchFamily="34" charset="-122"/>
                <a:cs typeface="Calibri" pitchFamily="34" charset="-120"/>
              </a:rPr>
              <a:t>Improve customer retention</a:t>
            </a:r>
            <a:endParaRPr lang="en-US" sz="1450"/>
          </a:p>
          <a:p>
            <a:pPr marL="203200" indent="-203200" algn="l">
              <a:lnSpc>
                <a:spcPct val="108000"/>
              </a:lnSpc>
              <a:spcAft>
                <a:spcPts val="900"/>
              </a:spcAft>
              <a:buSzPct val="100000"/>
              <a:buChar char="•"/>
            </a:pPr>
            <a:r>
              <a:rPr lang="en-US" sz="1450">
                <a:solidFill>
                  <a:srgbClr val="16233B"/>
                </a:solidFill>
                <a:latin typeface="Calibri" pitchFamily="34" charset="0"/>
                <a:ea typeface="Calibri" pitchFamily="34" charset="-122"/>
                <a:cs typeface="Calibri" pitchFamily="34" charset="-120"/>
              </a:rPr>
              <a:t>Identify customers at risk of churning</a:t>
            </a:r>
            <a:endParaRPr lang="en-US" sz="1450"/>
          </a:p>
          <a:p>
            <a:pPr marL="203200" indent="-203200" algn="l">
              <a:lnSpc>
                <a:spcPct val="108000"/>
              </a:lnSpc>
              <a:spcAft>
                <a:spcPts val="900"/>
              </a:spcAft>
              <a:buSzPct val="100000"/>
              <a:buChar char="•"/>
            </a:pPr>
            <a:r>
              <a:rPr lang="en-US" sz="1450">
                <a:solidFill>
                  <a:srgbClr val="16233B"/>
                </a:solidFill>
                <a:latin typeface="Calibri" pitchFamily="34" charset="0"/>
                <a:ea typeface="Calibri" pitchFamily="34" charset="-122"/>
                <a:cs typeface="Calibri" pitchFamily="34" charset="-120"/>
              </a:rPr>
              <a:t>Better understand purchasing behavior</a:t>
            </a:r>
            <a:endParaRPr lang="en-US" sz="1450"/>
          </a:p>
          <a:p>
            <a:pPr marL="203200" indent="-203200" algn="l">
              <a:lnSpc>
                <a:spcPct val="108000"/>
              </a:lnSpc>
              <a:spcAft>
                <a:spcPts val="900"/>
              </a:spcAft>
              <a:buSzPct val="100000"/>
              <a:buChar char="•"/>
            </a:pPr>
            <a:r>
              <a:rPr lang="en-US" sz="1450">
                <a:solidFill>
                  <a:srgbClr val="16233B"/>
                </a:solidFill>
                <a:latin typeface="Calibri" pitchFamily="34" charset="0"/>
                <a:ea typeface="Calibri" pitchFamily="34" charset="-122"/>
                <a:cs typeface="Calibri" pitchFamily="34" charset="-120"/>
              </a:rPr>
              <a:t>Support data-driven marketing and inventory decisions</a:t>
            </a:r>
            <a:endParaRPr lang="en-US" sz="1450"/>
          </a:p>
        </p:txBody>
      </p:sp>
      <p:sp>
        <p:nvSpPr>
          <p:cNvPr id="8" name="Shape 6"/>
          <p:cNvSpPr/>
          <p:nvPr/>
        </p:nvSpPr>
        <p:spPr>
          <a:xfrm>
            <a:off x="6675120" y="1783080"/>
            <a:ext cx="4965192" cy="416052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9" name="Shape 7"/>
          <p:cNvSpPr/>
          <p:nvPr/>
        </p:nvSpPr>
        <p:spPr>
          <a:xfrm>
            <a:off x="6675120" y="1783080"/>
            <a:ext cx="4965192" cy="91440"/>
          </a:xfrm>
          <a:prstGeom prst="rect">
            <a:avLst/>
          </a:prstGeom>
          <a:solidFill>
            <a:srgbClr val="F5A623"/>
          </a:solidFill>
          <a:ln/>
        </p:spPr>
        <p:txBody>
          <a:bodyPr/>
          <a:lstStyle/>
          <a:p>
            <a:endParaRPr lang="en-US"/>
          </a:p>
        </p:txBody>
      </p:sp>
      <p:sp>
        <p:nvSpPr>
          <p:cNvPr id="10" name="Text 8"/>
          <p:cNvSpPr/>
          <p:nvPr/>
        </p:nvSpPr>
        <p:spPr>
          <a:xfrm>
            <a:off x="7040880" y="2057400"/>
            <a:ext cx="4233672" cy="274320"/>
          </a:xfrm>
          <a:prstGeom prst="rect">
            <a:avLst/>
          </a:prstGeom>
          <a:noFill/>
          <a:ln/>
        </p:spPr>
        <p:txBody>
          <a:bodyPr wrap="square" lIns="0" tIns="0" rIns="0" bIns="0" rtlCol="0" anchor="ctr"/>
          <a:lstStyle/>
          <a:p>
            <a:pPr marL="0" indent="0">
              <a:buNone/>
            </a:pPr>
            <a:r>
              <a:rPr lang="en-US" sz="1200" b="1" kern="0" spc="200" dirty="0">
                <a:solidFill>
                  <a:srgbClr val="1F52D6"/>
                </a:solidFill>
                <a:latin typeface="Calibri" pitchFamily="34" charset="0"/>
                <a:ea typeface="Calibri" pitchFamily="34" charset="-122"/>
                <a:cs typeface="Calibri" pitchFamily="34" charset="-120"/>
              </a:rPr>
              <a:t>BUSINESS VALUE</a:t>
            </a:r>
            <a:endParaRPr lang="en-US" sz="1200" dirty="0"/>
          </a:p>
        </p:txBody>
      </p:sp>
      <p:sp>
        <p:nvSpPr>
          <p:cNvPr id="11" name="Shape 9"/>
          <p:cNvSpPr/>
          <p:nvPr/>
        </p:nvSpPr>
        <p:spPr>
          <a:xfrm>
            <a:off x="7040880" y="2568872"/>
            <a:ext cx="146304" cy="146304"/>
          </a:xfrm>
          <a:prstGeom prst="ellipse">
            <a:avLst/>
          </a:prstGeom>
          <a:solidFill>
            <a:srgbClr val="1F52D6"/>
          </a:solidFill>
          <a:ln/>
        </p:spPr>
        <p:txBody>
          <a:bodyPr/>
          <a:lstStyle/>
          <a:p>
            <a:endParaRPr lang="en-US"/>
          </a:p>
        </p:txBody>
      </p:sp>
      <p:sp>
        <p:nvSpPr>
          <p:cNvPr id="12" name="Text 10"/>
          <p:cNvSpPr/>
          <p:nvPr/>
        </p:nvSpPr>
        <p:spPr>
          <a:xfrm>
            <a:off x="7333488" y="2450000"/>
            <a:ext cx="3959352" cy="320040"/>
          </a:xfrm>
          <a:prstGeom prst="rect">
            <a:avLst/>
          </a:prstGeom>
          <a:noFill/>
          <a:ln/>
        </p:spPr>
        <p:txBody>
          <a:bodyPr wrap="square" lIns="0" tIns="0" rIns="0" bIns="0" rtlCol="0" anchor="ctr"/>
          <a:lstStyle/>
          <a:p>
            <a:pPr marL="0" indent="0" algn="l">
              <a:buNone/>
            </a:pPr>
            <a:r>
              <a:rPr lang="en-US" sz="1600" b="1" dirty="0">
                <a:solidFill>
                  <a:srgbClr val="16233B"/>
                </a:solidFill>
                <a:latin typeface="Georgia" pitchFamily="34" charset="0"/>
                <a:ea typeface="Georgia" pitchFamily="34" charset="-122"/>
                <a:cs typeface="Georgia" pitchFamily="34" charset="-120"/>
              </a:rPr>
              <a:t>Increase customer lifetime value</a:t>
            </a:r>
            <a:endParaRPr lang="en-US" sz="1600" dirty="0"/>
          </a:p>
        </p:txBody>
      </p:sp>
      <p:sp>
        <p:nvSpPr>
          <p:cNvPr id="13" name="Text 11"/>
          <p:cNvSpPr/>
          <p:nvPr/>
        </p:nvSpPr>
        <p:spPr>
          <a:xfrm>
            <a:off x="7333488" y="2760000"/>
            <a:ext cx="3959352" cy="4572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Retain loyal </a:t>
            </a:r>
            <a:r>
              <a:rPr lang="en-US" sz="1300" dirty="0">
                <a:solidFill>
                  <a:srgbClr val="5C6B85"/>
                </a:solidFill>
                <a:latin typeface="Calibri" pitchFamily="34" charset="0"/>
                <a:ea typeface="Calibri" pitchFamily="34" charset="-122"/>
                <a:cs typeface="Calibri" pitchFamily="34" charset="-120"/>
              </a:rPr>
              <a:t>customers </a:t>
            </a:r>
            <a:r>
              <a:rPr lang="en-US" sz="1300">
                <a:solidFill>
                  <a:srgbClr val="5C6B85"/>
                </a:solidFill>
                <a:latin typeface="Calibri" pitchFamily="34" charset="0"/>
                <a:ea typeface="Calibri" pitchFamily="34" charset="-122"/>
                <a:cs typeface="Calibri" pitchFamily="34" charset="-120"/>
              </a:rPr>
              <a:t>to grow long-term value</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7040880" y="3384872"/>
            <a:ext cx="146304" cy="146304"/>
          </a:xfrm>
          <a:prstGeom prst="ellipse">
            <a:avLst/>
          </a:prstGeom>
          <a:solidFill>
            <a:srgbClr val="1F52D6"/>
          </a:solidFill>
          <a:ln/>
        </p:spPr>
        <p:txBody>
          <a:bodyPr/>
          <a:lstStyle/>
          <a:p>
            <a:endParaRPr lang="en-US"/>
          </a:p>
        </p:txBody>
      </p:sp>
      <p:sp>
        <p:nvSpPr>
          <p:cNvPr id="15" name="Text 13"/>
          <p:cNvSpPr/>
          <p:nvPr/>
        </p:nvSpPr>
        <p:spPr>
          <a:xfrm>
            <a:off x="7333488" y="3266000"/>
            <a:ext cx="3959352" cy="320040"/>
          </a:xfrm>
          <a:prstGeom prst="rect">
            <a:avLst/>
          </a:prstGeom>
          <a:noFill/>
          <a:ln/>
        </p:spPr>
        <p:txBody>
          <a:bodyPr wrap="square" lIns="0" tIns="0" rIns="0" bIns="0" rtlCol="0" anchor="ctr"/>
          <a:lstStyle/>
          <a:p>
            <a:pPr marL="0" indent="0" algn="l">
              <a:buNone/>
            </a:pPr>
            <a:r>
              <a:rPr lang="en-US" sz="1600" b="1" dirty="0">
                <a:solidFill>
                  <a:srgbClr val="16233B"/>
                </a:solidFill>
                <a:latin typeface="Georgia" pitchFamily="34" charset="0"/>
                <a:ea typeface="Georgia" pitchFamily="34" charset="-122"/>
                <a:cs typeface="Georgia" pitchFamily="34" charset="-120"/>
              </a:rPr>
              <a:t>Reduce customer attrition</a:t>
            </a:r>
            <a:endParaRPr lang="en-US" sz="1600" dirty="0"/>
          </a:p>
        </p:txBody>
      </p:sp>
      <p:sp>
        <p:nvSpPr>
          <p:cNvPr id="16" name="Text 14"/>
          <p:cNvSpPr/>
          <p:nvPr/>
        </p:nvSpPr>
        <p:spPr>
          <a:xfrm>
            <a:off x="7333488" y="3576000"/>
            <a:ext cx="3959352" cy="4572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Engage proactively to reduce customer attrition</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7040880" y="4200872"/>
            <a:ext cx="146304" cy="146304"/>
          </a:xfrm>
          <a:prstGeom prst="ellipse">
            <a:avLst/>
          </a:prstGeom>
          <a:solidFill>
            <a:srgbClr val="1F52D6"/>
          </a:solidFill>
          <a:ln/>
        </p:spPr>
        <p:txBody>
          <a:bodyPr/>
          <a:lstStyle/>
          <a:p>
            <a:endParaRPr lang="en-US"/>
          </a:p>
        </p:txBody>
      </p:sp>
      <p:sp>
        <p:nvSpPr>
          <p:cNvPr id="18" name="Text 16"/>
          <p:cNvSpPr/>
          <p:nvPr/>
        </p:nvSpPr>
        <p:spPr>
          <a:xfrm>
            <a:off x="7333488" y="4082000"/>
            <a:ext cx="3959352" cy="320040"/>
          </a:xfrm>
          <a:prstGeom prst="rect">
            <a:avLst/>
          </a:prstGeom>
          <a:noFill/>
          <a:ln/>
        </p:spPr>
        <p:txBody>
          <a:bodyPr wrap="square" lIns="0" tIns="0" rIns="0" bIns="0" rtlCol="0" anchor="ctr"/>
          <a:lstStyle/>
          <a:p>
            <a:pPr marL="0" indent="0" algn="l">
              <a:buNone/>
            </a:pPr>
            <a:r>
              <a:rPr lang="en-US" sz="1600" b="1" dirty="0">
                <a:solidFill>
                  <a:srgbClr val="16233B"/>
                </a:solidFill>
                <a:latin typeface="Georgia" pitchFamily="34" charset="0"/>
                <a:ea typeface="Georgia" pitchFamily="34" charset="-122"/>
                <a:cs typeface="Georgia" pitchFamily="34" charset="-120"/>
              </a:rPr>
              <a:t>Improve marketing ROI</a:t>
            </a:r>
            <a:endParaRPr lang="en-US" sz="1600" dirty="0"/>
          </a:p>
        </p:txBody>
      </p:sp>
      <p:sp>
        <p:nvSpPr>
          <p:cNvPr id="19" name="Text 17"/>
          <p:cNvSpPr/>
          <p:nvPr/>
        </p:nvSpPr>
        <p:spPr>
          <a:xfrm>
            <a:off x="7333488" y="4392000"/>
            <a:ext cx="3959352" cy="4572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Target </a:t>
            </a:r>
            <a:r>
              <a:rPr lang="en-US" sz="1300" dirty="0">
                <a:solidFill>
                  <a:srgbClr val="5C6B85"/>
                </a:solidFill>
                <a:latin typeface="Calibri" pitchFamily="34" charset="0"/>
                <a:ea typeface="Calibri" pitchFamily="34" charset="-122"/>
                <a:cs typeface="Calibri" pitchFamily="34" charset="-120"/>
              </a:rPr>
              <a:t>customers most </a:t>
            </a:r>
            <a:r>
              <a:rPr lang="en-US" sz="1300">
                <a:solidFill>
                  <a:srgbClr val="5C6B85"/>
                </a:solidFill>
                <a:latin typeface="Calibri" pitchFamily="34" charset="0"/>
                <a:ea typeface="Calibri" pitchFamily="34" charset="-122"/>
                <a:cs typeface="Calibri" pitchFamily="34" charset="-120"/>
              </a:rPr>
              <a:t>likely to respond</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24" name="Shape BV4"/>
          <p:cNvSpPr/>
          <p:nvPr/>
        </p:nvSpPr>
        <p:spPr>
          <a:xfrm>
            <a:off x="7040880" y="5016872"/>
            <a:ext cx="146304" cy="146304"/>
          </a:xfrm>
          <a:prstGeom prst="ellipse">
            <a:avLst/>
          </a:prstGeom>
          <a:solidFill>
            <a:srgbClr val="1F52D6"/>
          </a:solidFill>
          <a:ln/>
        </p:spPr>
        <p:txBody>
          <a:bodyPr/>
          <a:lstStyle/>
          <a:p>
            <a:endParaRPr lang="en-US"/>
          </a:p>
        </p:txBody>
      </p:sp>
      <p:sp>
        <p:nvSpPr>
          <p:cNvPr id="25" name="Text BV4 Head"/>
          <p:cNvSpPr/>
          <p:nvPr/>
        </p:nvSpPr>
        <p:spPr>
          <a:xfrm>
            <a:off x="7333488" y="4898000"/>
            <a:ext cx="3959352" cy="320040"/>
          </a:xfrm>
          <a:prstGeom prst="rect">
            <a:avLst/>
          </a:prstGeom>
          <a:noFill/>
          <a:ln/>
        </p:spPr>
        <p:txBody>
          <a:bodyPr wrap="square" lIns="0" tIns="0" rIns="0" bIns="0" rtlCol="0" anchor="ctr"/>
          <a:lstStyle/>
          <a:p>
            <a:pPr marL="0" indent="0" algn="l">
              <a:buNone/>
            </a:pPr>
            <a:r>
              <a:rPr lang="en-US" sz="1600" b="1">
                <a:solidFill>
                  <a:srgbClr val="16233B"/>
                </a:solidFill>
                <a:latin typeface="Georgia" pitchFamily="34" charset="0"/>
                <a:ea typeface="Georgia" pitchFamily="34" charset="-122"/>
                <a:cs typeface="Georgia" pitchFamily="34" charset="-120"/>
              </a:rPr>
              <a:t>Enable informed decisions</a:t>
            </a:r>
            <a:endParaRPr lang="en-US" sz="1600"/>
          </a:p>
        </p:txBody>
      </p:sp>
      <p:sp>
        <p:nvSpPr>
          <p:cNvPr id="26" name="Text BV4 Desc"/>
          <p:cNvSpPr/>
          <p:nvPr/>
        </p:nvSpPr>
        <p:spPr>
          <a:xfrm>
            <a:off x="7333488" y="5208000"/>
            <a:ext cx="3959352" cy="4572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Use predictive analytics to guide business choices.</a:t>
            </a:r>
            <a:endParaRPr lang="en-US" sz="1300"/>
          </a:p>
        </p:txBody>
      </p:sp>
      <p:sp>
        <p:nvSpPr>
          <p:cNvPr id="20" name="Text 18"/>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21" name="Text 19"/>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DATA SOURCES</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Three related datasets</a:t>
            </a:r>
            <a:endParaRPr lang="en-US" sz="3000" dirty="0"/>
          </a:p>
        </p:txBody>
      </p:sp>
      <p:sp>
        <p:nvSpPr>
          <p:cNvPr id="4" name="Shape 2"/>
          <p:cNvSpPr/>
          <p:nvPr/>
        </p:nvSpPr>
        <p:spPr>
          <a:xfrm>
            <a:off x="54864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3566160" cy="91440"/>
          </a:xfrm>
          <a:prstGeom prst="rect">
            <a:avLst/>
          </a:prstGeom>
          <a:solidFill>
            <a:srgbClr val="1F52D6"/>
          </a:solidFill>
          <a:ln/>
        </p:spPr>
        <p:txBody>
          <a:bodyPr/>
          <a:lstStyle/>
          <a:p>
            <a:endParaRPr lang="en-US"/>
          </a:p>
        </p:txBody>
      </p:sp>
      <p:sp>
        <p:nvSpPr>
          <p:cNvPr id="6" name="Text 4"/>
          <p:cNvSpPr/>
          <p:nvPr/>
        </p:nvSpPr>
        <p:spPr>
          <a:xfrm>
            <a:off x="86868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dirty="0">
                <a:solidFill>
                  <a:srgbClr val="1F52D6"/>
                </a:solidFill>
                <a:latin typeface="Calibri" pitchFamily="34" charset="0"/>
                <a:ea typeface="Calibri" pitchFamily="34" charset="-122"/>
                <a:cs typeface="Calibri" pitchFamily="34" charset="-120"/>
              </a:rPr>
              <a:t>EXPLORATORY DATA</a:t>
            </a:r>
            <a:endParaRPr lang="en-US" sz="1200" dirty="0"/>
          </a:p>
        </p:txBody>
      </p:sp>
      <p:sp>
        <p:nvSpPr>
          <p:cNvPr id="7" name="Text 5"/>
          <p:cNvSpPr/>
          <p:nvPr/>
        </p:nvSpPr>
        <p:spPr>
          <a:xfrm>
            <a:off x="841248" y="2560320"/>
            <a:ext cx="3017520" cy="777240"/>
          </a:xfrm>
          <a:prstGeom prst="rect">
            <a:avLst/>
          </a:prstGeom>
          <a:noFill/>
          <a:ln/>
        </p:spPr>
        <p:txBody>
          <a:bodyPr wrap="square" lIns="0" tIns="0" rIns="0" bIns="0" rtlCol="0" anchor="ctr"/>
          <a:lstStyle/>
          <a:p>
            <a:pPr marL="0" indent="0" algn="l">
              <a:buNone/>
            </a:pPr>
            <a:r>
              <a:rPr lang="en-US" sz="4000" b="1" dirty="0">
                <a:solidFill>
                  <a:srgbClr val="16233B"/>
                </a:solidFill>
                <a:latin typeface="Georgia" pitchFamily="34" charset="0"/>
                <a:ea typeface="Georgia" pitchFamily="34" charset="-122"/>
                <a:cs typeface="Georgia" pitchFamily="34" charset="-120"/>
              </a:rPr>
              <a:t>45,209</a:t>
            </a:r>
            <a:endParaRPr lang="en-US" sz="4000" dirty="0"/>
          </a:p>
        </p:txBody>
      </p:sp>
      <p:sp>
        <p:nvSpPr>
          <p:cNvPr id="8" name="Text 6"/>
          <p:cNvSpPr/>
          <p:nvPr/>
        </p:nvSpPr>
        <p:spPr>
          <a:xfrm>
            <a:off x="868680" y="3319272"/>
            <a:ext cx="2926080" cy="274320"/>
          </a:xfrm>
          <a:prstGeom prst="rect">
            <a:avLst/>
          </a:prstGeom>
          <a:noFill/>
          <a:ln/>
        </p:spPr>
        <p:txBody>
          <a:bodyPr wrap="square" lIns="0" tIns="0" rIns="0" bIns="0" rtlCol="0" anchor="ctr"/>
          <a:lstStyle/>
          <a:p>
            <a:pPr marL="0" indent="0" algn="l">
              <a:buNone/>
            </a:pPr>
            <a:r>
              <a:rPr lang="en-US" sz="1250" i="1" dirty="0">
                <a:solidFill>
                  <a:srgbClr val="5C6B85"/>
                </a:solidFill>
                <a:latin typeface="Calibri" pitchFamily="34" charset="0"/>
                <a:ea typeface="Calibri" pitchFamily="34" charset="-122"/>
                <a:cs typeface="Calibri" pitchFamily="34" charset="-120"/>
              </a:rPr>
              <a:t>customer records</a:t>
            </a:r>
            <a:endParaRPr lang="en-US" sz="1250" dirty="0"/>
          </a:p>
        </p:txBody>
      </p:sp>
      <p:sp>
        <p:nvSpPr>
          <p:cNvPr id="9" name="Shape 7"/>
          <p:cNvSpPr/>
          <p:nvPr/>
        </p:nvSpPr>
        <p:spPr>
          <a:xfrm>
            <a:off x="868680" y="3685032"/>
            <a:ext cx="2926080" cy="10973"/>
          </a:xfrm>
          <a:prstGeom prst="rect">
            <a:avLst/>
          </a:prstGeom>
          <a:solidFill>
            <a:srgbClr val="D4DCEA"/>
          </a:solidFill>
          <a:ln/>
        </p:spPr>
        <p:txBody>
          <a:bodyPr/>
          <a:lstStyle/>
          <a:p>
            <a:endParaRPr lang="en-US"/>
          </a:p>
        </p:txBody>
      </p:sp>
      <p:sp>
        <p:nvSpPr>
          <p:cNvPr id="10" name="Shape 8"/>
          <p:cNvSpPr/>
          <p:nvPr/>
        </p:nvSpPr>
        <p:spPr>
          <a:xfrm>
            <a:off x="896112" y="3904488"/>
            <a:ext cx="100584" cy="100584"/>
          </a:xfrm>
          <a:prstGeom prst="ellipse">
            <a:avLst/>
          </a:prstGeom>
          <a:solidFill>
            <a:srgbClr val="1F52D6"/>
          </a:solidFill>
          <a:ln/>
        </p:spPr>
        <p:txBody>
          <a:bodyPr/>
          <a:lstStyle/>
          <a:p>
            <a:endParaRPr lang="en-US"/>
          </a:p>
        </p:txBody>
      </p:sp>
      <p:sp>
        <p:nvSpPr>
          <p:cNvPr id="11" name="Text 9"/>
          <p:cNvSpPr/>
          <p:nvPr/>
        </p:nvSpPr>
        <p:spPr>
          <a:xfrm>
            <a:off x="1115568" y="3794760"/>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Demographics</a:t>
            </a:r>
            <a:endParaRPr lang="en-US" sz="1300" dirty="0"/>
          </a:p>
        </p:txBody>
      </p:sp>
      <p:sp>
        <p:nvSpPr>
          <p:cNvPr id="12" name="Shape 10"/>
          <p:cNvSpPr/>
          <p:nvPr/>
        </p:nvSpPr>
        <p:spPr>
          <a:xfrm>
            <a:off x="896112" y="4306824"/>
            <a:ext cx="100584" cy="100584"/>
          </a:xfrm>
          <a:prstGeom prst="ellipse">
            <a:avLst/>
          </a:prstGeom>
          <a:solidFill>
            <a:srgbClr val="1F52D6"/>
          </a:solidFill>
          <a:ln/>
        </p:spPr>
        <p:txBody>
          <a:bodyPr/>
          <a:lstStyle/>
          <a:p>
            <a:endParaRPr lang="en-US"/>
          </a:p>
        </p:txBody>
      </p:sp>
      <p:sp>
        <p:nvSpPr>
          <p:cNvPr id="13" name="Text 11"/>
          <p:cNvSpPr/>
          <p:nvPr/>
        </p:nvSpPr>
        <p:spPr>
          <a:xfrm>
            <a:off x="1115568" y="4197096"/>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Transactions</a:t>
            </a:r>
            <a:endParaRPr lang="en-US" sz="1300" dirty="0"/>
          </a:p>
        </p:txBody>
      </p:sp>
      <p:sp>
        <p:nvSpPr>
          <p:cNvPr id="14" name="Shape 12"/>
          <p:cNvSpPr/>
          <p:nvPr/>
        </p:nvSpPr>
        <p:spPr>
          <a:xfrm>
            <a:off x="896112" y="4709160"/>
            <a:ext cx="100584" cy="100584"/>
          </a:xfrm>
          <a:prstGeom prst="ellipse">
            <a:avLst/>
          </a:prstGeom>
          <a:solidFill>
            <a:srgbClr val="1F52D6"/>
          </a:solidFill>
          <a:ln/>
        </p:spPr>
        <p:txBody>
          <a:bodyPr/>
          <a:lstStyle/>
          <a:p>
            <a:endParaRPr lang="en-US"/>
          </a:p>
        </p:txBody>
      </p:sp>
      <p:sp>
        <p:nvSpPr>
          <p:cNvPr id="15" name="Text 13"/>
          <p:cNvSpPr/>
          <p:nvPr/>
        </p:nvSpPr>
        <p:spPr>
          <a:xfrm>
            <a:off x="1115568" y="4599432"/>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Marketing variables</a:t>
            </a:r>
            <a:endParaRPr lang="en-US" sz="1300" dirty="0"/>
          </a:p>
        </p:txBody>
      </p:sp>
      <p:sp>
        <p:nvSpPr>
          <p:cNvPr id="16" name="Shape 14"/>
          <p:cNvSpPr/>
          <p:nvPr/>
        </p:nvSpPr>
        <p:spPr>
          <a:xfrm>
            <a:off x="896112" y="5111496"/>
            <a:ext cx="100584" cy="100584"/>
          </a:xfrm>
          <a:prstGeom prst="ellipse">
            <a:avLst/>
          </a:prstGeom>
          <a:solidFill>
            <a:srgbClr val="1F52D6"/>
          </a:solidFill>
          <a:ln/>
        </p:spPr>
        <p:txBody>
          <a:bodyPr/>
          <a:lstStyle/>
          <a:p>
            <a:endParaRPr lang="en-US"/>
          </a:p>
        </p:txBody>
      </p:sp>
      <p:sp>
        <p:nvSpPr>
          <p:cNvPr id="17" name="Text 15"/>
          <p:cNvSpPr/>
          <p:nvPr/>
        </p:nvSpPr>
        <p:spPr>
          <a:xfrm>
            <a:off x="1115568" y="5001768"/>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Device usage</a:t>
            </a:r>
            <a:endParaRPr lang="en-US" sz="1300" dirty="0"/>
          </a:p>
        </p:txBody>
      </p:sp>
      <p:sp>
        <p:nvSpPr>
          <p:cNvPr id="18" name="Shape 16"/>
          <p:cNvSpPr/>
          <p:nvPr/>
        </p:nvSpPr>
        <p:spPr>
          <a:xfrm>
            <a:off x="438912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9" name="Shape 17"/>
          <p:cNvSpPr/>
          <p:nvPr/>
        </p:nvSpPr>
        <p:spPr>
          <a:xfrm>
            <a:off x="4389120" y="1783080"/>
            <a:ext cx="3566160" cy="91440"/>
          </a:xfrm>
          <a:prstGeom prst="rect">
            <a:avLst/>
          </a:prstGeom>
          <a:solidFill>
            <a:srgbClr val="1F52D6"/>
          </a:solidFill>
          <a:ln/>
        </p:spPr>
        <p:txBody>
          <a:bodyPr/>
          <a:lstStyle/>
          <a:p>
            <a:endParaRPr lang="en-US"/>
          </a:p>
        </p:txBody>
      </p:sp>
      <p:sp>
        <p:nvSpPr>
          <p:cNvPr id="20" name="Text 18"/>
          <p:cNvSpPr/>
          <p:nvPr/>
        </p:nvSpPr>
        <p:spPr>
          <a:xfrm>
            <a:off x="470916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dirty="0">
                <a:solidFill>
                  <a:srgbClr val="1F52D6"/>
                </a:solidFill>
                <a:latin typeface="Calibri" pitchFamily="34" charset="0"/>
                <a:ea typeface="Calibri" pitchFamily="34" charset="-122"/>
                <a:cs typeface="Calibri" pitchFamily="34" charset="-120"/>
              </a:rPr>
              <a:t>RETAIL TRANSACTION DATA</a:t>
            </a:r>
            <a:endParaRPr lang="en-US" sz="1200" dirty="0"/>
          </a:p>
        </p:txBody>
      </p:sp>
      <p:sp>
        <p:nvSpPr>
          <p:cNvPr id="21" name="Text 19"/>
          <p:cNvSpPr/>
          <p:nvPr/>
        </p:nvSpPr>
        <p:spPr>
          <a:xfrm>
            <a:off x="4681728" y="2560320"/>
            <a:ext cx="3017520" cy="777240"/>
          </a:xfrm>
          <a:prstGeom prst="rect">
            <a:avLst/>
          </a:prstGeom>
          <a:noFill/>
          <a:ln/>
        </p:spPr>
        <p:txBody>
          <a:bodyPr wrap="square" lIns="0" tIns="0" rIns="0" bIns="0" rtlCol="0" anchor="ctr"/>
          <a:lstStyle/>
          <a:p>
            <a:pPr marL="0" indent="0" algn="l">
              <a:buNone/>
            </a:pPr>
            <a:r>
              <a:rPr lang="en-US" sz="4000" b="1" dirty="0">
                <a:solidFill>
                  <a:srgbClr val="16233B"/>
                </a:solidFill>
                <a:latin typeface="Georgia" pitchFamily="34" charset="0"/>
                <a:ea typeface="Georgia" pitchFamily="34" charset="-122"/>
                <a:cs typeface="Georgia" pitchFamily="34" charset="-120"/>
              </a:rPr>
              <a:t>15,206</a:t>
            </a:r>
            <a:endParaRPr lang="en-US" sz="4000" dirty="0"/>
          </a:p>
        </p:txBody>
      </p:sp>
      <p:sp>
        <p:nvSpPr>
          <p:cNvPr id="22" name="Text 20"/>
          <p:cNvSpPr/>
          <p:nvPr/>
        </p:nvSpPr>
        <p:spPr>
          <a:xfrm>
            <a:off x="4709160" y="3319272"/>
            <a:ext cx="2926080" cy="274320"/>
          </a:xfrm>
          <a:prstGeom prst="rect">
            <a:avLst/>
          </a:prstGeom>
          <a:noFill/>
          <a:ln/>
        </p:spPr>
        <p:txBody>
          <a:bodyPr wrap="square" lIns="0" tIns="0" rIns="0" bIns="0" rtlCol="0" anchor="ctr"/>
          <a:lstStyle/>
          <a:p>
            <a:pPr marL="0" indent="0" algn="l">
              <a:buNone/>
            </a:pPr>
            <a:r>
              <a:rPr lang="en-US" sz="1250" i="1" dirty="0">
                <a:solidFill>
                  <a:srgbClr val="5C6B85"/>
                </a:solidFill>
                <a:latin typeface="Calibri" pitchFamily="34" charset="0"/>
                <a:ea typeface="Calibri" pitchFamily="34" charset="-122"/>
                <a:cs typeface="Calibri" pitchFamily="34" charset="-120"/>
              </a:rPr>
              <a:t>online purchases</a:t>
            </a:r>
            <a:endParaRPr lang="en-US" sz="1250" dirty="0"/>
          </a:p>
        </p:txBody>
      </p:sp>
      <p:sp>
        <p:nvSpPr>
          <p:cNvPr id="23" name="Shape 21"/>
          <p:cNvSpPr/>
          <p:nvPr/>
        </p:nvSpPr>
        <p:spPr>
          <a:xfrm>
            <a:off x="4709160" y="3685032"/>
            <a:ext cx="2926080" cy="10973"/>
          </a:xfrm>
          <a:prstGeom prst="rect">
            <a:avLst/>
          </a:prstGeom>
          <a:solidFill>
            <a:srgbClr val="D4DCEA"/>
          </a:solidFill>
          <a:ln/>
        </p:spPr>
        <p:txBody>
          <a:bodyPr/>
          <a:lstStyle/>
          <a:p>
            <a:endParaRPr lang="en-US"/>
          </a:p>
        </p:txBody>
      </p:sp>
      <p:sp>
        <p:nvSpPr>
          <p:cNvPr id="24" name="Shape 22"/>
          <p:cNvSpPr/>
          <p:nvPr/>
        </p:nvSpPr>
        <p:spPr>
          <a:xfrm>
            <a:off x="4736592" y="3904488"/>
            <a:ext cx="100584" cy="100584"/>
          </a:xfrm>
          <a:prstGeom prst="ellipse">
            <a:avLst/>
          </a:prstGeom>
          <a:solidFill>
            <a:srgbClr val="1F52D6"/>
          </a:solidFill>
          <a:ln/>
        </p:spPr>
        <p:txBody>
          <a:bodyPr/>
          <a:lstStyle/>
          <a:p>
            <a:endParaRPr lang="en-US"/>
          </a:p>
        </p:txBody>
      </p:sp>
      <p:sp>
        <p:nvSpPr>
          <p:cNvPr id="25" name="Text 23"/>
          <p:cNvSpPr/>
          <p:nvPr/>
        </p:nvSpPr>
        <p:spPr>
          <a:xfrm>
            <a:off x="4956048" y="3794760"/>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Invoice history</a:t>
            </a:r>
            <a:endParaRPr lang="en-US" sz="1300" dirty="0"/>
          </a:p>
        </p:txBody>
      </p:sp>
      <p:sp>
        <p:nvSpPr>
          <p:cNvPr id="26" name="Shape 24"/>
          <p:cNvSpPr/>
          <p:nvPr/>
        </p:nvSpPr>
        <p:spPr>
          <a:xfrm>
            <a:off x="4736592" y="4306824"/>
            <a:ext cx="100584" cy="100584"/>
          </a:xfrm>
          <a:prstGeom prst="ellipse">
            <a:avLst/>
          </a:prstGeom>
          <a:solidFill>
            <a:srgbClr val="1F52D6"/>
          </a:solidFill>
          <a:ln/>
        </p:spPr>
        <p:txBody>
          <a:bodyPr/>
          <a:lstStyle/>
          <a:p>
            <a:endParaRPr lang="en-US"/>
          </a:p>
        </p:txBody>
      </p:sp>
      <p:sp>
        <p:nvSpPr>
          <p:cNvPr id="27" name="Text 25"/>
          <p:cNvSpPr/>
          <p:nvPr/>
        </p:nvSpPr>
        <p:spPr>
          <a:xfrm>
            <a:off x="4956048" y="4197096"/>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Product descriptions</a:t>
            </a:r>
            <a:endParaRPr lang="en-US" sz="1300" dirty="0"/>
          </a:p>
        </p:txBody>
      </p:sp>
      <p:sp>
        <p:nvSpPr>
          <p:cNvPr id="28" name="Shape 26"/>
          <p:cNvSpPr/>
          <p:nvPr/>
        </p:nvSpPr>
        <p:spPr>
          <a:xfrm>
            <a:off x="4736592" y="4709160"/>
            <a:ext cx="100584" cy="100584"/>
          </a:xfrm>
          <a:prstGeom prst="ellipse">
            <a:avLst/>
          </a:prstGeom>
          <a:solidFill>
            <a:srgbClr val="1F52D6"/>
          </a:solidFill>
          <a:ln/>
        </p:spPr>
        <p:txBody>
          <a:bodyPr/>
          <a:lstStyle/>
          <a:p>
            <a:endParaRPr lang="en-US"/>
          </a:p>
        </p:txBody>
      </p:sp>
      <p:sp>
        <p:nvSpPr>
          <p:cNvPr id="29" name="Text 27"/>
          <p:cNvSpPr/>
          <p:nvPr/>
        </p:nvSpPr>
        <p:spPr>
          <a:xfrm>
            <a:off x="4956048" y="4599432"/>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Purchase quantities</a:t>
            </a:r>
            <a:endParaRPr lang="en-US" sz="1300" dirty="0"/>
          </a:p>
        </p:txBody>
      </p:sp>
      <p:sp>
        <p:nvSpPr>
          <p:cNvPr id="30" name="Shape 28"/>
          <p:cNvSpPr/>
          <p:nvPr/>
        </p:nvSpPr>
        <p:spPr>
          <a:xfrm>
            <a:off x="4736592" y="5111496"/>
            <a:ext cx="100584" cy="100584"/>
          </a:xfrm>
          <a:prstGeom prst="ellipse">
            <a:avLst/>
          </a:prstGeom>
          <a:solidFill>
            <a:srgbClr val="1F52D6"/>
          </a:solidFill>
          <a:ln/>
        </p:spPr>
        <p:txBody>
          <a:bodyPr/>
          <a:lstStyle/>
          <a:p>
            <a:endParaRPr lang="en-US"/>
          </a:p>
        </p:txBody>
      </p:sp>
      <p:sp>
        <p:nvSpPr>
          <p:cNvPr id="31" name="Text 29"/>
          <p:cNvSpPr/>
          <p:nvPr/>
        </p:nvSpPr>
        <p:spPr>
          <a:xfrm>
            <a:off x="4956048" y="5001768"/>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Total spending</a:t>
            </a:r>
            <a:endParaRPr lang="en-US" sz="1300" dirty="0"/>
          </a:p>
        </p:txBody>
      </p:sp>
      <p:sp>
        <p:nvSpPr>
          <p:cNvPr id="32" name="Shape 30"/>
          <p:cNvSpPr/>
          <p:nvPr/>
        </p:nvSpPr>
        <p:spPr>
          <a:xfrm>
            <a:off x="822960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33" name="Shape 31"/>
          <p:cNvSpPr/>
          <p:nvPr/>
        </p:nvSpPr>
        <p:spPr>
          <a:xfrm>
            <a:off x="8229600" y="1783080"/>
            <a:ext cx="3566160" cy="91440"/>
          </a:xfrm>
          <a:prstGeom prst="rect">
            <a:avLst/>
          </a:prstGeom>
          <a:solidFill>
            <a:srgbClr val="1F52D6"/>
          </a:solidFill>
          <a:ln/>
        </p:spPr>
        <p:txBody>
          <a:bodyPr/>
          <a:lstStyle/>
          <a:p>
            <a:endParaRPr lang="en-US"/>
          </a:p>
        </p:txBody>
      </p:sp>
      <p:sp>
        <p:nvSpPr>
          <p:cNvPr id="34" name="Text 32"/>
          <p:cNvSpPr/>
          <p:nvPr/>
        </p:nvSpPr>
        <p:spPr>
          <a:xfrm>
            <a:off x="854964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dirty="0">
                <a:solidFill>
                  <a:srgbClr val="1F52D6"/>
                </a:solidFill>
                <a:latin typeface="Calibri" pitchFamily="34" charset="0"/>
                <a:ea typeface="Calibri" pitchFamily="34" charset="-122"/>
                <a:cs typeface="Calibri" pitchFamily="34" charset="-120"/>
              </a:rPr>
              <a:t>CUSTOMER MODELING DATA</a:t>
            </a:r>
            <a:endParaRPr lang="en-US" sz="1200" dirty="0"/>
          </a:p>
        </p:txBody>
      </p:sp>
      <p:sp>
        <p:nvSpPr>
          <p:cNvPr id="35" name="Text 33"/>
          <p:cNvSpPr/>
          <p:nvPr/>
        </p:nvSpPr>
        <p:spPr>
          <a:xfrm>
            <a:off x="8522208" y="2560320"/>
            <a:ext cx="3017520" cy="777240"/>
          </a:xfrm>
          <a:prstGeom prst="rect">
            <a:avLst/>
          </a:prstGeom>
          <a:noFill/>
          <a:ln/>
        </p:spPr>
        <p:txBody>
          <a:bodyPr wrap="square" lIns="0" tIns="0" rIns="0" bIns="0" rtlCol="0" anchor="ctr"/>
          <a:lstStyle/>
          <a:p>
            <a:pPr marL="0" indent="0" algn="l">
              <a:buNone/>
            </a:pPr>
            <a:r>
              <a:rPr lang="en-US" sz="4000" b="1" dirty="0">
                <a:solidFill>
                  <a:srgbClr val="16233B"/>
                </a:solidFill>
                <a:latin typeface="Georgia" pitchFamily="34" charset="0"/>
                <a:ea typeface="Georgia" pitchFamily="34" charset="-122"/>
                <a:cs typeface="Georgia" pitchFamily="34" charset="-120"/>
              </a:rPr>
              <a:t>2,130</a:t>
            </a:r>
            <a:endParaRPr lang="en-US" sz="4000" dirty="0"/>
          </a:p>
        </p:txBody>
      </p:sp>
      <p:sp>
        <p:nvSpPr>
          <p:cNvPr id="36" name="Text 34"/>
          <p:cNvSpPr/>
          <p:nvPr/>
        </p:nvSpPr>
        <p:spPr>
          <a:xfrm>
            <a:off x="8549640" y="3319272"/>
            <a:ext cx="2926080" cy="274320"/>
          </a:xfrm>
          <a:prstGeom prst="rect">
            <a:avLst/>
          </a:prstGeom>
          <a:noFill/>
          <a:ln/>
        </p:spPr>
        <p:txBody>
          <a:bodyPr wrap="square" lIns="0" tIns="0" rIns="0" bIns="0" rtlCol="0" anchor="ctr"/>
          <a:lstStyle/>
          <a:p>
            <a:pPr marL="0" indent="0" algn="l">
              <a:buNone/>
            </a:pPr>
            <a:r>
              <a:rPr lang="en-US" sz="1250" i="1" dirty="0">
                <a:solidFill>
                  <a:srgbClr val="5C6B85"/>
                </a:solidFill>
                <a:latin typeface="Calibri" pitchFamily="34" charset="0"/>
                <a:ea typeface="Calibri" pitchFamily="34" charset="-122"/>
                <a:cs typeface="Calibri" pitchFamily="34" charset="-120"/>
              </a:rPr>
              <a:t>customers</a:t>
            </a:r>
            <a:endParaRPr lang="en-US" sz="1250" dirty="0"/>
          </a:p>
        </p:txBody>
      </p:sp>
      <p:sp>
        <p:nvSpPr>
          <p:cNvPr id="37" name="Shape 35"/>
          <p:cNvSpPr/>
          <p:nvPr/>
        </p:nvSpPr>
        <p:spPr>
          <a:xfrm>
            <a:off x="8549640" y="3685032"/>
            <a:ext cx="2926080" cy="10973"/>
          </a:xfrm>
          <a:prstGeom prst="rect">
            <a:avLst/>
          </a:prstGeom>
          <a:solidFill>
            <a:srgbClr val="D4DCEA"/>
          </a:solidFill>
          <a:ln/>
        </p:spPr>
        <p:txBody>
          <a:bodyPr/>
          <a:lstStyle/>
          <a:p>
            <a:endParaRPr lang="en-US"/>
          </a:p>
        </p:txBody>
      </p:sp>
      <p:sp>
        <p:nvSpPr>
          <p:cNvPr id="38" name="Shape 36"/>
          <p:cNvSpPr/>
          <p:nvPr/>
        </p:nvSpPr>
        <p:spPr>
          <a:xfrm>
            <a:off x="8577072" y="3904488"/>
            <a:ext cx="100584" cy="100584"/>
          </a:xfrm>
          <a:prstGeom prst="ellipse">
            <a:avLst/>
          </a:prstGeom>
          <a:solidFill>
            <a:srgbClr val="1F52D6"/>
          </a:solidFill>
          <a:ln/>
        </p:spPr>
        <p:txBody>
          <a:bodyPr/>
          <a:lstStyle/>
          <a:p>
            <a:endParaRPr lang="en-US"/>
          </a:p>
        </p:txBody>
      </p:sp>
      <p:sp>
        <p:nvSpPr>
          <p:cNvPr id="39" name="Text 37"/>
          <p:cNvSpPr/>
          <p:nvPr/>
        </p:nvSpPr>
        <p:spPr>
          <a:xfrm>
            <a:off x="8796528" y="3794760"/>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Purchase frequency</a:t>
            </a:r>
            <a:endParaRPr lang="en-US" sz="1300" dirty="0"/>
          </a:p>
        </p:txBody>
      </p:sp>
      <p:sp>
        <p:nvSpPr>
          <p:cNvPr id="40" name="Shape 38"/>
          <p:cNvSpPr/>
          <p:nvPr/>
        </p:nvSpPr>
        <p:spPr>
          <a:xfrm>
            <a:off x="8577072" y="4306824"/>
            <a:ext cx="100584" cy="100584"/>
          </a:xfrm>
          <a:prstGeom prst="ellipse">
            <a:avLst/>
          </a:prstGeom>
          <a:solidFill>
            <a:srgbClr val="1F52D6"/>
          </a:solidFill>
          <a:ln/>
        </p:spPr>
        <p:txBody>
          <a:bodyPr/>
          <a:lstStyle/>
          <a:p>
            <a:endParaRPr lang="en-US"/>
          </a:p>
        </p:txBody>
      </p:sp>
      <p:sp>
        <p:nvSpPr>
          <p:cNvPr id="41" name="Text 39"/>
          <p:cNvSpPr/>
          <p:nvPr/>
        </p:nvSpPr>
        <p:spPr>
          <a:xfrm>
            <a:off x="8796528" y="4197096"/>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Recency</a:t>
            </a:r>
            <a:endParaRPr lang="en-US" sz="1300" dirty="0"/>
          </a:p>
        </p:txBody>
      </p:sp>
      <p:sp>
        <p:nvSpPr>
          <p:cNvPr id="42" name="Shape 40"/>
          <p:cNvSpPr/>
          <p:nvPr/>
        </p:nvSpPr>
        <p:spPr>
          <a:xfrm>
            <a:off x="8577072" y="4709160"/>
            <a:ext cx="100584" cy="100584"/>
          </a:xfrm>
          <a:prstGeom prst="ellipse">
            <a:avLst/>
          </a:prstGeom>
          <a:solidFill>
            <a:srgbClr val="1F52D6"/>
          </a:solidFill>
          <a:ln/>
        </p:spPr>
        <p:txBody>
          <a:bodyPr/>
          <a:lstStyle/>
          <a:p>
            <a:endParaRPr lang="en-US"/>
          </a:p>
        </p:txBody>
      </p:sp>
      <p:sp>
        <p:nvSpPr>
          <p:cNvPr id="43" name="Text 41"/>
          <p:cNvSpPr/>
          <p:nvPr/>
        </p:nvSpPr>
        <p:spPr>
          <a:xfrm>
            <a:off x="8796528" y="4599432"/>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Tenure</a:t>
            </a:r>
            <a:endParaRPr lang="en-US" sz="1300" dirty="0"/>
          </a:p>
        </p:txBody>
      </p:sp>
      <p:sp>
        <p:nvSpPr>
          <p:cNvPr id="44" name="Shape 42"/>
          <p:cNvSpPr/>
          <p:nvPr/>
        </p:nvSpPr>
        <p:spPr>
          <a:xfrm>
            <a:off x="8577072" y="5111496"/>
            <a:ext cx="100584" cy="100584"/>
          </a:xfrm>
          <a:prstGeom prst="ellipse">
            <a:avLst/>
          </a:prstGeom>
          <a:solidFill>
            <a:srgbClr val="1F52D6"/>
          </a:solidFill>
          <a:ln/>
        </p:spPr>
        <p:txBody>
          <a:bodyPr/>
          <a:lstStyle/>
          <a:p>
            <a:endParaRPr lang="en-US"/>
          </a:p>
        </p:txBody>
      </p:sp>
      <p:sp>
        <p:nvSpPr>
          <p:cNvPr id="45" name="Text 43"/>
          <p:cNvSpPr/>
          <p:nvPr/>
        </p:nvSpPr>
        <p:spPr>
          <a:xfrm>
            <a:off x="8796528" y="5001768"/>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Monetary value</a:t>
            </a:r>
            <a:endParaRPr lang="en-US" sz="1300" dirty="0"/>
          </a:p>
        </p:txBody>
      </p:sp>
      <p:sp>
        <p:nvSpPr>
          <p:cNvPr id="46" name="Shape 44"/>
          <p:cNvSpPr/>
          <p:nvPr/>
        </p:nvSpPr>
        <p:spPr>
          <a:xfrm>
            <a:off x="8577072" y="5513832"/>
            <a:ext cx="100584" cy="100584"/>
          </a:xfrm>
          <a:prstGeom prst="ellipse">
            <a:avLst/>
          </a:prstGeom>
          <a:solidFill>
            <a:srgbClr val="1F52D6"/>
          </a:solidFill>
          <a:ln/>
        </p:spPr>
        <p:txBody>
          <a:bodyPr/>
          <a:lstStyle/>
          <a:p>
            <a:endParaRPr lang="en-US"/>
          </a:p>
        </p:txBody>
      </p:sp>
      <p:sp>
        <p:nvSpPr>
          <p:cNvPr id="47" name="Text 45"/>
          <p:cNvSpPr/>
          <p:nvPr/>
        </p:nvSpPr>
        <p:spPr>
          <a:xfrm>
            <a:off x="8796528" y="5404104"/>
            <a:ext cx="2697480" cy="301752"/>
          </a:xfrm>
          <a:prstGeom prst="rect">
            <a:avLst/>
          </a:prstGeom>
          <a:noFill/>
          <a:ln/>
        </p:spPr>
        <p:txBody>
          <a:bodyPr wrap="square" lIns="0" tIns="0" rIns="0" bIns="0" rtlCol="0" anchor="ctr"/>
          <a:lstStyle/>
          <a:p>
            <a:pPr marL="0" indent="0" algn="l">
              <a:buNone/>
            </a:pPr>
            <a:r>
              <a:rPr lang="en-US" sz="1300" dirty="0">
                <a:solidFill>
                  <a:srgbClr val="16233B"/>
                </a:solidFill>
                <a:latin typeface="Calibri" pitchFamily="34" charset="0"/>
                <a:ea typeface="Calibri" pitchFamily="34" charset="-122"/>
                <a:cs typeface="Calibri" pitchFamily="34" charset="-120"/>
              </a:rPr>
              <a:t>Churn status</a:t>
            </a:r>
            <a:endParaRPr lang="en-US" sz="1300" dirty="0"/>
          </a:p>
        </p:txBody>
      </p:sp>
      <p:sp>
        <p:nvSpPr>
          <p:cNvPr id="48" name="Text 46"/>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49" name="Text 47"/>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EXPLORATORY DATA ANALYSIS</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Understanding the data</a:t>
            </a:r>
            <a:endParaRPr lang="en-US" sz="3000" dirty="0"/>
          </a:p>
        </p:txBody>
      </p:sp>
      <p:sp>
        <p:nvSpPr>
          <p:cNvPr id="4" name="Text 2"/>
          <p:cNvSpPr/>
          <p:nvPr/>
        </p:nvSpPr>
        <p:spPr>
          <a:xfrm>
            <a:off x="579120" y="1198511"/>
            <a:ext cx="11091672" cy="1210000"/>
          </a:xfrm>
          <a:prstGeom prst="rect">
            <a:avLst/>
          </a:prstGeom>
          <a:noFill/>
          <a:ln/>
        </p:spPr>
        <p:txBody>
          <a:bodyPr wrap="square" lIns="0" tIns="0" rIns="0" bIns="0" rtlCol="0" anchor="t"/>
          <a:lstStyle/>
          <a:p>
            <a:pPr marL="228600" indent="-228600" algn="l">
              <a:lnSpc>
                <a:spcPct val="102000"/>
              </a:lnSpc>
              <a:spcAft>
                <a:spcPts val="500"/>
              </a:spcAft>
              <a:buSzPct val="100000"/>
              <a:buChar char="•"/>
            </a:pPr>
            <a:r>
              <a:rPr lang="en-US" sz="1250" dirty="0">
                <a:solidFill>
                  <a:srgbClr val="16233B"/>
                </a:solidFill>
                <a:latin typeface="Calibri" pitchFamily="34" charset="0"/>
                <a:ea typeface="Calibri" pitchFamily="34" charset="-122"/>
                <a:cs typeface="Calibri" pitchFamily="34" charset="-120"/>
              </a:rPr>
              <a:t>All transactions occurred within the United Kingdom.</a:t>
            </a:r>
            <a:endParaRPr lang="en-US" sz="1250" dirty="0"/>
          </a:p>
          <a:p>
            <a:pPr marL="228600" indent="-228600" algn="l">
              <a:lnSpc>
                <a:spcPct val="102000"/>
              </a:lnSpc>
              <a:spcAft>
                <a:spcPts val="500"/>
              </a:spcAft>
              <a:buSzPct val="100000"/>
              <a:buChar char="•"/>
            </a:pPr>
            <a:r>
              <a:rPr lang="en-US" sz="1250" dirty="0">
                <a:solidFill>
                  <a:srgbClr val="16233B"/>
                </a:solidFill>
                <a:latin typeface="Calibri" pitchFamily="34" charset="0"/>
                <a:ea typeface="Calibri" pitchFamily="34" charset="-122"/>
                <a:cs typeface="Calibri" pitchFamily="34" charset="-120"/>
              </a:rPr>
              <a:t>Purchase amounts were highly right skewed — many low value purchases and relatively few high value transactions.</a:t>
            </a:r>
            <a:endParaRPr lang="en-US" sz="1250" dirty="0"/>
          </a:p>
          <a:p>
            <a:pPr marL="228600" indent="-228600" algn="l">
              <a:lnSpc>
                <a:spcPct val="102000"/>
              </a:lnSpc>
              <a:spcAft>
                <a:spcPts val="500"/>
              </a:spcAft>
              <a:buSzPct val="100000"/>
              <a:buChar char="•"/>
            </a:pPr>
            <a:r>
              <a:rPr lang="en-US" sz="1250" dirty="0">
                <a:solidFill>
                  <a:srgbClr val="16233B"/>
                </a:solidFill>
                <a:latin typeface="Calibri" pitchFamily="34" charset="0"/>
                <a:ea typeface="Calibri" pitchFamily="34" charset="-122"/>
                <a:cs typeface="Calibri" pitchFamily="34" charset="-120"/>
              </a:rPr>
              <a:t>Several numeric variables required transformation before modeling.</a:t>
            </a:r>
            <a:endParaRPr lang="en-US" sz="1250" dirty="0"/>
          </a:p>
          <a:p>
            <a:pPr marL="228600" indent="-228600" algn="l">
              <a:lnSpc>
                <a:spcPct val="102000"/>
              </a:lnSpc>
              <a:spcAft>
                <a:spcPts val="500"/>
              </a:spcAft>
              <a:buSzPct val="100000"/>
              <a:buChar char="•"/>
            </a:pPr>
            <a:r>
              <a:rPr lang="en-US" sz="1250" dirty="0">
                <a:solidFill>
                  <a:srgbClr val="16233B"/>
                </a:solidFill>
                <a:latin typeface="Calibri" pitchFamily="34" charset="0"/>
                <a:ea typeface="Calibri" pitchFamily="34" charset="-122"/>
                <a:cs typeface="Calibri" pitchFamily="34" charset="-120"/>
              </a:rPr>
              <a:t>Quantity and Total Amount were strongly correlated (0.75) — more items purchased generally meant higher sales revenue.</a:t>
            </a:r>
            <a:endParaRPr lang="en-US" sz="1250" dirty="0"/>
          </a:p>
          <a:p>
            <a:pPr marL="228600" indent="-228600" algn="l">
              <a:lnSpc>
                <a:spcPct val="102000"/>
              </a:lnSpc>
              <a:spcAft>
                <a:spcPts val="500"/>
              </a:spcAft>
              <a:buSzPct val="100000"/>
              <a:buChar char="•"/>
            </a:pPr>
            <a:r>
              <a:rPr lang="en-US" sz="1250" dirty="0">
                <a:solidFill>
                  <a:srgbClr val="16233B"/>
                </a:solidFill>
                <a:latin typeface="Calibri" pitchFamily="34" charset="0"/>
                <a:ea typeface="Calibri" pitchFamily="34" charset="-122"/>
                <a:cs typeface="Calibri" pitchFamily="34" charset="-120"/>
              </a:rPr>
              <a:t>Average product prices varied considerably across product categories, highlighting pricing and merchandising opportunities.</a:t>
            </a:r>
            <a:endParaRPr lang="en-US" sz="1250" dirty="0"/>
          </a:p>
        </p:txBody>
      </p:sp>
      <p:sp>
        <p:nvSpPr>
          <p:cNvPr id="6" name="Shape 4"/>
          <p:cNvSpPr/>
          <p:nvPr/>
        </p:nvSpPr>
        <p:spPr>
          <a:xfrm>
            <a:off x="548640" y="2697480"/>
            <a:ext cx="3566160" cy="2880360"/>
          </a:xfrm>
          <a:prstGeom prst="rect">
            <a:avLst/>
          </a:prstGeom>
          <a:solidFill>
            <a:srgbClr val="F2F5FB"/>
          </a:solidFill>
          <a:ln w="12700">
            <a:solidFill>
              <a:srgbClr val="D4DCEA"/>
            </a:solidFill>
            <a:prstDash val="solid"/>
          </a:ln>
        </p:spPr>
        <p:txBody>
          <a:bodyPr/>
          <a:lstStyle/>
          <a:p>
            <a:endParaRPr lang="en-US"/>
          </a:p>
        </p:txBody>
      </p:sp>
      <p:pic>
        <p:nvPicPr>
          <p:cNvPr id="7" name="Image 0" descr="Skewed purchase amounts"/>
          <p:cNvPicPr>
            <a:picLocks noChangeAspect="1"/>
          </p:cNvPicPr>
          <p:nvPr/>
        </p:nvPicPr>
        <p:blipFill>
          <a:blip r:embed="rId3"/>
          <a:stretch>
            <a:fillRect/>
          </a:stretch>
        </p:blipFill>
        <p:spPr>
          <a:xfrm>
            <a:off x="658368" y="2897452"/>
            <a:ext cx="3346704" cy="2242672"/>
          </a:xfrm>
          <a:prstGeom prst="rect">
            <a:avLst/>
          </a:prstGeom>
        </p:spPr>
      </p:pic>
      <p:sp>
        <p:nvSpPr>
          <p:cNvPr id="8" name="Text 5"/>
          <p:cNvSpPr/>
          <p:nvPr/>
        </p:nvSpPr>
        <p:spPr>
          <a:xfrm>
            <a:off x="685800" y="5248656"/>
            <a:ext cx="3291840" cy="274320"/>
          </a:xfrm>
          <a:prstGeom prst="rect">
            <a:avLst/>
          </a:prstGeom>
          <a:noFill/>
          <a:ln/>
        </p:spPr>
        <p:txBody>
          <a:bodyPr wrap="square" lIns="0" tIns="0" rIns="0" bIns="0" rtlCol="0" anchor="ctr"/>
          <a:lstStyle/>
          <a:p>
            <a:pPr marL="0" indent="0" algn="ctr">
              <a:buNone/>
            </a:pPr>
            <a:r>
              <a:rPr lang="en-US" sz="1150" i="1" dirty="0">
                <a:solidFill>
                  <a:srgbClr val="5C6B85"/>
                </a:solidFill>
                <a:latin typeface="Calibri" pitchFamily="34" charset="0"/>
                <a:ea typeface="Calibri" pitchFamily="34" charset="-122"/>
                <a:cs typeface="Calibri" pitchFamily="34" charset="-120"/>
              </a:rPr>
              <a:t>Skewed purchase amounts</a:t>
            </a:r>
            <a:endParaRPr lang="en-US" sz="1150" dirty="0"/>
          </a:p>
        </p:txBody>
      </p:sp>
      <p:sp>
        <p:nvSpPr>
          <p:cNvPr id="9" name="Shape 6"/>
          <p:cNvSpPr/>
          <p:nvPr/>
        </p:nvSpPr>
        <p:spPr>
          <a:xfrm>
            <a:off x="4370832" y="2697480"/>
            <a:ext cx="3566160" cy="2880360"/>
          </a:xfrm>
          <a:prstGeom prst="rect">
            <a:avLst/>
          </a:prstGeom>
          <a:solidFill>
            <a:srgbClr val="F2F5FB"/>
          </a:solidFill>
          <a:ln w="12700">
            <a:solidFill>
              <a:srgbClr val="D4DCEA"/>
            </a:solidFill>
            <a:prstDash val="solid"/>
          </a:ln>
        </p:spPr>
        <p:txBody>
          <a:bodyPr/>
          <a:lstStyle/>
          <a:p>
            <a:endParaRPr lang="en-US"/>
          </a:p>
        </p:txBody>
      </p:sp>
      <p:pic>
        <p:nvPicPr>
          <p:cNvPr id="10" name="Image 1" descr="Correlation of key features"/>
          <p:cNvPicPr>
            <a:picLocks noChangeAspect="1"/>
          </p:cNvPicPr>
          <p:nvPr/>
        </p:nvPicPr>
        <p:blipFill>
          <a:blip r:embed="rId4"/>
          <a:stretch>
            <a:fillRect/>
          </a:stretch>
        </p:blipFill>
        <p:spPr>
          <a:xfrm>
            <a:off x="4673092" y="2807208"/>
            <a:ext cx="2961640" cy="2423160"/>
          </a:xfrm>
          <a:prstGeom prst="rect">
            <a:avLst/>
          </a:prstGeom>
        </p:spPr>
      </p:pic>
      <p:sp>
        <p:nvSpPr>
          <p:cNvPr id="11" name="Text 7"/>
          <p:cNvSpPr/>
          <p:nvPr/>
        </p:nvSpPr>
        <p:spPr>
          <a:xfrm>
            <a:off x="4507992" y="5248656"/>
            <a:ext cx="3291840" cy="274320"/>
          </a:xfrm>
          <a:prstGeom prst="rect">
            <a:avLst/>
          </a:prstGeom>
          <a:noFill/>
          <a:ln/>
        </p:spPr>
        <p:txBody>
          <a:bodyPr wrap="square" lIns="0" tIns="0" rIns="0" bIns="0" rtlCol="0" anchor="ctr"/>
          <a:lstStyle/>
          <a:p>
            <a:pPr marL="0" indent="0" algn="ctr">
              <a:buNone/>
            </a:pPr>
            <a:r>
              <a:rPr lang="en-US" sz="1150" i="1" dirty="0">
                <a:solidFill>
                  <a:srgbClr val="5C6B85"/>
                </a:solidFill>
                <a:latin typeface="Calibri" pitchFamily="34" charset="0"/>
                <a:ea typeface="Calibri" pitchFamily="34" charset="-122"/>
                <a:cs typeface="Calibri" pitchFamily="34" charset="-120"/>
              </a:rPr>
              <a:t>Correlation of key features</a:t>
            </a:r>
            <a:endParaRPr lang="en-US" sz="1150" dirty="0"/>
          </a:p>
        </p:txBody>
      </p:sp>
      <p:sp>
        <p:nvSpPr>
          <p:cNvPr id="12" name="Shape 8"/>
          <p:cNvSpPr/>
          <p:nvPr/>
        </p:nvSpPr>
        <p:spPr>
          <a:xfrm>
            <a:off x="8193024" y="2697480"/>
            <a:ext cx="3566160" cy="2880360"/>
          </a:xfrm>
          <a:prstGeom prst="rect">
            <a:avLst/>
          </a:prstGeom>
          <a:solidFill>
            <a:srgbClr val="F2F5FB"/>
          </a:solidFill>
          <a:ln w="12700">
            <a:solidFill>
              <a:srgbClr val="D4DCEA"/>
            </a:solidFill>
            <a:prstDash val="solid"/>
          </a:ln>
        </p:spPr>
        <p:txBody>
          <a:bodyPr/>
          <a:lstStyle/>
          <a:p>
            <a:endParaRPr lang="en-US"/>
          </a:p>
        </p:txBody>
      </p:sp>
      <p:pic>
        <p:nvPicPr>
          <p:cNvPr id="13" name="Image 2" descr="Average Product Price by Item Category"/>
          <p:cNvPicPr>
            <a:picLocks noChangeAspect="1"/>
          </p:cNvPicPr>
          <p:nvPr/>
        </p:nvPicPr>
        <p:blipFill>
          <a:blip r:embed="rId5"/>
          <a:stretch>
            <a:fillRect/>
          </a:stretch>
        </p:blipFill>
        <p:spPr>
          <a:xfrm>
            <a:off x="8302752" y="2898610"/>
            <a:ext cx="3346704" cy="2240356"/>
          </a:xfrm>
          <a:prstGeom prst="rect">
            <a:avLst/>
          </a:prstGeom>
        </p:spPr>
      </p:pic>
      <p:sp>
        <p:nvSpPr>
          <p:cNvPr id="14" name="Text 9"/>
          <p:cNvSpPr/>
          <p:nvPr/>
        </p:nvSpPr>
        <p:spPr>
          <a:xfrm>
            <a:off x="8330184" y="5248656"/>
            <a:ext cx="3291840" cy="274320"/>
          </a:xfrm>
          <a:prstGeom prst="rect">
            <a:avLst/>
          </a:prstGeom>
          <a:noFill/>
          <a:ln/>
        </p:spPr>
        <p:txBody>
          <a:bodyPr wrap="square" lIns="0" tIns="0" rIns="0" bIns="0" rtlCol="0" anchor="ctr"/>
          <a:lstStyle/>
          <a:p>
            <a:pPr marL="0" indent="0" algn="ctr">
              <a:buNone/>
            </a:pPr>
            <a:r>
              <a:rPr lang="en-US" sz="1150" i="1">
                <a:solidFill>
                  <a:srgbClr val="5C6B85"/>
                </a:solidFill>
                <a:latin typeface="Calibri" pitchFamily="34" charset="0"/>
                <a:ea typeface="Calibri" pitchFamily="34" charset="-122"/>
                <a:cs typeface="Calibri" pitchFamily="34" charset="-120"/>
              </a:rPr>
              <a:t>Average Product Price </a:t>
            </a:r>
            <a:r>
              <a:rPr lang="en-US" sz="1150" i="1" dirty="0">
                <a:solidFill>
                  <a:srgbClr val="5C6B85"/>
                </a:solidFill>
                <a:latin typeface="Calibri" pitchFamily="34" charset="0"/>
                <a:ea typeface="Calibri" pitchFamily="34" charset="-122"/>
                <a:cs typeface="Calibri" pitchFamily="34" charset="-120"/>
              </a:rPr>
              <a:t>by </a:t>
            </a:r>
            <a:r>
              <a:rPr lang="en-US" sz="1150" i="1">
                <a:solidFill>
                  <a:srgbClr val="5C6B85"/>
                </a:solidFill>
                <a:latin typeface="Calibri" pitchFamily="34" charset="0"/>
                <a:ea typeface="Calibri" pitchFamily="34" charset="-122"/>
                <a:cs typeface="Calibri" pitchFamily="34" charset="-120"/>
              </a:rPr>
              <a:t>Item Category</a:t>
            </a:r>
            <a:endParaRPr lang="en-US" sz="1150" dirty="0"/>
          </a:p>
        </p:txBody>
      </p:sp>
      <p:sp>
        <p:nvSpPr>
          <p:cNvPr id="15" name="Text 10"/>
          <p:cNvSpPr/>
          <p:nvPr/>
        </p:nvSpPr>
        <p:spPr>
          <a:xfrm>
            <a:off x="548640" y="5742432"/>
            <a:ext cx="5486400" cy="256032"/>
          </a:xfrm>
          <a:prstGeom prst="rect">
            <a:avLst/>
          </a:prstGeom>
          <a:noFill/>
          <a:ln/>
        </p:spPr>
        <p:txBody>
          <a:bodyPr wrap="square" lIns="0" tIns="0" rIns="0" bIns="0" rtlCol="0" anchor="ctr"/>
          <a:lstStyle/>
          <a:p>
            <a:pPr marL="0" indent="0">
              <a:buNone/>
            </a:pPr>
            <a:r>
              <a:rPr lang="en-US" sz="950" i="1" dirty="0">
                <a:solidFill>
                  <a:srgbClr val="5C6B85"/>
                </a:solidFill>
                <a:latin typeface="Calibri" pitchFamily="34" charset="0"/>
                <a:ea typeface="Calibri" pitchFamily="34" charset="-122"/>
                <a:cs typeface="Calibri" pitchFamily="34" charset="-120"/>
              </a:rPr>
              <a:t>Illustrative EDA visuals.</a:t>
            </a:r>
            <a:endParaRPr lang="en-US" sz="950" dirty="0"/>
          </a:p>
        </p:txBody>
      </p:sp>
      <p:sp>
        <p:nvSpPr>
          <p:cNvPr id="16" name="Text 11"/>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17" name="Text 12"/>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DATA PREPARATION</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Getting the data model-ready</a:t>
            </a:r>
            <a:endParaRPr lang="en-US" sz="3000" dirty="0"/>
          </a:p>
        </p:txBody>
      </p:sp>
      <p:sp>
        <p:nvSpPr>
          <p:cNvPr id="4" name="Shape 2"/>
          <p:cNvSpPr/>
          <p:nvPr/>
        </p:nvSpPr>
        <p:spPr>
          <a:xfrm>
            <a:off x="548640" y="1783080"/>
            <a:ext cx="5852160" cy="416052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5852160" cy="91440"/>
          </a:xfrm>
          <a:prstGeom prst="rect">
            <a:avLst/>
          </a:prstGeom>
          <a:solidFill>
            <a:srgbClr val="1F52D6"/>
          </a:solidFill>
          <a:ln/>
        </p:spPr>
        <p:txBody>
          <a:bodyPr/>
          <a:lstStyle/>
          <a:p>
            <a:endParaRPr lang="en-US"/>
          </a:p>
        </p:txBody>
      </p:sp>
      <p:sp>
        <p:nvSpPr>
          <p:cNvPr id="6" name="Text 4"/>
          <p:cNvSpPr/>
          <p:nvPr/>
        </p:nvSpPr>
        <p:spPr>
          <a:xfrm>
            <a:off x="914400" y="2057400"/>
            <a:ext cx="5120640" cy="274320"/>
          </a:xfrm>
          <a:prstGeom prst="rect">
            <a:avLst/>
          </a:prstGeom>
          <a:noFill/>
          <a:ln/>
        </p:spPr>
        <p:txBody>
          <a:bodyPr wrap="square" lIns="0" tIns="0" rIns="0" bIns="0" rtlCol="0" anchor="ctr"/>
          <a:lstStyle/>
          <a:p>
            <a:pPr marL="0" indent="0">
              <a:buNone/>
            </a:pPr>
            <a:r>
              <a:rPr lang="en-US" sz="1200" b="1" kern="0" spc="200" dirty="0">
                <a:solidFill>
                  <a:srgbClr val="1F52D6"/>
                </a:solidFill>
                <a:latin typeface="Calibri" pitchFamily="34" charset="0"/>
                <a:ea typeface="Calibri" pitchFamily="34" charset="-122"/>
                <a:cs typeface="Calibri" pitchFamily="34" charset="-120"/>
              </a:rPr>
              <a:t>PREPARATION STEPS</a:t>
            </a:r>
            <a:endParaRPr lang="en-US" sz="1200" dirty="0"/>
          </a:p>
        </p:txBody>
      </p:sp>
      <p:sp>
        <p:nvSpPr>
          <p:cNvPr id="7" name="Shape 5"/>
          <p:cNvSpPr/>
          <p:nvPr/>
        </p:nvSpPr>
        <p:spPr>
          <a:xfrm>
            <a:off x="914400" y="2532888"/>
            <a:ext cx="384048" cy="384048"/>
          </a:xfrm>
          <a:prstGeom prst="ellipse">
            <a:avLst/>
          </a:prstGeom>
          <a:solidFill>
            <a:srgbClr val="1F52D6"/>
          </a:solidFill>
          <a:ln/>
        </p:spPr>
        <p:txBody>
          <a:bodyPr/>
          <a:lstStyle/>
          <a:p>
            <a:endParaRPr lang="en-US"/>
          </a:p>
        </p:txBody>
      </p:sp>
      <p:sp>
        <p:nvSpPr>
          <p:cNvPr id="8" name="Text 6"/>
          <p:cNvSpPr/>
          <p:nvPr/>
        </p:nvSpPr>
        <p:spPr>
          <a:xfrm>
            <a:off x="914400" y="25328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463040" y="2478024"/>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Removed missing values</a:t>
            </a:r>
            <a:endParaRPr lang="en-US" sz="1450" dirty="0"/>
          </a:p>
        </p:txBody>
      </p:sp>
      <p:sp>
        <p:nvSpPr>
          <p:cNvPr id="10" name="Shape 8"/>
          <p:cNvSpPr/>
          <p:nvPr/>
        </p:nvSpPr>
        <p:spPr>
          <a:xfrm>
            <a:off x="914400" y="3191256"/>
            <a:ext cx="384048" cy="384048"/>
          </a:xfrm>
          <a:prstGeom prst="ellipse">
            <a:avLst/>
          </a:prstGeom>
          <a:solidFill>
            <a:srgbClr val="1F52D6"/>
          </a:solidFill>
          <a:ln/>
        </p:spPr>
        <p:txBody>
          <a:bodyPr/>
          <a:lstStyle/>
          <a:p>
            <a:endParaRPr lang="en-US"/>
          </a:p>
        </p:txBody>
      </p:sp>
      <p:sp>
        <p:nvSpPr>
          <p:cNvPr id="11" name="Text 9"/>
          <p:cNvSpPr/>
          <p:nvPr/>
        </p:nvSpPr>
        <p:spPr>
          <a:xfrm>
            <a:off x="914400" y="31912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463040" y="3136392"/>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Standardized variables</a:t>
            </a:r>
            <a:endParaRPr lang="en-US" sz="1450" dirty="0"/>
          </a:p>
        </p:txBody>
      </p:sp>
      <p:sp>
        <p:nvSpPr>
          <p:cNvPr id="13" name="Shape 11"/>
          <p:cNvSpPr/>
          <p:nvPr/>
        </p:nvSpPr>
        <p:spPr>
          <a:xfrm>
            <a:off x="914400" y="3849624"/>
            <a:ext cx="384048" cy="384048"/>
          </a:xfrm>
          <a:prstGeom prst="ellipse">
            <a:avLst/>
          </a:prstGeom>
          <a:solidFill>
            <a:srgbClr val="1F52D6"/>
          </a:solidFill>
          <a:ln/>
        </p:spPr>
        <p:txBody>
          <a:bodyPr/>
          <a:lstStyle/>
          <a:p>
            <a:endParaRPr lang="en-US"/>
          </a:p>
        </p:txBody>
      </p:sp>
      <p:sp>
        <p:nvSpPr>
          <p:cNvPr id="14" name="Text 12"/>
          <p:cNvSpPr/>
          <p:nvPr/>
        </p:nvSpPr>
        <p:spPr>
          <a:xfrm>
            <a:off x="914400" y="3849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463040" y="3794760"/>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Engineered new features</a:t>
            </a:r>
            <a:endParaRPr lang="en-US" sz="1450" dirty="0"/>
          </a:p>
        </p:txBody>
      </p:sp>
      <p:sp>
        <p:nvSpPr>
          <p:cNvPr id="16" name="Shape 14"/>
          <p:cNvSpPr/>
          <p:nvPr/>
        </p:nvSpPr>
        <p:spPr>
          <a:xfrm>
            <a:off x="914400" y="4507992"/>
            <a:ext cx="384048" cy="384048"/>
          </a:xfrm>
          <a:prstGeom prst="ellipse">
            <a:avLst/>
          </a:prstGeom>
          <a:solidFill>
            <a:srgbClr val="1F52D6"/>
          </a:solidFill>
          <a:ln/>
        </p:spPr>
        <p:txBody>
          <a:bodyPr/>
          <a:lstStyle/>
          <a:p>
            <a:endParaRPr lang="en-US"/>
          </a:p>
        </p:txBody>
      </p:sp>
      <p:sp>
        <p:nvSpPr>
          <p:cNvPr id="17" name="Text 15"/>
          <p:cNvSpPr/>
          <p:nvPr/>
        </p:nvSpPr>
        <p:spPr>
          <a:xfrm>
            <a:off x="914400" y="45079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463040" y="4453128"/>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Split train / test (80 / 20)</a:t>
            </a:r>
            <a:endParaRPr lang="en-US" sz="1450" dirty="0"/>
          </a:p>
        </p:txBody>
      </p:sp>
      <p:sp>
        <p:nvSpPr>
          <p:cNvPr id="19" name="Shape 17"/>
          <p:cNvSpPr/>
          <p:nvPr/>
        </p:nvSpPr>
        <p:spPr>
          <a:xfrm>
            <a:off x="914400" y="5166360"/>
            <a:ext cx="384048" cy="384048"/>
          </a:xfrm>
          <a:prstGeom prst="ellipse">
            <a:avLst/>
          </a:prstGeom>
          <a:solidFill>
            <a:srgbClr val="1F52D6"/>
          </a:solidFill>
          <a:ln/>
        </p:spPr>
        <p:txBody>
          <a:bodyPr/>
          <a:lstStyle/>
          <a:p>
            <a:endParaRPr lang="en-US"/>
          </a:p>
        </p:txBody>
      </p:sp>
      <p:sp>
        <p:nvSpPr>
          <p:cNvPr id="20" name="Text 18"/>
          <p:cNvSpPr/>
          <p:nvPr/>
        </p:nvSpPr>
        <p:spPr>
          <a:xfrm>
            <a:off x="914400" y="5166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463040" y="5111496"/>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Target variable: Customer Churn</a:t>
            </a:r>
            <a:endParaRPr lang="en-US" sz="1450" dirty="0"/>
          </a:p>
        </p:txBody>
      </p:sp>
      <p:sp>
        <p:nvSpPr>
          <p:cNvPr id="22" name="Shape 20"/>
          <p:cNvSpPr/>
          <p:nvPr/>
        </p:nvSpPr>
        <p:spPr>
          <a:xfrm>
            <a:off x="6675120" y="1783080"/>
            <a:ext cx="4965192" cy="416052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3" name="Shape 21"/>
          <p:cNvSpPr/>
          <p:nvPr/>
        </p:nvSpPr>
        <p:spPr>
          <a:xfrm>
            <a:off x="6675120" y="1783080"/>
            <a:ext cx="4965192" cy="91440"/>
          </a:xfrm>
          <a:prstGeom prst="rect">
            <a:avLst/>
          </a:prstGeom>
          <a:solidFill>
            <a:srgbClr val="F5A623"/>
          </a:solidFill>
          <a:ln/>
        </p:spPr>
        <p:txBody>
          <a:bodyPr/>
          <a:lstStyle/>
          <a:p>
            <a:endParaRPr lang="en-US"/>
          </a:p>
        </p:txBody>
      </p:sp>
      <p:sp>
        <p:nvSpPr>
          <p:cNvPr id="24" name="Text 22"/>
          <p:cNvSpPr/>
          <p:nvPr/>
        </p:nvSpPr>
        <p:spPr>
          <a:xfrm>
            <a:off x="7040880" y="2057400"/>
            <a:ext cx="4233672" cy="274320"/>
          </a:xfrm>
          <a:prstGeom prst="rect">
            <a:avLst/>
          </a:prstGeom>
          <a:noFill/>
          <a:ln/>
        </p:spPr>
        <p:txBody>
          <a:bodyPr wrap="square" lIns="0" tIns="0" rIns="0" bIns="0" rtlCol="0" anchor="ctr"/>
          <a:lstStyle/>
          <a:p>
            <a:pPr marL="0" indent="0">
              <a:buNone/>
            </a:pPr>
            <a:r>
              <a:rPr lang="en-US" sz="1200" b="1" kern="0" spc="200" dirty="0">
                <a:solidFill>
                  <a:srgbClr val="1F52D6"/>
                </a:solidFill>
                <a:latin typeface="Calibri" pitchFamily="34" charset="0"/>
                <a:ea typeface="Calibri" pitchFamily="34" charset="-122"/>
                <a:cs typeface="Calibri" pitchFamily="34" charset="-120"/>
              </a:rPr>
              <a:t>CLASSIFICATION DATASET</a:t>
            </a:r>
            <a:endParaRPr lang="en-US" sz="1200" dirty="0"/>
          </a:p>
        </p:txBody>
      </p:sp>
      <p:sp>
        <p:nvSpPr>
          <p:cNvPr id="25" name="Text 23"/>
          <p:cNvSpPr/>
          <p:nvPr/>
        </p:nvSpPr>
        <p:spPr>
          <a:xfrm>
            <a:off x="7040880" y="2441448"/>
            <a:ext cx="4233672" cy="777240"/>
          </a:xfrm>
          <a:prstGeom prst="rect">
            <a:avLst/>
          </a:prstGeom>
          <a:noFill/>
          <a:ln/>
        </p:spPr>
        <p:txBody>
          <a:bodyPr wrap="square" lIns="0" tIns="0" rIns="0" bIns="0" rtlCol="0" anchor="ctr"/>
          <a:lstStyle/>
          <a:p>
            <a:pPr marL="0" indent="0" algn="l">
              <a:buNone/>
            </a:pPr>
            <a:r>
              <a:rPr lang="en-US" sz="4000" b="1" dirty="0">
                <a:solidFill>
                  <a:srgbClr val="16233B"/>
                </a:solidFill>
                <a:latin typeface="Georgia" pitchFamily="34" charset="0"/>
                <a:ea typeface="Georgia" pitchFamily="34" charset="-122"/>
                <a:cs typeface="Georgia" pitchFamily="34" charset="-120"/>
              </a:rPr>
              <a:t>2,130 </a:t>
            </a:r>
            <a:r>
              <a:rPr lang="en-US" sz="1800" dirty="0">
                <a:solidFill>
                  <a:srgbClr val="5C6B85"/>
                </a:solidFill>
                <a:latin typeface="Georgia" pitchFamily="34" charset="0"/>
                <a:ea typeface="Georgia" pitchFamily="34" charset="-122"/>
                <a:cs typeface="Georgia" pitchFamily="34" charset="-120"/>
              </a:rPr>
              <a:t>customers</a:t>
            </a:r>
            <a:endParaRPr lang="en-US" sz="4000" dirty="0"/>
          </a:p>
        </p:txBody>
      </p:sp>
      <p:sp>
        <p:nvSpPr>
          <p:cNvPr id="26" name="Shape 24"/>
          <p:cNvSpPr/>
          <p:nvPr/>
        </p:nvSpPr>
        <p:spPr>
          <a:xfrm>
            <a:off x="7040880" y="3566160"/>
            <a:ext cx="2742942" cy="548640"/>
          </a:xfrm>
          <a:prstGeom prst="rect">
            <a:avLst/>
          </a:prstGeom>
          <a:solidFill>
            <a:srgbClr val="1F52D6"/>
          </a:solidFill>
          <a:ln/>
        </p:spPr>
        <p:txBody>
          <a:bodyPr/>
          <a:lstStyle/>
          <a:p>
            <a:endParaRPr lang="en-US"/>
          </a:p>
        </p:txBody>
      </p:sp>
      <p:sp>
        <p:nvSpPr>
          <p:cNvPr id="27" name="Shape 25"/>
          <p:cNvSpPr/>
          <p:nvPr/>
        </p:nvSpPr>
        <p:spPr>
          <a:xfrm>
            <a:off x="9783822" y="3566160"/>
            <a:ext cx="1490730" cy="548640"/>
          </a:xfrm>
          <a:prstGeom prst="rect">
            <a:avLst/>
          </a:prstGeom>
          <a:solidFill>
            <a:srgbClr val="F5A623"/>
          </a:solidFill>
          <a:ln/>
        </p:spPr>
        <p:txBody>
          <a:bodyPr/>
          <a:lstStyle/>
          <a:p>
            <a:endParaRPr lang="en-US"/>
          </a:p>
        </p:txBody>
      </p:sp>
      <p:sp>
        <p:nvSpPr>
          <p:cNvPr id="28" name="Shape 26"/>
          <p:cNvSpPr/>
          <p:nvPr/>
        </p:nvSpPr>
        <p:spPr>
          <a:xfrm>
            <a:off x="7040880" y="4480560"/>
            <a:ext cx="256032" cy="256032"/>
          </a:xfrm>
          <a:prstGeom prst="rect">
            <a:avLst/>
          </a:prstGeom>
          <a:solidFill>
            <a:srgbClr val="1F52D6"/>
          </a:solidFill>
          <a:ln/>
        </p:spPr>
        <p:txBody>
          <a:bodyPr/>
          <a:lstStyle/>
          <a:p>
            <a:endParaRPr lang="en-US"/>
          </a:p>
        </p:txBody>
      </p:sp>
      <p:sp>
        <p:nvSpPr>
          <p:cNvPr id="29" name="Text 27"/>
          <p:cNvSpPr/>
          <p:nvPr/>
        </p:nvSpPr>
        <p:spPr>
          <a:xfrm>
            <a:off x="7406640" y="4434840"/>
            <a:ext cx="3867912" cy="365760"/>
          </a:xfrm>
          <a:prstGeom prst="rect">
            <a:avLst/>
          </a:prstGeom>
          <a:noFill/>
          <a:ln/>
        </p:spPr>
        <p:txBody>
          <a:bodyPr wrap="square" lIns="0" tIns="0" rIns="0" bIns="0" rtlCol="0" anchor="ctr"/>
          <a:lstStyle/>
          <a:p>
            <a:pPr marL="0" indent="0" algn="l">
              <a:buNone/>
            </a:pPr>
            <a:r>
              <a:rPr lang="en-US" sz="1800" b="1" dirty="0">
                <a:solidFill>
                  <a:srgbClr val="16233B"/>
                </a:solidFill>
                <a:latin typeface="Georgia" pitchFamily="34" charset="0"/>
                <a:ea typeface="Georgia" pitchFamily="34" charset="-122"/>
                <a:cs typeface="Georgia" pitchFamily="34" charset="-120"/>
              </a:rPr>
              <a:t>1,380  </a:t>
            </a:r>
            <a:r>
              <a:rPr lang="en-US" sz="1300" dirty="0">
                <a:solidFill>
                  <a:srgbClr val="5C6B85"/>
                </a:solidFill>
                <a:latin typeface="Calibri" pitchFamily="34" charset="0"/>
                <a:ea typeface="Calibri" pitchFamily="34" charset="-122"/>
                <a:cs typeface="Calibri" pitchFamily="34" charset="-120"/>
              </a:rPr>
              <a:t>retained  (65%)</a:t>
            </a:r>
            <a:endParaRPr lang="en-US" sz="1800" dirty="0"/>
          </a:p>
        </p:txBody>
      </p:sp>
      <p:sp>
        <p:nvSpPr>
          <p:cNvPr id="30" name="Shape 28"/>
          <p:cNvSpPr/>
          <p:nvPr/>
        </p:nvSpPr>
        <p:spPr>
          <a:xfrm>
            <a:off x="7040880" y="5029200"/>
            <a:ext cx="256032" cy="256032"/>
          </a:xfrm>
          <a:prstGeom prst="rect">
            <a:avLst/>
          </a:prstGeom>
          <a:solidFill>
            <a:srgbClr val="F5A623"/>
          </a:solidFill>
          <a:ln/>
        </p:spPr>
        <p:txBody>
          <a:bodyPr/>
          <a:lstStyle/>
          <a:p>
            <a:endParaRPr lang="en-US"/>
          </a:p>
        </p:txBody>
      </p:sp>
      <p:sp>
        <p:nvSpPr>
          <p:cNvPr id="31" name="Text 29"/>
          <p:cNvSpPr/>
          <p:nvPr/>
        </p:nvSpPr>
        <p:spPr>
          <a:xfrm>
            <a:off x="7406640" y="4983480"/>
            <a:ext cx="3867912" cy="365760"/>
          </a:xfrm>
          <a:prstGeom prst="rect">
            <a:avLst/>
          </a:prstGeom>
          <a:noFill/>
          <a:ln/>
        </p:spPr>
        <p:txBody>
          <a:bodyPr wrap="square" lIns="0" tIns="0" rIns="0" bIns="0" rtlCol="0" anchor="ctr"/>
          <a:lstStyle/>
          <a:p>
            <a:pPr marL="0" indent="0" algn="l">
              <a:buNone/>
            </a:pPr>
            <a:r>
              <a:rPr lang="en-US" sz="1800" b="1" dirty="0">
                <a:solidFill>
                  <a:srgbClr val="16233B"/>
                </a:solidFill>
                <a:latin typeface="Georgia" pitchFamily="34" charset="0"/>
                <a:ea typeface="Georgia" pitchFamily="34" charset="-122"/>
                <a:cs typeface="Georgia" pitchFamily="34" charset="-120"/>
              </a:rPr>
              <a:t>750  </a:t>
            </a:r>
            <a:r>
              <a:rPr lang="en-US" sz="1300" dirty="0">
                <a:solidFill>
                  <a:srgbClr val="5C6B85"/>
                </a:solidFill>
                <a:latin typeface="Calibri" pitchFamily="34" charset="0"/>
                <a:ea typeface="Calibri" pitchFamily="34" charset="-122"/>
                <a:cs typeface="Calibri" pitchFamily="34" charset="-120"/>
              </a:rPr>
              <a:t>churned  (35%)</a:t>
            </a:r>
            <a:endParaRPr lang="en-US" sz="1800" dirty="0"/>
          </a:p>
        </p:txBody>
      </p:sp>
      <p:sp>
        <p:nvSpPr>
          <p:cNvPr id="32" name="Text 30"/>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33" name="Text 31"/>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MACHINE LEARNING MODELS</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Four models, compared head-to-head</a:t>
            </a:r>
            <a:endParaRPr lang="en-US" sz="3000" dirty="0"/>
          </a:p>
        </p:txBody>
      </p:sp>
      <p:sp>
        <p:nvSpPr>
          <p:cNvPr id="4" name="Shape 2"/>
          <p:cNvSpPr/>
          <p:nvPr/>
        </p:nvSpPr>
        <p:spPr>
          <a:xfrm>
            <a:off x="548640" y="1828800"/>
            <a:ext cx="2567178" cy="28803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828800"/>
            <a:ext cx="2567178" cy="91440"/>
          </a:xfrm>
          <a:prstGeom prst="rect">
            <a:avLst/>
          </a:prstGeom>
          <a:solidFill>
            <a:srgbClr val="1F52D6"/>
          </a:solidFill>
          <a:ln/>
        </p:spPr>
        <p:txBody>
          <a:bodyPr/>
          <a:lstStyle/>
          <a:p>
            <a:endParaRPr lang="en-US"/>
          </a:p>
        </p:txBody>
      </p:sp>
      <p:sp>
        <p:nvSpPr>
          <p:cNvPr id="6" name="Shape 4"/>
          <p:cNvSpPr/>
          <p:nvPr/>
        </p:nvSpPr>
        <p:spPr>
          <a:xfrm>
            <a:off x="1420749" y="2240280"/>
            <a:ext cx="822960" cy="822960"/>
          </a:xfrm>
          <a:prstGeom prst="ellipse">
            <a:avLst/>
          </a:prstGeom>
          <a:solidFill>
            <a:srgbClr val="1F52D6"/>
          </a:solidFill>
          <a:ln/>
        </p:spPr>
        <p:txBody>
          <a:bodyPr/>
          <a:lstStyle/>
          <a:p>
            <a:endParaRPr lang="en-US"/>
          </a:p>
        </p:txBody>
      </p:sp>
      <p:sp>
        <p:nvSpPr>
          <p:cNvPr id="7" name="Text 5"/>
          <p:cNvSpPr/>
          <p:nvPr/>
        </p:nvSpPr>
        <p:spPr>
          <a:xfrm>
            <a:off x="1420749" y="22402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658368" y="3200400"/>
            <a:ext cx="2347722" cy="777240"/>
          </a:xfrm>
          <a:prstGeom prst="rect">
            <a:avLst/>
          </a:prstGeom>
          <a:noFill/>
          <a:ln/>
        </p:spPr>
        <p:txBody>
          <a:bodyPr wrap="square" lIns="0" tIns="0" rIns="0" bIns="0" rtlCol="0" anchor="t"/>
          <a:lstStyle/>
          <a:p>
            <a:pPr marL="0" indent="0" algn="ctr">
              <a:lnSpc>
                <a:spcPct val="100000"/>
              </a:lnSpc>
              <a:buNone/>
            </a:pPr>
            <a:r>
              <a:rPr lang="en-US" sz="1600" b="1" dirty="0">
                <a:solidFill>
                  <a:srgbClr val="16233B"/>
                </a:solidFill>
                <a:latin typeface="Georgia" pitchFamily="34" charset="0"/>
                <a:ea typeface="Georgia" pitchFamily="34" charset="-122"/>
                <a:cs typeface="Georgia" pitchFamily="34" charset="-120"/>
              </a:rPr>
              <a:t>Dummy Classifier</a:t>
            </a:r>
            <a:endParaRPr lang="en-US" sz="1600" dirty="0"/>
          </a:p>
        </p:txBody>
      </p:sp>
      <p:sp>
        <p:nvSpPr>
          <p:cNvPr id="9" name="Text 7"/>
          <p:cNvSpPr/>
          <p:nvPr/>
        </p:nvSpPr>
        <p:spPr>
          <a:xfrm>
            <a:off x="685800" y="3977640"/>
            <a:ext cx="2292858" cy="594360"/>
          </a:xfrm>
          <a:prstGeom prst="rect">
            <a:avLst/>
          </a:prstGeom>
          <a:noFill/>
          <a:ln/>
        </p:spPr>
        <p:txBody>
          <a:bodyPr wrap="square" lIns="0" tIns="0" rIns="0" bIns="0" rtlCol="0" anchor="t"/>
          <a:lstStyle/>
          <a:p>
            <a:pPr marL="0" indent="0" algn="ctr">
              <a:lnSpc>
                <a:spcPct val="108000"/>
              </a:lnSpc>
              <a:buNone/>
            </a:pPr>
            <a:r>
              <a:rPr lang="en-US" sz="1200" dirty="0">
                <a:solidFill>
                  <a:srgbClr val="5C6B85"/>
                </a:solidFill>
                <a:latin typeface="Calibri" pitchFamily="34" charset="0"/>
                <a:ea typeface="Calibri" pitchFamily="34" charset="-122"/>
                <a:cs typeface="Calibri" pitchFamily="34" charset="-120"/>
              </a:rPr>
              <a:t>Baseline for comparison</a:t>
            </a:r>
            <a:endParaRPr lang="en-US" sz="1200" dirty="0"/>
          </a:p>
        </p:txBody>
      </p:sp>
      <p:sp>
        <p:nvSpPr>
          <p:cNvPr id="10" name="Shape 8"/>
          <p:cNvSpPr/>
          <p:nvPr/>
        </p:nvSpPr>
        <p:spPr>
          <a:xfrm>
            <a:off x="3390138" y="1828800"/>
            <a:ext cx="2567178" cy="28803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1" name="Shape 9"/>
          <p:cNvSpPr/>
          <p:nvPr/>
        </p:nvSpPr>
        <p:spPr>
          <a:xfrm>
            <a:off x="3390138" y="1828800"/>
            <a:ext cx="2567178" cy="91440"/>
          </a:xfrm>
          <a:prstGeom prst="rect">
            <a:avLst/>
          </a:prstGeom>
          <a:solidFill>
            <a:srgbClr val="1F52D6"/>
          </a:solidFill>
          <a:ln/>
        </p:spPr>
        <p:txBody>
          <a:bodyPr/>
          <a:lstStyle/>
          <a:p>
            <a:endParaRPr lang="en-US"/>
          </a:p>
        </p:txBody>
      </p:sp>
      <p:sp>
        <p:nvSpPr>
          <p:cNvPr id="12" name="Shape 10"/>
          <p:cNvSpPr/>
          <p:nvPr/>
        </p:nvSpPr>
        <p:spPr>
          <a:xfrm>
            <a:off x="4262247" y="2240280"/>
            <a:ext cx="822960" cy="822960"/>
          </a:xfrm>
          <a:prstGeom prst="ellipse">
            <a:avLst/>
          </a:prstGeom>
          <a:solidFill>
            <a:srgbClr val="1F52D6"/>
          </a:solidFill>
          <a:ln/>
        </p:spPr>
        <p:txBody>
          <a:bodyPr/>
          <a:lstStyle/>
          <a:p>
            <a:endParaRPr lang="en-US"/>
          </a:p>
        </p:txBody>
      </p:sp>
      <p:sp>
        <p:nvSpPr>
          <p:cNvPr id="13" name="Text 11"/>
          <p:cNvSpPr/>
          <p:nvPr/>
        </p:nvSpPr>
        <p:spPr>
          <a:xfrm>
            <a:off x="4262247" y="22402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02</a:t>
            </a:r>
            <a:endParaRPr lang="en-US" sz="2200" dirty="0"/>
          </a:p>
        </p:txBody>
      </p:sp>
      <p:sp>
        <p:nvSpPr>
          <p:cNvPr id="14" name="Text 12"/>
          <p:cNvSpPr/>
          <p:nvPr/>
        </p:nvSpPr>
        <p:spPr>
          <a:xfrm>
            <a:off x="3499866" y="3200400"/>
            <a:ext cx="2347722" cy="777240"/>
          </a:xfrm>
          <a:prstGeom prst="rect">
            <a:avLst/>
          </a:prstGeom>
          <a:noFill/>
          <a:ln/>
        </p:spPr>
        <p:txBody>
          <a:bodyPr wrap="square" lIns="0" tIns="0" rIns="0" bIns="0" rtlCol="0" anchor="t"/>
          <a:lstStyle/>
          <a:p>
            <a:pPr marL="0" indent="0" algn="ctr">
              <a:lnSpc>
                <a:spcPct val="100000"/>
              </a:lnSpc>
              <a:buNone/>
            </a:pPr>
            <a:r>
              <a:rPr lang="en-US" sz="1600" b="1" dirty="0">
                <a:solidFill>
                  <a:srgbClr val="16233B"/>
                </a:solidFill>
                <a:latin typeface="Georgia" pitchFamily="34" charset="0"/>
                <a:ea typeface="Georgia" pitchFamily="34" charset="-122"/>
                <a:cs typeface="Georgia" pitchFamily="34" charset="-120"/>
              </a:rPr>
              <a:t>Logistic Regression</a:t>
            </a:r>
            <a:endParaRPr lang="en-US" sz="1600" dirty="0"/>
          </a:p>
        </p:txBody>
      </p:sp>
      <p:sp>
        <p:nvSpPr>
          <p:cNvPr id="15" name="Text 13"/>
          <p:cNvSpPr/>
          <p:nvPr/>
        </p:nvSpPr>
        <p:spPr>
          <a:xfrm>
            <a:off x="3527298" y="3977640"/>
            <a:ext cx="2292858" cy="594360"/>
          </a:xfrm>
          <a:prstGeom prst="rect">
            <a:avLst/>
          </a:prstGeom>
          <a:noFill/>
          <a:ln/>
        </p:spPr>
        <p:txBody>
          <a:bodyPr wrap="square" lIns="0" tIns="0" rIns="0" bIns="0" rtlCol="0" anchor="t"/>
          <a:lstStyle/>
          <a:p>
            <a:pPr marL="0" indent="0" algn="ctr">
              <a:lnSpc>
                <a:spcPct val="108000"/>
              </a:lnSpc>
              <a:buNone/>
            </a:pPr>
            <a:r>
              <a:rPr lang="en-US" sz="1200" dirty="0">
                <a:solidFill>
                  <a:srgbClr val="5C6B85"/>
                </a:solidFill>
                <a:latin typeface="Calibri" pitchFamily="34" charset="0"/>
                <a:ea typeface="Calibri" pitchFamily="34" charset="-122"/>
                <a:cs typeface="Calibri" pitchFamily="34" charset="-120"/>
              </a:rPr>
              <a:t>Interpretable linear model</a:t>
            </a:r>
            <a:endParaRPr lang="en-US" sz="1200" dirty="0"/>
          </a:p>
        </p:txBody>
      </p:sp>
      <p:sp>
        <p:nvSpPr>
          <p:cNvPr id="16" name="Shape 14"/>
          <p:cNvSpPr/>
          <p:nvPr/>
        </p:nvSpPr>
        <p:spPr>
          <a:xfrm>
            <a:off x="6231636" y="1828800"/>
            <a:ext cx="2567178" cy="28803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7" name="Shape 15"/>
          <p:cNvSpPr/>
          <p:nvPr/>
        </p:nvSpPr>
        <p:spPr>
          <a:xfrm>
            <a:off x="6231636" y="1828800"/>
            <a:ext cx="2567178" cy="91440"/>
          </a:xfrm>
          <a:prstGeom prst="rect">
            <a:avLst/>
          </a:prstGeom>
          <a:solidFill>
            <a:srgbClr val="1F52D6"/>
          </a:solidFill>
          <a:ln/>
        </p:spPr>
        <p:txBody>
          <a:bodyPr/>
          <a:lstStyle/>
          <a:p>
            <a:endParaRPr lang="en-US"/>
          </a:p>
        </p:txBody>
      </p:sp>
      <p:sp>
        <p:nvSpPr>
          <p:cNvPr id="18" name="Shape 16"/>
          <p:cNvSpPr/>
          <p:nvPr/>
        </p:nvSpPr>
        <p:spPr>
          <a:xfrm>
            <a:off x="7103745" y="2240280"/>
            <a:ext cx="822960" cy="822960"/>
          </a:xfrm>
          <a:prstGeom prst="ellipse">
            <a:avLst/>
          </a:prstGeom>
          <a:solidFill>
            <a:srgbClr val="1F52D6"/>
          </a:solidFill>
          <a:ln/>
        </p:spPr>
        <p:txBody>
          <a:bodyPr/>
          <a:lstStyle/>
          <a:p>
            <a:endParaRPr lang="en-US"/>
          </a:p>
        </p:txBody>
      </p:sp>
      <p:sp>
        <p:nvSpPr>
          <p:cNvPr id="19" name="Text 17"/>
          <p:cNvSpPr/>
          <p:nvPr/>
        </p:nvSpPr>
        <p:spPr>
          <a:xfrm>
            <a:off x="7103745" y="22402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03</a:t>
            </a:r>
            <a:endParaRPr lang="en-US" sz="2200" dirty="0"/>
          </a:p>
        </p:txBody>
      </p:sp>
      <p:sp>
        <p:nvSpPr>
          <p:cNvPr id="20" name="Text 18"/>
          <p:cNvSpPr/>
          <p:nvPr/>
        </p:nvSpPr>
        <p:spPr>
          <a:xfrm>
            <a:off x="6341364" y="3200400"/>
            <a:ext cx="2347722" cy="777240"/>
          </a:xfrm>
          <a:prstGeom prst="rect">
            <a:avLst/>
          </a:prstGeom>
          <a:noFill/>
          <a:ln/>
        </p:spPr>
        <p:txBody>
          <a:bodyPr wrap="square" lIns="0" tIns="0" rIns="0" bIns="0" rtlCol="0" anchor="t"/>
          <a:lstStyle/>
          <a:p>
            <a:pPr marL="0" indent="0" algn="ctr">
              <a:lnSpc>
                <a:spcPct val="100000"/>
              </a:lnSpc>
              <a:buNone/>
            </a:pPr>
            <a:r>
              <a:rPr lang="en-US" sz="1600" b="1" dirty="0">
                <a:solidFill>
                  <a:srgbClr val="16233B"/>
                </a:solidFill>
                <a:latin typeface="Georgia" pitchFamily="34" charset="0"/>
                <a:ea typeface="Georgia" pitchFamily="34" charset="-122"/>
                <a:cs typeface="Georgia" pitchFamily="34" charset="-120"/>
              </a:rPr>
              <a:t>Random Forest</a:t>
            </a:r>
            <a:endParaRPr lang="en-US" sz="1600" dirty="0"/>
          </a:p>
        </p:txBody>
      </p:sp>
      <p:sp>
        <p:nvSpPr>
          <p:cNvPr id="21" name="Text 19"/>
          <p:cNvSpPr/>
          <p:nvPr/>
        </p:nvSpPr>
        <p:spPr>
          <a:xfrm>
            <a:off x="6368796" y="3977640"/>
            <a:ext cx="2292858" cy="594360"/>
          </a:xfrm>
          <a:prstGeom prst="rect">
            <a:avLst/>
          </a:prstGeom>
          <a:noFill/>
          <a:ln/>
        </p:spPr>
        <p:txBody>
          <a:bodyPr wrap="square" lIns="0" tIns="0" rIns="0" bIns="0" rtlCol="0" anchor="t"/>
          <a:lstStyle/>
          <a:p>
            <a:pPr marL="0" indent="0" algn="ctr">
              <a:lnSpc>
                <a:spcPct val="108000"/>
              </a:lnSpc>
              <a:buNone/>
            </a:pPr>
            <a:r>
              <a:rPr lang="en-US" sz="1200" dirty="0">
                <a:solidFill>
                  <a:srgbClr val="5C6B85"/>
                </a:solidFill>
                <a:latin typeface="Calibri" pitchFamily="34" charset="0"/>
                <a:ea typeface="Calibri" pitchFamily="34" charset="-122"/>
                <a:cs typeface="Calibri" pitchFamily="34" charset="-120"/>
              </a:rPr>
              <a:t>Ensemble of decision trees</a:t>
            </a:r>
            <a:endParaRPr lang="en-US" sz="1200" dirty="0"/>
          </a:p>
        </p:txBody>
      </p:sp>
      <p:sp>
        <p:nvSpPr>
          <p:cNvPr id="22" name="Shape 20"/>
          <p:cNvSpPr/>
          <p:nvPr/>
        </p:nvSpPr>
        <p:spPr>
          <a:xfrm>
            <a:off x="9073134" y="1828800"/>
            <a:ext cx="2567178" cy="28803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3" name="Shape 21"/>
          <p:cNvSpPr/>
          <p:nvPr/>
        </p:nvSpPr>
        <p:spPr>
          <a:xfrm>
            <a:off x="9073134" y="1828800"/>
            <a:ext cx="2567178" cy="91440"/>
          </a:xfrm>
          <a:prstGeom prst="rect">
            <a:avLst/>
          </a:prstGeom>
          <a:solidFill>
            <a:srgbClr val="1F52D6"/>
          </a:solidFill>
          <a:ln/>
        </p:spPr>
        <p:txBody>
          <a:bodyPr/>
          <a:lstStyle/>
          <a:p>
            <a:endParaRPr lang="en-US"/>
          </a:p>
        </p:txBody>
      </p:sp>
      <p:sp>
        <p:nvSpPr>
          <p:cNvPr id="24" name="Shape 22"/>
          <p:cNvSpPr/>
          <p:nvPr/>
        </p:nvSpPr>
        <p:spPr>
          <a:xfrm>
            <a:off x="9945243" y="2240280"/>
            <a:ext cx="822960" cy="822960"/>
          </a:xfrm>
          <a:prstGeom prst="ellipse">
            <a:avLst/>
          </a:prstGeom>
          <a:solidFill>
            <a:srgbClr val="1F52D6"/>
          </a:solidFill>
          <a:ln/>
        </p:spPr>
        <p:txBody>
          <a:bodyPr/>
          <a:lstStyle/>
          <a:p>
            <a:endParaRPr lang="en-US"/>
          </a:p>
        </p:txBody>
      </p:sp>
      <p:sp>
        <p:nvSpPr>
          <p:cNvPr id="25" name="Text 23"/>
          <p:cNvSpPr/>
          <p:nvPr/>
        </p:nvSpPr>
        <p:spPr>
          <a:xfrm>
            <a:off x="9945243" y="22402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04</a:t>
            </a:r>
            <a:endParaRPr lang="en-US" sz="2200" dirty="0"/>
          </a:p>
        </p:txBody>
      </p:sp>
      <p:sp>
        <p:nvSpPr>
          <p:cNvPr id="26" name="Text 24"/>
          <p:cNvSpPr/>
          <p:nvPr/>
        </p:nvSpPr>
        <p:spPr>
          <a:xfrm>
            <a:off x="9182862" y="3200400"/>
            <a:ext cx="2347722" cy="777240"/>
          </a:xfrm>
          <a:prstGeom prst="rect">
            <a:avLst/>
          </a:prstGeom>
          <a:noFill/>
          <a:ln/>
        </p:spPr>
        <p:txBody>
          <a:bodyPr wrap="square" lIns="0" tIns="0" rIns="0" bIns="0" rtlCol="0" anchor="t"/>
          <a:lstStyle/>
          <a:p>
            <a:pPr marL="0" indent="0" algn="ctr">
              <a:lnSpc>
                <a:spcPct val="100000"/>
              </a:lnSpc>
              <a:buNone/>
            </a:pPr>
            <a:r>
              <a:rPr lang="en-US" sz="1600" b="1" dirty="0">
                <a:solidFill>
                  <a:srgbClr val="16233B"/>
                </a:solidFill>
                <a:latin typeface="Georgia" pitchFamily="34" charset="0"/>
                <a:ea typeface="Georgia" pitchFamily="34" charset="-122"/>
                <a:cs typeface="Georgia" pitchFamily="34" charset="-120"/>
              </a:rPr>
              <a:t>XGBoost</a:t>
            </a:r>
            <a:endParaRPr lang="en-US" sz="1600" dirty="0"/>
          </a:p>
        </p:txBody>
      </p:sp>
      <p:sp>
        <p:nvSpPr>
          <p:cNvPr id="27" name="Text 25"/>
          <p:cNvSpPr/>
          <p:nvPr/>
        </p:nvSpPr>
        <p:spPr>
          <a:xfrm>
            <a:off x="9210294" y="3977640"/>
            <a:ext cx="2292858" cy="594360"/>
          </a:xfrm>
          <a:prstGeom prst="rect">
            <a:avLst/>
          </a:prstGeom>
          <a:noFill/>
          <a:ln/>
        </p:spPr>
        <p:txBody>
          <a:bodyPr wrap="square" lIns="0" tIns="0" rIns="0" bIns="0" rtlCol="0" anchor="t"/>
          <a:lstStyle/>
          <a:p>
            <a:pPr marL="0" indent="0" algn="ctr">
              <a:lnSpc>
                <a:spcPct val="108000"/>
              </a:lnSpc>
              <a:buNone/>
            </a:pPr>
            <a:r>
              <a:rPr lang="en-US" sz="1200" dirty="0">
                <a:solidFill>
                  <a:srgbClr val="5C6B85"/>
                </a:solidFill>
                <a:latin typeface="Calibri" pitchFamily="34" charset="0"/>
                <a:ea typeface="Calibri" pitchFamily="34" charset="-122"/>
                <a:cs typeface="Calibri" pitchFamily="34" charset="-120"/>
              </a:rPr>
              <a:t>Gradient-boosted trees</a:t>
            </a:r>
            <a:endParaRPr lang="en-US" sz="1200" dirty="0"/>
          </a:p>
        </p:txBody>
      </p:sp>
      <p:sp>
        <p:nvSpPr>
          <p:cNvPr id="28" name="Shape 26"/>
          <p:cNvSpPr/>
          <p:nvPr/>
        </p:nvSpPr>
        <p:spPr>
          <a:xfrm>
            <a:off x="548640" y="5074920"/>
            <a:ext cx="82296" cy="914400"/>
          </a:xfrm>
          <a:prstGeom prst="rect">
            <a:avLst/>
          </a:prstGeom>
          <a:solidFill>
            <a:srgbClr val="F5A623"/>
          </a:solidFill>
          <a:ln/>
        </p:spPr>
        <p:txBody>
          <a:bodyPr/>
          <a:lstStyle/>
          <a:p>
            <a:endParaRPr lang="en-US"/>
          </a:p>
        </p:txBody>
      </p:sp>
      <p:sp>
        <p:nvSpPr>
          <p:cNvPr id="29" name="Text 27"/>
          <p:cNvSpPr/>
          <p:nvPr/>
        </p:nvSpPr>
        <p:spPr>
          <a:xfrm>
            <a:off x="868680" y="5074920"/>
            <a:ext cx="10424160" cy="914400"/>
          </a:xfrm>
          <a:prstGeom prst="rect">
            <a:avLst/>
          </a:prstGeom>
          <a:noFill/>
          <a:ln/>
        </p:spPr>
        <p:txBody>
          <a:bodyPr wrap="square" lIns="0" tIns="0" rIns="0" bIns="0" rtlCol="0" anchor="ctr"/>
          <a:lstStyle/>
          <a:p>
            <a:pPr marL="0" indent="0" algn="l">
              <a:lnSpc>
                <a:spcPct val="110000"/>
              </a:lnSpc>
              <a:buNone/>
            </a:pPr>
            <a:r>
              <a:rPr lang="en-US" sz="1800" i="1" dirty="0">
                <a:solidFill>
                  <a:srgbClr val="16233B"/>
                </a:solidFill>
                <a:latin typeface="Georgia" pitchFamily="34" charset="0"/>
                <a:ea typeface="Georgia" pitchFamily="34" charset="-122"/>
                <a:cs typeface="Georgia" pitchFamily="34" charset="-120"/>
              </a:rPr>
              <a:t>“To identify the model that best predicts customer churn while balancing accuracy and interpretability.”</a:t>
            </a:r>
            <a:endParaRPr lang="en-US" sz="1800" dirty="0"/>
          </a:p>
        </p:txBody>
      </p:sp>
      <p:sp>
        <p:nvSpPr>
          <p:cNvPr id="30" name="Text 28"/>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31" name="Text 29"/>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METHODOLOGY</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How the models were built and judged</a:t>
            </a:r>
            <a:endParaRPr lang="en-US" sz="3000" dirty="0"/>
          </a:p>
        </p:txBody>
      </p:sp>
      <p:sp>
        <p:nvSpPr>
          <p:cNvPr id="4" name="Shape 2"/>
          <p:cNvSpPr/>
          <p:nvPr/>
        </p:nvSpPr>
        <p:spPr>
          <a:xfrm>
            <a:off x="548640" y="1783080"/>
            <a:ext cx="5852160" cy="416052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5852160" cy="91440"/>
          </a:xfrm>
          <a:prstGeom prst="rect">
            <a:avLst/>
          </a:prstGeom>
          <a:solidFill>
            <a:srgbClr val="1F52D6"/>
          </a:solidFill>
          <a:ln/>
        </p:spPr>
        <p:txBody>
          <a:bodyPr/>
          <a:lstStyle/>
          <a:p>
            <a:endParaRPr lang="en-US"/>
          </a:p>
        </p:txBody>
      </p:sp>
      <p:sp>
        <p:nvSpPr>
          <p:cNvPr id="6" name="Text 4"/>
          <p:cNvSpPr/>
          <p:nvPr/>
        </p:nvSpPr>
        <p:spPr>
          <a:xfrm>
            <a:off x="914400" y="2057400"/>
            <a:ext cx="5120640" cy="274320"/>
          </a:xfrm>
          <a:prstGeom prst="rect">
            <a:avLst/>
          </a:prstGeom>
          <a:noFill/>
          <a:ln/>
        </p:spPr>
        <p:txBody>
          <a:bodyPr wrap="square" lIns="0" tIns="0" rIns="0" bIns="0" rtlCol="0" anchor="ctr"/>
          <a:lstStyle/>
          <a:p>
            <a:pPr marL="0" indent="0">
              <a:buNone/>
            </a:pPr>
            <a:r>
              <a:rPr lang="en-US" sz="1200" b="1" kern="0" spc="200" dirty="0">
                <a:solidFill>
                  <a:srgbClr val="1F52D6"/>
                </a:solidFill>
                <a:latin typeface="Calibri" pitchFamily="34" charset="0"/>
                <a:ea typeface="Calibri" pitchFamily="34" charset="-122"/>
                <a:cs typeface="Calibri" pitchFamily="34" charset="-120"/>
              </a:rPr>
              <a:t>MODELING APPROACH</a:t>
            </a:r>
            <a:endParaRPr lang="en-US" sz="1200" dirty="0"/>
          </a:p>
        </p:txBody>
      </p:sp>
      <p:sp>
        <p:nvSpPr>
          <p:cNvPr id="7" name="Shape 5"/>
          <p:cNvSpPr/>
          <p:nvPr/>
        </p:nvSpPr>
        <p:spPr>
          <a:xfrm>
            <a:off x="914400" y="2532888"/>
            <a:ext cx="384048" cy="384048"/>
          </a:xfrm>
          <a:prstGeom prst="ellipse">
            <a:avLst/>
          </a:prstGeom>
          <a:solidFill>
            <a:srgbClr val="1F52D6"/>
          </a:solidFill>
          <a:ln/>
        </p:spPr>
        <p:txBody>
          <a:bodyPr/>
          <a:lstStyle/>
          <a:p>
            <a:endParaRPr lang="en-US"/>
          </a:p>
        </p:txBody>
      </p:sp>
      <p:sp>
        <p:nvSpPr>
          <p:cNvPr id="8" name="Text 6"/>
          <p:cNvSpPr/>
          <p:nvPr/>
        </p:nvSpPr>
        <p:spPr>
          <a:xfrm>
            <a:off x="914400" y="25328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463040" y="2478024"/>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Clean and prepare the data</a:t>
            </a:r>
            <a:endParaRPr lang="en-US" sz="1450" dirty="0"/>
          </a:p>
        </p:txBody>
      </p:sp>
      <p:sp>
        <p:nvSpPr>
          <p:cNvPr id="10" name="Shape 8"/>
          <p:cNvSpPr/>
          <p:nvPr/>
        </p:nvSpPr>
        <p:spPr>
          <a:xfrm>
            <a:off x="914400" y="3191256"/>
            <a:ext cx="384048" cy="384048"/>
          </a:xfrm>
          <a:prstGeom prst="ellipse">
            <a:avLst/>
          </a:prstGeom>
          <a:solidFill>
            <a:srgbClr val="1F52D6"/>
          </a:solidFill>
          <a:ln/>
        </p:spPr>
        <p:txBody>
          <a:bodyPr/>
          <a:lstStyle/>
          <a:p>
            <a:endParaRPr lang="en-US"/>
          </a:p>
        </p:txBody>
      </p:sp>
      <p:sp>
        <p:nvSpPr>
          <p:cNvPr id="11" name="Text 9"/>
          <p:cNvSpPr/>
          <p:nvPr/>
        </p:nvSpPr>
        <p:spPr>
          <a:xfrm>
            <a:off x="914400" y="31912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463040" y="3136392"/>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Engineer predictive features</a:t>
            </a:r>
            <a:endParaRPr lang="en-US" sz="1450" dirty="0"/>
          </a:p>
        </p:txBody>
      </p:sp>
      <p:sp>
        <p:nvSpPr>
          <p:cNvPr id="13" name="Shape 11"/>
          <p:cNvSpPr/>
          <p:nvPr/>
        </p:nvSpPr>
        <p:spPr>
          <a:xfrm>
            <a:off x="914400" y="3849624"/>
            <a:ext cx="384048" cy="384048"/>
          </a:xfrm>
          <a:prstGeom prst="ellipse">
            <a:avLst/>
          </a:prstGeom>
          <a:solidFill>
            <a:srgbClr val="1F52D6"/>
          </a:solidFill>
          <a:ln/>
        </p:spPr>
        <p:txBody>
          <a:bodyPr/>
          <a:lstStyle/>
          <a:p>
            <a:endParaRPr lang="en-US"/>
          </a:p>
        </p:txBody>
      </p:sp>
      <p:sp>
        <p:nvSpPr>
          <p:cNvPr id="14" name="Text 12"/>
          <p:cNvSpPr/>
          <p:nvPr/>
        </p:nvSpPr>
        <p:spPr>
          <a:xfrm>
            <a:off x="914400" y="38496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463040" y="3794760"/>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Split into train / test (80 / 20)</a:t>
            </a:r>
            <a:endParaRPr lang="en-US" sz="1450" dirty="0"/>
          </a:p>
        </p:txBody>
      </p:sp>
      <p:sp>
        <p:nvSpPr>
          <p:cNvPr id="16" name="Shape 14"/>
          <p:cNvSpPr/>
          <p:nvPr/>
        </p:nvSpPr>
        <p:spPr>
          <a:xfrm>
            <a:off x="914400" y="4507992"/>
            <a:ext cx="384048" cy="384048"/>
          </a:xfrm>
          <a:prstGeom prst="ellipse">
            <a:avLst/>
          </a:prstGeom>
          <a:solidFill>
            <a:srgbClr val="1F52D6"/>
          </a:solidFill>
          <a:ln/>
        </p:spPr>
        <p:txBody>
          <a:bodyPr/>
          <a:lstStyle/>
          <a:p>
            <a:endParaRPr lang="en-US"/>
          </a:p>
        </p:txBody>
      </p:sp>
      <p:sp>
        <p:nvSpPr>
          <p:cNvPr id="17" name="Text 15"/>
          <p:cNvSpPr/>
          <p:nvPr/>
        </p:nvSpPr>
        <p:spPr>
          <a:xfrm>
            <a:off x="914400" y="45079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463040" y="4453128"/>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Train the four candidate models</a:t>
            </a:r>
            <a:endParaRPr lang="en-US" sz="1450" dirty="0"/>
          </a:p>
        </p:txBody>
      </p:sp>
      <p:sp>
        <p:nvSpPr>
          <p:cNvPr id="19" name="Shape 17"/>
          <p:cNvSpPr/>
          <p:nvPr/>
        </p:nvSpPr>
        <p:spPr>
          <a:xfrm>
            <a:off x="914400" y="5166360"/>
            <a:ext cx="384048" cy="384048"/>
          </a:xfrm>
          <a:prstGeom prst="ellipse">
            <a:avLst/>
          </a:prstGeom>
          <a:solidFill>
            <a:srgbClr val="1F52D6"/>
          </a:solidFill>
          <a:ln/>
        </p:spPr>
        <p:txBody>
          <a:bodyPr/>
          <a:lstStyle/>
          <a:p>
            <a:endParaRPr lang="en-US"/>
          </a:p>
        </p:txBody>
      </p:sp>
      <p:sp>
        <p:nvSpPr>
          <p:cNvPr id="20" name="Text 18"/>
          <p:cNvSpPr/>
          <p:nvPr/>
        </p:nvSpPr>
        <p:spPr>
          <a:xfrm>
            <a:off x="914400" y="5166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463040" y="5111496"/>
            <a:ext cx="4572000" cy="502920"/>
          </a:xfrm>
          <a:prstGeom prst="rect">
            <a:avLst/>
          </a:prstGeom>
          <a:noFill/>
          <a:ln/>
        </p:spPr>
        <p:txBody>
          <a:bodyPr wrap="square" lIns="0" tIns="0" rIns="0" bIns="0" rtlCol="0" anchor="ctr"/>
          <a:lstStyle/>
          <a:p>
            <a:pPr marL="0" indent="0" algn="l">
              <a:buNone/>
            </a:pPr>
            <a:r>
              <a:rPr lang="en-US" sz="1450" dirty="0">
                <a:solidFill>
                  <a:srgbClr val="16233B"/>
                </a:solidFill>
                <a:latin typeface="Calibri" pitchFamily="34" charset="0"/>
                <a:ea typeface="Calibri" pitchFamily="34" charset="-122"/>
                <a:cs typeface="Calibri" pitchFamily="34" charset="-120"/>
              </a:rPr>
              <a:t>Evaluate and select the best</a:t>
            </a:r>
            <a:endParaRPr lang="en-US" sz="1450" dirty="0"/>
          </a:p>
        </p:txBody>
      </p:sp>
      <p:sp>
        <p:nvSpPr>
          <p:cNvPr id="22" name="Shape 20"/>
          <p:cNvSpPr/>
          <p:nvPr/>
        </p:nvSpPr>
        <p:spPr>
          <a:xfrm>
            <a:off x="6675120" y="1783080"/>
            <a:ext cx="4965192" cy="416052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3" name="Shape 21"/>
          <p:cNvSpPr/>
          <p:nvPr/>
        </p:nvSpPr>
        <p:spPr>
          <a:xfrm>
            <a:off x="6675120" y="1783080"/>
            <a:ext cx="4965192" cy="91440"/>
          </a:xfrm>
          <a:prstGeom prst="rect">
            <a:avLst/>
          </a:prstGeom>
          <a:solidFill>
            <a:srgbClr val="F5A623"/>
          </a:solidFill>
          <a:ln/>
        </p:spPr>
        <p:txBody>
          <a:bodyPr/>
          <a:lstStyle/>
          <a:p>
            <a:endParaRPr lang="en-US"/>
          </a:p>
        </p:txBody>
      </p:sp>
      <p:sp>
        <p:nvSpPr>
          <p:cNvPr id="24" name="Text 22"/>
          <p:cNvSpPr/>
          <p:nvPr/>
        </p:nvSpPr>
        <p:spPr>
          <a:xfrm>
            <a:off x="7040880" y="2057400"/>
            <a:ext cx="4233672" cy="274320"/>
          </a:xfrm>
          <a:prstGeom prst="rect">
            <a:avLst/>
          </a:prstGeom>
          <a:noFill/>
          <a:ln/>
        </p:spPr>
        <p:txBody>
          <a:bodyPr wrap="square" lIns="0" tIns="0" rIns="0" bIns="0" rtlCol="0" anchor="ctr"/>
          <a:lstStyle/>
          <a:p>
            <a:pPr marL="0" indent="0">
              <a:buNone/>
            </a:pPr>
            <a:r>
              <a:rPr lang="en-US" sz="1200" b="1" kern="0" spc="200" dirty="0">
                <a:solidFill>
                  <a:srgbClr val="1F52D6"/>
                </a:solidFill>
                <a:latin typeface="Calibri" pitchFamily="34" charset="0"/>
                <a:ea typeface="Calibri" pitchFamily="34" charset="-122"/>
                <a:cs typeface="Calibri" pitchFamily="34" charset="-120"/>
              </a:rPr>
              <a:t>EVALUATION METRICS</a:t>
            </a:r>
            <a:endParaRPr lang="en-US" sz="1200" dirty="0"/>
          </a:p>
        </p:txBody>
      </p:sp>
      <p:sp>
        <p:nvSpPr>
          <p:cNvPr id="25" name="Shape 23"/>
          <p:cNvSpPr/>
          <p:nvPr/>
        </p:nvSpPr>
        <p:spPr>
          <a:xfrm>
            <a:off x="7040880" y="2615184"/>
            <a:ext cx="128016" cy="128016"/>
          </a:xfrm>
          <a:prstGeom prst="ellipse">
            <a:avLst/>
          </a:prstGeom>
          <a:solidFill>
            <a:srgbClr val="1F52D6"/>
          </a:solidFill>
          <a:ln/>
        </p:spPr>
        <p:txBody>
          <a:bodyPr/>
          <a:lstStyle/>
          <a:p>
            <a:endParaRPr lang="en-US"/>
          </a:p>
        </p:txBody>
      </p:sp>
      <p:sp>
        <p:nvSpPr>
          <p:cNvPr id="26" name="Text 24"/>
          <p:cNvSpPr/>
          <p:nvPr/>
        </p:nvSpPr>
        <p:spPr>
          <a:xfrm>
            <a:off x="7315200" y="2487168"/>
            <a:ext cx="4005072" cy="457200"/>
          </a:xfrm>
          <a:prstGeom prst="rect">
            <a:avLst/>
          </a:prstGeom>
          <a:noFill/>
          <a:ln/>
        </p:spPr>
        <p:txBody>
          <a:bodyPr wrap="square" lIns="0" tIns="0" rIns="0" bIns="0" rtlCol="0" anchor="ctr"/>
          <a:lstStyle/>
          <a:p>
            <a:pPr marL="0" indent="0" algn="l">
              <a:lnSpc>
                <a:spcPct val="100000"/>
              </a:lnSpc>
              <a:buNone/>
            </a:pPr>
            <a:r>
              <a:rPr lang="en-US" sz="1450" b="1" dirty="0">
                <a:solidFill>
                  <a:srgbClr val="16233B"/>
                </a:solidFill>
                <a:latin typeface="Georgia" pitchFamily="34" charset="0"/>
                <a:ea typeface="Georgia" pitchFamily="34" charset="-122"/>
                <a:cs typeface="Georgia" pitchFamily="34" charset="-120"/>
              </a:rPr>
              <a:t>Accuracy  </a:t>
            </a:r>
            <a:r>
              <a:rPr lang="en-US" sz="1250" dirty="0">
                <a:solidFill>
                  <a:srgbClr val="5C6B85"/>
                </a:solidFill>
                <a:latin typeface="Calibri" pitchFamily="34" charset="0"/>
                <a:ea typeface="Calibri" pitchFamily="34" charset="-122"/>
                <a:cs typeface="Calibri" pitchFamily="34" charset="-120"/>
              </a:rPr>
              <a:t>— Share of predictions that were correct.</a:t>
            </a:r>
            <a:endParaRPr lang="en-US" sz="1450" dirty="0"/>
          </a:p>
        </p:txBody>
      </p:sp>
      <p:sp>
        <p:nvSpPr>
          <p:cNvPr id="27" name="Shape 25"/>
          <p:cNvSpPr/>
          <p:nvPr/>
        </p:nvSpPr>
        <p:spPr>
          <a:xfrm>
            <a:off x="7040880" y="3200400"/>
            <a:ext cx="128016" cy="128016"/>
          </a:xfrm>
          <a:prstGeom prst="ellipse">
            <a:avLst/>
          </a:prstGeom>
          <a:solidFill>
            <a:srgbClr val="1F52D6"/>
          </a:solidFill>
          <a:ln/>
        </p:spPr>
        <p:txBody>
          <a:bodyPr/>
          <a:lstStyle/>
          <a:p>
            <a:endParaRPr lang="en-US"/>
          </a:p>
        </p:txBody>
      </p:sp>
      <p:sp>
        <p:nvSpPr>
          <p:cNvPr id="28" name="Text 26"/>
          <p:cNvSpPr/>
          <p:nvPr/>
        </p:nvSpPr>
        <p:spPr>
          <a:xfrm>
            <a:off x="7315200" y="3072384"/>
            <a:ext cx="4005072" cy="457200"/>
          </a:xfrm>
          <a:prstGeom prst="rect">
            <a:avLst/>
          </a:prstGeom>
          <a:noFill/>
          <a:ln/>
        </p:spPr>
        <p:txBody>
          <a:bodyPr wrap="square" lIns="0" tIns="0" rIns="0" bIns="0" rtlCol="0" anchor="ctr"/>
          <a:lstStyle/>
          <a:p>
            <a:pPr marL="0" indent="0" algn="l">
              <a:lnSpc>
                <a:spcPct val="100000"/>
              </a:lnSpc>
              <a:buNone/>
            </a:pPr>
            <a:r>
              <a:rPr lang="en-US" sz="1450" b="1" dirty="0">
                <a:solidFill>
                  <a:srgbClr val="16233B"/>
                </a:solidFill>
                <a:latin typeface="Georgia" pitchFamily="34" charset="0"/>
                <a:ea typeface="Georgia" pitchFamily="34" charset="-122"/>
                <a:cs typeface="Georgia" pitchFamily="34" charset="-120"/>
              </a:rPr>
              <a:t>Precision  </a:t>
            </a:r>
            <a:r>
              <a:rPr lang="en-US" sz="1250" dirty="0">
                <a:solidFill>
                  <a:srgbClr val="5C6B85"/>
                </a:solidFill>
                <a:latin typeface="Calibri" pitchFamily="34" charset="0"/>
                <a:ea typeface="Calibri" pitchFamily="34" charset="-122"/>
                <a:cs typeface="Calibri" pitchFamily="34" charset="-120"/>
              </a:rPr>
              <a:t>— How many flagged churners truly churned.</a:t>
            </a:r>
            <a:endParaRPr lang="en-US" sz="1450" dirty="0"/>
          </a:p>
        </p:txBody>
      </p:sp>
      <p:sp>
        <p:nvSpPr>
          <p:cNvPr id="29" name="Shape 27"/>
          <p:cNvSpPr/>
          <p:nvPr/>
        </p:nvSpPr>
        <p:spPr>
          <a:xfrm>
            <a:off x="7040880" y="3785616"/>
            <a:ext cx="128016" cy="128016"/>
          </a:xfrm>
          <a:prstGeom prst="ellipse">
            <a:avLst/>
          </a:prstGeom>
          <a:solidFill>
            <a:srgbClr val="1F52D6"/>
          </a:solidFill>
          <a:ln/>
        </p:spPr>
        <p:txBody>
          <a:bodyPr/>
          <a:lstStyle/>
          <a:p>
            <a:endParaRPr lang="en-US"/>
          </a:p>
        </p:txBody>
      </p:sp>
      <p:sp>
        <p:nvSpPr>
          <p:cNvPr id="30" name="Text 28"/>
          <p:cNvSpPr/>
          <p:nvPr/>
        </p:nvSpPr>
        <p:spPr>
          <a:xfrm>
            <a:off x="7315200" y="3657600"/>
            <a:ext cx="4005072" cy="457200"/>
          </a:xfrm>
          <a:prstGeom prst="rect">
            <a:avLst/>
          </a:prstGeom>
          <a:noFill/>
          <a:ln/>
        </p:spPr>
        <p:txBody>
          <a:bodyPr wrap="square" lIns="0" tIns="0" rIns="0" bIns="0" rtlCol="0" anchor="ctr"/>
          <a:lstStyle/>
          <a:p>
            <a:pPr marL="0" indent="0" algn="l">
              <a:lnSpc>
                <a:spcPct val="100000"/>
              </a:lnSpc>
              <a:buNone/>
            </a:pPr>
            <a:r>
              <a:rPr lang="en-US" sz="1450" b="1" dirty="0">
                <a:solidFill>
                  <a:srgbClr val="16233B"/>
                </a:solidFill>
                <a:latin typeface="Georgia" pitchFamily="34" charset="0"/>
                <a:ea typeface="Georgia" pitchFamily="34" charset="-122"/>
                <a:cs typeface="Georgia" pitchFamily="34" charset="-120"/>
              </a:rPr>
              <a:t>Recall  </a:t>
            </a:r>
            <a:r>
              <a:rPr lang="en-US" sz="1250" dirty="0">
                <a:solidFill>
                  <a:srgbClr val="5C6B85"/>
                </a:solidFill>
                <a:latin typeface="Calibri" pitchFamily="34" charset="0"/>
                <a:ea typeface="Calibri" pitchFamily="34" charset="-122"/>
                <a:cs typeface="Calibri" pitchFamily="34" charset="-120"/>
              </a:rPr>
              <a:t>— How many actual churners were caught.</a:t>
            </a:r>
            <a:endParaRPr lang="en-US" sz="1450" dirty="0"/>
          </a:p>
        </p:txBody>
      </p:sp>
      <p:sp>
        <p:nvSpPr>
          <p:cNvPr id="31" name="Shape 29"/>
          <p:cNvSpPr/>
          <p:nvPr/>
        </p:nvSpPr>
        <p:spPr>
          <a:xfrm>
            <a:off x="7040880" y="4370832"/>
            <a:ext cx="128016" cy="128016"/>
          </a:xfrm>
          <a:prstGeom prst="ellipse">
            <a:avLst/>
          </a:prstGeom>
          <a:solidFill>
            <a:srgbClr val="1F52D6"/>
          </a:solidFill>
          <a:ln/>
        </p:spPr>
        <p:txBody>
          <a:bodyPr/>
          <a:lstStyle/>
          <a:p>
            <a:endParaRPr lang="en-US"/>
          </a:p>
        </p:txBody>
      </p:sp>
      <p:sp>
        <p:nvSpPr>
          <p:cNvPr id="32" name="Text 30"/>
          <p:cNvSpPr/>
          <p:nvPr/>
        </p:nvSpPr>
        <p:spPr>
          <a:xfrm>
            <a:off x="7315200" y="4242816"/>
            <a:ext cx="4005072" cy="457200"/>
          </a:xfrm>
          <a:prstGeom prst="rect">
            <a:avLst/>
          </a:prstGeom>
          <a:noFill/>
          <a:ln/>
        </p:spPr>
        <p:txBody>
          <a:bodyPr wrap="square" lIns="0" tIns="0" rIns="0" bIns="0" rtlCol="0" anchor="ctr"/>
          <a:lstStyle/>
          <a:p>
            <a:pPr marL="0" indent="0" algn="l">
              <a:lnSpc>
                <a:spcPct val="100000"/>
              </a:lnSpc>
              <a:buNone/>
            </a:pPr>
            <a:r>
              <a:rPr lang="en-US" sz="1450" b="1" dirty="0">
                <a:solidFill>
                  <a:srgbClr val="16233B"/>
                </a:solidFill>
                <a:latin typeface="Georgia" pitchFamily="34" charset="0"/>
                <a:ea typeface="Georgia" pitchFamily="34" charset="-122"/>
                <a:cs typeface="Georgia" pitchFamily="34" charset="-120"/>
              </a:rPr>
              <a:t>F1-score  </a:t>
            </a:r>
            <a:r>
              <a:rPr lang="en-US" sz="1250" dirty="0">
                <a:solidFill>
                  <a:srgbClr val="5C6B85"/>
                </a:solidFill>
                <a:latin typeface="Calibri" pitchFamily="34" charset="0"/>
                <a:ea typeface="Calibri" pitchFamily="34" charset="-122"/>
                <a:cs typeface="Calibri" pitchFamily="34" charset="-120"/>
              </a:rPr>
              <a:t>— Balance of precision and recall.</a:t>
            </a:r>
            <a:endParaRPr lang="en-US" sz="1450" dirty="0"/>
          </a:p>
        </p:txBody>
      </p:sp>
      <p:sp>
        <p:nvSpPr>
          <p:cNvPr id="33" name="Shape 31"/>
          <p:cNvSpPr/>
          <p:nvPr/>
        </p:nvSpPr>
        <p:spPr>
          <a:xfrm>
            <a:off x="7040880" y="4956048"/>
            <a:ext cx="128016" cy="128016"/>
          </a:xfrm>
          <a:prstGeom prst="ellipse">
            <a:avLst/>
          </a:prstGeom>
          <a:solidFill>
            <a:srgbClr val="1F52D6"/>
          </a:solidFill>
          <a:ln/>
        </p:spPr>
        <p:txBody>
          <a:bodyPr/>
          <a:lstStyle/>
          <a:p>
            <a:endParaRPr lang="en-US"/>
          </a:p>
        </p:txBody>
      </p:sp>
      <p:sp>
        <p:nvSpPr>
          <p:cNvPr id="34" name="Text 32"/>
          <p:cNvSpPr/>
          <p:nvPr/>
        </p:nvSpPr>
        <p:spPr>
          <a:xfrm>
            <a:off x="7315200" y="4828032"/>
            <a:ext cx="4005072" cy="457200"/>
          </a:xfrm>
          <a:prstGeom prst="rect">
            <a:avLst/>
          </a:prstGeom>
          <a:noFill/>
          <a:ln/>
        </p:spPr>
        <p:txBody>
          <a:bodyPr wrap="square" lIns="0" tIns="0" rIns="0" bIns="0" rtlCol="0" anchor="ctr"/>
          <a:lstStyle/>
          <a:p>
            <a:pPr marL="0" indent="0" algn="l">
              <a:lnSpc>
                <a:spcPct val="100000"/>
              </a:lnSpc>
              <a:buNone/>
            </a:pPr>
            <a:r>
              <a:rPr lang="en-US" sz="1450" b="1" dirty="0">
                <a:solidFill>
                  <a:srgbClr val="16233B"/>
                </a:solidFill>
                <a:latin typeface="Georgia" pitchFamily="34" charset="0"/>
                <a:ea typeface="Georgia" pitchFamily="34" charset="-122"/>
                <a:cs typeface="Georgia" pitchFamily="34" charset="-120"/>
              </a:rPr>
              <a:t>ROC-AUC  </a:t>
            </a:r>
            <a:r>
              <a:rPr lang="en-US" sz="1250" dirty="0">
                <a:solidFill>
                  <a:srgbClr val="5C6B85"/>
                </a:solidFill>
                <a:latin typeface="Calibri" pitchFamily="34" charset="0"/>
                <a:ea typeface="Calibri" pitchFamily="34" charset="-122"/>
                <a:cs typeface="Calibri" pitchFamily="34" charset="-120"/>
              </a:rPr>
              <a:t>— Ability to separate churn from retention.</a:t>
            </a:r>
            <a:endParaRPr lang="en-US" sz="1450" dirty="0"/>
          </a:p>
        </p:txBody>
      </p:sp>
      <p:sp>
        <p:nvSpPr>
          <p:cNvPr id="35" name="Text 33"/>
          <p:cNvSpPr/>
          <p:nvPr/>
        </p:nvSpPr>
        <p:spPr>
          <a:xfrm>
            <a:off x="7040880" y="5559552"/>
            <a:ext cx="4233672" cy="365760"/>
          </a:xfrm>
          <a:prstGeom prst="rect">
            <a:avLst/>
          </a:prstGeom>
          <a:noFill/>
          <a:ln/>
        </p:spPr>
        <p:txBody>
          <a:bodyPr wrap="square" lIns="0" tIns="0" rIns="0" bIns="0" rtlCol="0" anchor="ctr"/>
          <a:lstStyle/>
          <a:p>
            <a:pPr marL="0" indent="0" algn="l">
              <a:lnSpc>
                <a:spcPct val="102000"/>
              </a:lnSpc>
              <a:buNone/>
            </a:pPr>
            <a:r>
              <a:rPr lang="en-US" sz="1150" i="1" dirty="0">
                <a:solidFill>
                  <a:srgbClr val="1F52D6"/>
                </a:solidFill>
                <a:latin typeface="Calibri" pitchFamily="34" charset="0"/>
                <a:ea typeface="Calibri" pitchFamily="34" charset="-122"/>
                <a:cs typeface="Calibri" pitchFamily="34" charset="-120"/>
              </a:rPr>
              <a:t>Recall is weighted heavily — catching churners matters more than raw accuracy.</a:t>
            </a:r>
            <a:endParaRPr lang="en-US" sz="1150" dirty="0"/>
          </a:p>
        </p:txBody>
      </p:sp>
      <p:sp>
        <p:nvSpPr>
          <p:cNvPr id="36" name="Text 34"/>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37" name="Text 35"/>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08</a:t>
            </a:r>
            <a:endParaRPr lang="en-US" sz="900" dirty="0"/>
          </a:p>
        </p:txBody>
      </p:sp>
      <p:sp>
        <p:nvSpPr>
          <p:cNvPr id="38" name="Recommended Model Card"/>
          <p:cNvSpPr/>
          <p:nvPr/>
        </p:nvSpPr>
        <p:spPr>
          <a:xfrm>
            <a:off x="8686800" y="300000"/>
            <a:ext cx="2953512" cy="1300000"/>
          </a:xfrm>
          <a:prstGeom prst="rect">
            <a:avLst/>
          </a:prstGeom>
          <a:solidFill>
            <a:srgbClr val="1F52D6"/>
          </a:solidFill>
          <a:ln/>
          <a:effectLst>
            <a:outerShdw blurRad="101600" dist="25400" dir="5400000" algn="bl" rotWithShape="0">
              <a:srgbClr val="8CA0C4">
                <a:alpha val="28000"/>
              </a:srgbClr>
            </a:outerShdw>
          </a:effectLst>
        </p:spPr>
        <p:txBody>
          <a:bodyPr/>
          <a:lstStyle/>
          <a:p>
            <a:endParaRPr lang="en-US"/>
          </a:p>
        </p:txBody>
      </p:sp>
      <p:sp>
        <p:nvSpPr>
          <p:cNvPr id="39" name="Recommended Model Accent"/>
          <p:cNvSpPr/>
          <p:nvPr/>
        </p:nvSpPr>
        <p:spPr>
          <a:xfrm>
            <a:off x="8686800" y="300000"/>
            <a:ext cx="2953512" cy="68580"/>
          </a:xfrm>
          <a:prstGeom prst="rect">
            <a:avLst/>
          </a:prstGeom>
          <a:solidFill>
            <a:srgbClr val="F5A623"/>
          </a:solidFill>
          <a:ln/>
        </p:spPr>
        <p:txBody>
          <a:bodyPr/>
          <a:lstStyle/>
          <a:p>
            <a:endParaRPr lang="en-US"/>
          </a:p>
        </p:txBody>
      </p:sp>
      <p:sp>
        <p:nvSpPr>
          <p:cNvPr id="40" name="Recommended Model Text"/>
          <p:cNvSpPr/>
          <p:nvPr/>
        </p:nvSpPr>
        <p:spPr>
          <a:xfrm>
            <a:off x="8887320" y="405000"/>
            <a:ext cx="2552472" cy="1150000"/>
          </a:xfrm>
          <a:prstGeom prst="rect">
            <a:avLst/>
          </a:prstGeom>
          <a:noFill/>
          <a:ln/>
        </p:spPr>
        <p:txBody>
          <a:bodyPr wrap="square" lIns="0" tIns="0" rIns="0" bIns="0" rtlCol="0" anchor="ctr"/>
          <a:lstStyle/>
          <a:p>
            <a:pPr marL="0" indent="0" algn="l">
              <a:buNone/>
            </a:pPr>
            <a:r>
              <a:rPr lang="en-US" sz="1000" b="1" spc="120">
                <a:solidFill>
                  <a:srgbClr val="F5A623"/>
                </a:solidFill>
                <a:latin typeface="Calibri" pitchFamily="34" charset="0"/>
                <a:ea typeface="Calibri" pitchFamily="34" charset="-122"/>
                <a:cs typeface="Calibri" pitchFamily="34" charset="-120"/>
              </a:rPr>
              <a:t>RECOMMENDED MODEL</a:t>
            </a:r>
            <a:endParaRPr lang="en-US" sz="1000" b="1"/>
          </a:p>
          <a:p>
            <a:pPr marL="0" indent="0" algn="l">
              <a:buNone/>
            </a:pPr>
            <a:r>
              <a:rPr lang="en-US" sz="1800" b="1">
                <a:solidFill>
                  <a:srgbClr val="FFFFFF"/>
                </a:solidFill>
                <a:latin typeface="Georgia" pitchFamily="34" charset="0"/>
                <a:ea typeface="Georgia" pitchFamily="34" charset="-122"/>
                <a:cs typeface="Georgia" pitchFamily="34" charset="-120"/>
              </a:rPr>
              <a:t>Logistic Regression</a:t>
            </a:r>
            <a:endParaRPr lang="en-US" sz="1800" b="1"/>
          </a:p>
          <a:p>
            <a:pPr marL="0" indent="0" algn="l">
              <a:buNone/>
            </a:pPr>
            <a:r>
              <a:rPr lang="en-US" sz="1000">
                <a:solidFill>
                  <a:srgbClr val="DCE6FB"/>
                </a:solidFill>
                <a:latin typeface="Calibri" pitchFamily="34" charset="0"/>
                <a:ea typeface="Calibri" pitchFamily="34" charset="-122"/>
                <a:cs typeface="Calibri" pitchFamily="34" charset="-120"/>
              </a:rPr>
              <a:t>Every missed churner is lost revenue — best recall (0.67) catches the most.</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RESULTS</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Model performance comparison</a:t>
            </a:r>
            <a:endParaRPr lang="en-US" sz="3000" dirty="0"/>
          </a:p>
        </p:txBody>
      </p:sp>
      <p:sp>
        <p:nvSpPr>
          <p:cNvPr id="4" name="Header BG"/>
          <p:cNvSpPr/>
          <p:nvPr/>
        </p:nvSpPr>
        <p:spPr>
          <a:xfrm>
            <a:off x="548640" y="1783080"/>
            <a:ext cx="11091672" cy="502920"/>
          </a:xfrm>
          <a:prstGeom prst="rect">
            <a:avLst/>
          </a:prstGeom>
          <a:solidFill>
            <a:srgbClr val="1F52D6"/>
          </a:solidFill>
          <a:ln/>
        </p:spPr>
        <p:txBody>
          <a:bodyPr/>
          <a:lstStyle/>
          <a:p>
            <a:endParaRPr lang="en-US"/>
          </a:p>
        </p:txBody>
      </p:sp>
      <p:sp>
        <p:nvSpPr>
          <p:cNvPr id="5" name="H Model"/>
          <p:cNvSpPr/>
          <p:nvPr/>
        </p:nvSpPr>
        <p:spPr>
          <a:xfrm>
            <a:off x="822960" y="1783080"/>
            <a:ext cx="2300000" cy="502920"/>
          </a:xfrm>
          <a:prstGeom prst="rect">
            <a:avLst/>
          </a:prstGeom>
          <a:noFill/>
          <a:ln/>
        </p:spPr>
        <p:txBody>
          <a:bodyPr wrap="square" lIns="0" tIns="0" rIns="0" bIns="0" rtlCol="0" anchor="ctr"/>
          <a:lstStyle/>
          <a:p>
            <a:pPr marL="0" indent="0" algn="l">
              <a:buNone/>
            </a:pPr>
            <a:r>
              <a:rPr lang="en-US" sz="1300" b="1" kern="0" spc="150" dirty="0">
                <a:solidFill>
                  <a:srgbClr val="FFFFFF"/>
                </a:solidFill>
                <a:latin typeface="Calibri" pitchFamily="34" charset="0"/>
                <a:ea typeface="Calibri" pitchFamily="34" charset="-122"/>
                <a:cs typeface="Calibri" pitchFamily="34" charset="-120"/>
              </a:rPr>
              <a:t>MODEL</a:t>
            </a:r>
            <a:endParaRPr lang="en-US" sz="1300" dirty="0"/>
          </a:p>
        </p:txBody>
      </p:sp>
      <p:sp>
        <p:nvSpPr>
          <p:cNvPr id="6" name="H Accuracy"/>
          <p:cNvSpPr/>
          <p:nvPr/>
        </p:nvSpPr>
        <p:spPr>
          <a:xfrm>
            <a:off x="3200000" y="1783080"/>
            <a:ext cx="1656000" cy="502920"/>
          </a:xfrm>
          <a:prstGeom prst="rect">
            <a:avLst/>
          </a:prstGeom>
          <a:noFill/>
          <a:ln/>
        </p:spPr>
        <p:txBody>
          <a:bodyPr wrap="square" lIns="0" tIns="0" rIns="0" bIns="0" rtlCol="0" anchor="ctr"/>
          <a:lstStyle/>
          <a:p>
            <a:pPr marL="0" indent="0" algn="ctr">
              <a:buNone/>
            </a:pPr>
            <a:r>
              <a:rPr lang="en-US" sz="1300" b="1" kern="0" spc="150" dirty="0">
                <a:solidFill>
                  <a:srgbClr val="FFFFFF"/>
                </a:solidFill>
                <a:latin typeface="Calibri" pitchFamily="34" charset="0"/>
                <a:ea typeface="Calibri" pitchFamily="34" charset="-122"/>
                <a:cs typeface="Calibri" pitchFamily="34" charset="-120"/>
              </a:rPr>
              <a:t>ACCURACY</a:t>
            </a:r>
            <a:endParaRPr lang="en-US" sz="1300" dirty="0"/>
          </a:p>
        </p:txBody>
      </p:sp>
      <p:sp>
        <p:nvSpPr>
          <p:cNvPr id="7" name="H F1"/>
          <p:cNvSpPr/>
          <p:nvPr/>
        </p:nvSpPr>
        <p:spPr>
          <a:xfrm>
            <a:off x="4856000" y="1783080"/>
            <a:ext cx="1656000" cy="502920"/>
          </a:xfrm>
          <a:prstGeom prst="rect">
            <a:avLst/>
          </a:prstGeom>
          <a:noFill/>
          <a:ln/>
        </p:spPr>
        <p:txBody>
          <a:bodyPr wrap="square" lIns="0" tIns="0" rIns="0" bIns="0" rtlCol="0" anchor="ctr"/>
          <a:lstStyle/>
          <a:p>
            <a:pPr marL="0" indent="0" algn="ctr">
              <a:buNone/>
            </a:pPr>
            <a:r>
              <a:rPr lang="en-US" sz="1300" b="1" kern="0" spc="150">
                <a:solidFill>
                  <a:srgbClr val="FFFFFF"/>
                </a:solidFill>
                <a:latin typeface="Calibri" pitchFamily="34" charset="0"/>
                <a:ea typeface="Calibri" pitchFamily="34" charset="-122"/>
                <a:cs typeface="Calibri" pitchFamily="34" charset="-120"/>
              </a:rPr>
              <a:t>F1 SCORE</a:t>
            </a:r>
            <a:endParaRPr lang="en-US" sz="1300"/>
          </a:p>
        </p:txBody>
      </p:sp>
      <p:sp>
        <p:nvSpPr>
          <p:cNvPr id="8" name="H Precision"/>
          <p:cNvSpPr/>
          <p:nvPr/>
        </p:nvSpPr>
        <p:spPr>
          <a:xfrm>
            <a:off x="6512000" y="1783080"/>
            <a:ext cx="1656000" cy="502920"/>
          </a:xfrm>
          <a:prstGeom prst="rect">
            <a:avLst/>
          </a:prstGeom>
          <a:noFill/>
          <a:ln/>
        </p:spPr>
        <p:txBody>
          <a:bodyPr wrap="square" lIns="0" tIns="0" rIns="0" bIns="0" rtlCol="0" anchor="ctr"/>
          <a:lstStyle/>
          <a:p>
            <a:pPr marL="0" indent="0" algn="ctr">
              <a:buNone/>
            </a:pPr>
            <a:r>
              <a:rPr lang="en-US" sz="1300" b="1" kern="0" spc="150">
                <a:solidFill>
                  <a:srgbClr val="FFFFFF"/>
                </a:solidFill>
                <a:latin typeface="Calibri" pitchFamily="34" charset="0"/>
                <a:ea typeface="Calibri" pitchFamily="34" charset="-122"/>
                <a:cs typeface="Calibri" pitchFamily="34" charset="-120"/>
              </a:rPr>
              <a:t>PRECISION</a:t>
            </a:r>
            <a:endParaRPr lang="en-US" sz="1300"/>
          </a:p>
        </p:txBody>
      </p:sp>
      <p:sp>
        <p:nvSpPr>
          <p:cNvPr id="9" name="H Recall"/>
          <p:cNvSpPr/>
          <p:nvPr/>
        </p:nvSpPr>
        <p:spPr>
          <a:xfrm>
            <a:off x="8168000" y="1783080"/>
            <a:ext cx="1656000" cy="502920"/>
          </a:xfrm>
          <a:prstGeom prst="rect">
            <a:avLst/>
          </a:prstGeom>
          <a:noFill/>
          <a:ln/>
        </p:spPr>
        <p:txBody>
          <a:bodyPr wrap="square" lIns="0" tIns="0" rIns="0" bIns="0" rtlCol="0" anchor="ctr"/>
          <a:lstStyle/>
          <a:p>
            <a:pPr marL="0" indent="0" algn="ctr">
              <a:buNone/>
            </a:pPr>
            <a:r>
              <a:rPr lang="en-US" sz="1300" b="1" kern="0" spc="150">
                <a:solidFill>
                  <a:srgbClr val="FFFFFF"/>
                </a:solidFill>
                <a:latin typeface="Calibri" pitchFamily="34" charset="0"/>
                <a:ea typeface="Calibri" pitchFamily="34" charset="-122"/>
                <a:cs typeface="Calibri" pitchFamily="34" charset="-120"/>
              </a:rPr>
              <a:t>RECALL</a:t>
            </a:r>
            <a:endParaRPr lang="en-US" sz="1300"/>
          </a:p>
        </p:txBody>
      </p:sp>
      <p:sp>
        <p:nvSpPr>
          <p:cNvPr id="10" name="H AUC"/>
          <p:cNvSpPr/>
          <p:nvPr/>
        </p:nvSpPr>
        <p:spPr>
          <a:xfrm>
            <a:off x="9824000" y="1783080"/>
            <a:ext cx="1656000" cy="502920"/>
          </a:xfrm>
          <a:prstGeom prst="rect">
            <a:avLst/>
          </a:prstGeom>
          <a:noFill/>
          <a:ln/>
        </p:spPr>
        <p:txBody>
          <a:bodyPr wrap="square" lIns="0" tIns="0" rIns="0" bIns="0" rtlCol="0" anchor="ctr"/>
          <a:lstStyle/>
          <a:p>
            <a:pPr marL="0" indent="0" algn="ctr">
              <a:buNone/>
            </a:pPr>
            <a:r>
              <a:rPr lang="en-US" sz="1300" b="1" kern="0" spc="150">
                <a:solidFill>
                  <a:srgbClr val="FFFFFF"/>
                </a:solidFill>
                <a:latin typeface="Calibri" pitchFamily="34" charset="0"/>
                <a:ea typeface="Calibri" pitchFamily="34" charset="-122"/>
                <a:cs typeface="Calibri" pitchFamily="34" charset="-120"/>
              </a:rPr>
              <a:t>ROC-AUC</a:t>
            </a:r>
            <a:endParaRPr lang="en-US" sz="1300"/>
          </a:p>
        </p:txBody>
      </p:sp>
      <p:sp>
        <p:nvSpPr>
          <p:cNvPr id="11" name="R1 BG"/>
          <p:cNvSpPr/>
          <p:nvPr/>
        </p:nvSpPr>
        <p:spPr>
          <a:xfrm>
            <a:off x="548640" y="2286000"/>
            <a:ext cx="11091672" cy="822960"/>
          </a:xfrm>
          <a:prstGeom prst="rect">
            <a:avLst/>
          </a:prstGeom>
          <a:solidFill>
            <a:srgbClr val="E7EEFB"/>
          </a:solidFill>
          <a:ln w="12700">
            <a:solidFill>
              <a:srgbClr val="D4DCEA"/>
            </a:solidFill>
            <a:prstDash val="solid"/>
          </a:ln>
        </p:spPr>
        <p:txBody>
          <a:bodyPr/>
          <a:lstStyle/>
          <a:p>
            <a:endParaRPr lang="en-US"/>
          </a:p>
        </p:txBody>
      </p:sp>
      <p:sp>
        <p:nvSpPr>
          <p:cNvPr id="12" name="R1 Accent"/>
          <p:cNvSpPr/>
          <p:nvPr/>
        </p:nvSpPr>
        <p:spPr>
          <a:xfrm>
            <a:off x="548640" y="2286000"/>
            <a:ext cx="54864" cy="822960"/>
          </a:xfrm>
          <a:prstGeom prst="rect">
            <a:avLst/>
          </a:prstGeom>
          <a:solidFill>
            <a:srgbClr val="D4DCEA"/>
          </a:solidFill>
          <a:ln/>
        </p:spPr>
        <p:txBody>
          <a:bodyPr/>
          <a:lstStyle/>
          <a:p>
            <a:endParaRPr lang="en-US"/>
          </a:p>
        </p:txBody>
      </p:sp>
      <p:sp>
        <p:nvSpPr>
          <p:cNvPr id="13" name="R1 Model"/>
          <p:cNvSpPr/>
          <p:nvPr/>
        </p:nvSpPr>
        <p:spPr>
          <a:xfrm>
            <a:off x="822960" y="228600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Dummy Classifier</a:t>
            </a:r>
            <a:endParaRPr lang="en-US" sz="1550"/>
          </a:p>
        </p:txBody>
      </p:sp>
      <p:sp>
        <p:nvSpPr>
          <p:cNvPr id="14" name="R1 Accuracy"/>
          <p:cNvSpPr/>
          <p:nvPr/>
        </p:nvSpPr>
        <p:spPr>
          <a:xfrm>
            <a:off x="3200000" y="228600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48.6%</a:t>
            </a:r>
            <a:endParaRPr lang="en-US" sz="1400"/>
          </a:p>
        </p:txBody>
      </p:sp>
      <p:sp>
        <p:nvSpPr>
          <p:cNvPr id="15" name="R1 F1"/>
          <p:cNvSpPr/>
          <p:nvPr/>
        </p:nvSpPr>
        <p:spPr>
          <a:xfrm>
            <a:off x="4856000" y="228600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0.2526</a:t>
            </a:r>
            <a:endParaRPr lang="en-US" sz="1400"/>
          </a:p>
        </p:txBody>
      </p:sp>
      <p:sp>
        <p:nvSpPr>
          <p:cNvPr id="16" name="R1 Precision"/>
          <p:cNvSpPr/>
          <p:nvPr/>
        </p:nvSpPr>
        <p:spPr>
          <a:xfrm>
            <a:off x="6512000" y="228600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0.2534</a:t>
            </a:r>
            <a:endParaRPr lang="en-US" sz="1400"/>
          </a:p>
        </p:txBody>
      </p:sp>
      <p:sp>
        <p:nvSpPr>
          <p:cNvPr id="17" name="R1 Recall"/>
          <p:cNvSpPr/>
          <p:nvPr/>
        </p:nvSpPr>
        <p:spPr>
          <a:xfrm>
            <a:off x="8168000" y="2286000"/>
            <a:ext cx="1656000" cy="822960"/>
          </a:xfrm>
          <a:prstGeom prst="rect">
            <a:avLst/>
          </a:prstGeom>
          <a:noFill/>
          <a:ln/>
        </p:spPr>
        <p:txBody>
          <a:bodyPr wrap="square" lIns="0" tIns="0" rIns="0" bIns="0" rtlCol="0" anchor="ctr"/>
          <a:lstStyle/>
          <a:p>
            <a:pPr marL="0" indent="0" algn="ctr">
              <a:buNone/>
            </a:pPr>
            <a:r>
              <a:rPr lang="en-US" sz="1400" b="1" dirty="0">
                <a:solidFill>
                  <a:srgbClr val="16233B"/>
                </a:solidFill>
                <a:latin typeface="Georgia" pitchFamily="34" charset="0"/>
                <a:ea typeface="Georgia" pitchFamily="34" charset="-122"/>
                <a:cs typeface="Georgia" pitchFamily="34" charset="-120"/>
              </a:rPr>
              <a:t>0.2517</a:t>
            </a:r>
            <a:endParaRPr lang="en-US" sz="1400" dirty="0"/>
          </a:p>
        </p:txBody>
      </p:sp>
      <p:sp>
        <p:nvSpPr>
          <p:cNvPr id="18" name="R1 AUC"/>
          <p:cNvSpPr/>
          <p:nvPr/>
        </p:nvSpPr>
        <p:spPr>
          <a:xfrm>
            <a:off x="9824000" y="228600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0.4305</a:t>
            </a:r>
            <a:endParaRPr lang="en-US" sz="1400"/>
          </a:p>
        </p:txBody>
      </p:sp>
      <p:sp>
        <p:nvSpPr>
          <p:cNvPr id="19" name="R2 BG"/>
          <p:cNvSpPr/>
          <p:nvPr/>
        </p:nvSpPr>
        <p:spPr>
          <a:xfrm>
            <a:off x="548640" y="3108960"/>
            <a:ext cx="11091672" cy="822960"/>
          </a:xfrm>
          <a:prstGeom prst="rect">
            <a:avLst/>
          </a:prstGeom>
          <a:solidFill>
            <a:srgbClr val="F2F5FB"/>
          </a:solidFill>
          <a:ln w="12700">
            <a:solidFill>
              <a:srgbClr val="D4DCEA"/>
            </a:solidFill>
            <a:prstDash val="solid"/>
          </a:ln>
        </p:spPr>
        <p:txBody>
          <a:bodyPr/>
          <a:lstStyle/>
          <a:p>
            <a:endParaRPr lang="en-US"/>
          </a:p>
        </p:txBody>
      </p:sp>
      <p:sp>
        <p:nvSpPr>
          <p:cNvPr id="20" name="R2 Accent"/>
          <p:cNvSpPr/>
          <p:nvPr/>
        </p:nvSpPr>
        <p:spPr>
          <a:xfrm>
            <a:off x="548640" y="3108960"/>
            <a:ext cx="54864" cy="822960"/>
          </a:xfrm>
          <a:prstGeom prst="rect">
            <a:avLst/>
          </a:prstGeom>
          <a:solidFill>
            <a:srgbClr val="F5A623"/>
          </a:solidFill>
          <a:ln/>
        </p:spPr>
        <p:txBody>
          <a:bodyPr/>
          <a:lstStyle/>
          <a:p>
            <a:endParaRPr lang="en-US"/>
          </a:p>
        </p:txBody>
      </p:sp>
      <p:sp>
        <p:nvSpPr>
          <p:cNvPr id="21" name="R2 Model"/>
          <p:cNvSpPr/>
          <p:nvPr/>
        </p:nvSpPr>
        <p:spPr>
          <a:xfrm>
            <a:off x="822960" y="310896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Logistic Regression</a:t>
            </a:r>
            <a:endParaRPr lang="en-US" sz="1550"/>
          </a:p>
        </p:txBody>
      </p:sp>
      <p:sp>
        <p:nvSpPr>
          <p:cNvPr id="22" name="R2 Accuracy"/>
          <p:cNvSpPr/>
          <p:nvPr/>
        </p:nvSpPr>
        <p:spPr>
          <a:xfrm>
            <a:off x="3200000" y="310896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43.4%</a:t>
            </a:r>
            <a:endParaRPr lang="en-US" sz="1400"/>
          </a:p>
        </p:txBody>
      </p:sp>
      <p:sp>
        <p:nvSpPr>
          <p:cNvPr id="23" name="R2 F1"/>
          <p:cNvSpPr/>
          <p:nvPr/>
        </p:nvSpPr>
        <p:spPr>
          <a:xfrm>
            <a:off x="4856000" y="3108960"/>
            <a:ext cx="1656000" cy="822960"/>
          </a:xfrm>
          <a:prstGeom prst="rect">
            <a:avLst/>
          </a:prstGeom>
          <a:noFill/>
          <a:ln/>
        </p:spPr>
        <p:txBody>
          <a:bodyPr wrap="square" lIns="0" tIns="0" rIns="0" bIns="0" rtlCol="0" anchor="ctr"/>
          <a:lstStyle/>
          <a:p>
            <a:pPr marL="0" indent="0" algn="ctr">
              <a:buNone/>
            </a:pPr>
            <a:r>
              <a:rPr lang="en-US" sz="1400" b="1">
                <a:solidFill>
                  <a:srgbClr val="F5A623"/>
                </a:solidFill>
                <a:latin typeface="Georgia" pitchFamily="34" charset="0"/>
                <a:ea typeface="Georgia" pitchFamily="34" charset="-122"/>
                <a:cs typeface="Georgia" pitchFamily="34" charset="-120"/>
              </a:rPr>
              <a:t>0.4510</a:t>
            </a:r>
            <a:endParaRPr lang="en-US" sz="1400"/>
          </a:p>
        </p:txBody>
      </p:sp>
      <p:sp>
        <p:nvSpPr>
          <p:cNvPr id="24" name="R2 Precision"/>
          <p:cNvSpPr/>
          <p:nvPr/>
        </p:nvSpPr>
        <p:spPr>
          <a:xfrm>
            <a:off x="6512000" y="310896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0.3390</a:t>
            </a:r>
            <a:endParaRPr lang="en-US" sz="1400"/>
          </a:p>
        </p:txBody>
      </p:sp>
      <p:sp>
        <p:nvSpPr>
          <p:cNvPr id="25" name="R2 Recall"/>
          <p:cNvSpPr/>
          <p:nvPr/>
        </p:nvSpPr>
        <p:spPr>
          <a:xfrm>
            <a:off x="8168000" y="3108960"/>
            <a:ext cx="1656000" cy="822960"/>
          </a:xfrm>
          <a:prstGeom prst="rect">
            <a:avLst/>
          </a:prstGeom>
          <a:noFill/>
          <a:ln/>
        </p:spPr>
        <p:txBody>
          <a:bodyPr wrap="square" lIns="0" tIns="0" rIns="0" bIns="0" rtlCol="0" anchor="ctr"/>
          <a:lstStyle/>
          <a:p>
            <a:pPr marL="0" indent="0" algn="ctr">
              <a:buNone/>
            </a:pPr>
            <a:r>
              <a:rPr lang="en-US" sz="1400" b="1">
                <a:solidFill>
                  <a:srgbClr val="F5A623"/>
                </a:solidFill>
                <a:latin typeface="Georgia" pitchFamily="34" charset="0"/>
                <a:ea typeface="Georgia" pitchFamily="34" charset="-122"/>
                <a:cs typeface="Georgia" pitchFamily="34" charset="-120"/>
              </a:rPr>
              <a:t>0.6735</a:t>
            </a:r>
            <a:endParaRPr lang="en-US" sz="1400"/>
          </a:p>
        </p:txBody>
      </p:sp>
      <p:sp>
        <p:nvSpPr>
          <p:cNvPr id="26" name="R2 AUC"/>
          <p:cNvSpPr/>
          <p:nvPr/>
        </p:nvSpPr>
        <p:spPr>
          <a:xfrm>
            <a:off x="9824000" y="310896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0.4909</a:t>
            </a:r>
            <a:endParaRPr lang="en-US" sz="1400"/>
          </a:p>
        </p:txBody>
      </p:sp>
      <p:sp>
        <p:nvSpPr>
          <p:cNvPr id="27" name="R3 BG"/>
          <p:cNvSpPr/>
          <p:nvPr/>
        </p:nvSpPr>
        <p:spPr>
          <a:xfrm>
            <a:off x="548640" y="3931920"/>
            <a:ext cx="11091672" cy="822960"/>
          </a:xfrm>
          <a:prstGeom prst="rect">
            <a:avLst/>
          </a:prstGeom>
          <a:solidFill>
            <a:srgbClr val="E7EEFB"/>
          </a:solidFill>
          <a:ln w="12700">
            <a:solidFill>
              <a:srgbClr val="D4DCEA"/>
            </a:solidFill>
            <a:prstDash val="solid"/>
          </a:ln>
        </p:spPr>
        <p:txBody>
          <a:bodyPr/>
          <a:lstStyle/>
          <a:p>
            <a:endParaRPr lang="en-US"/>
          </a:p>
        </p:txBody>
      </p:sp>
      <p:sp>
        <p:nvSpPr>
          <p:cNvPr id="28" name="R3 Accent"/>
          <p:cNvSpPr/>
          <p:nvPr/>
        </p:nvSpPr>
        <p:spPr>
          <a:xfrm>
            <a:off x="548640" y="3931920"/>
            <a:ext cx="54864" cy="822960"/>
          </a:xfrm>
          <a:prstGeom prst="rect">
            <a:avLst/>
          </a:prstGeom>
          <a:solidFill>
            <a:srgbClr val="D4DCEA"/>
          </a:solidFill>
          <a:ln/>
        </p:spPr>
        <p:txBody>
          <a:bodyPr/>
          <a:lstStyle/>
          <a:p>
            <a:endParaRPr lang="en-US"/>
          </a:p>
        </p:txBody>
      </p:sp>
      <p:sp>
        <p:nvSpPr>
          <p:cNvPr id="29" name="R3 Model"/>
          <p:cNvSpPr/>
          <p:nvPr/>
        </p:nvSpPr>
        <p:spPr>
          <a:xfrm>
            <a:off x="822960" y="393192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Random Forest</a:t>
            </a:r>
            <a:endParaRPr lang="en-US" sz="1550"/>
          </a:p>
        </p:txBody>
      </p:sp>
      <p:sp>
        <p:nvSpPr>
          <p:cNvPr id="30" name="R3 Accuracy"/>
          <p:cNvSpPr/>
          <p:nvPr/>
        </p:nvSpPr>
        <p:spPr>
          <a:xfrm>
            <a:off x="3200000" y="393192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55.6%</a:t>
            </a:r>
            <a:endParaRPr lang="en-US" sz="1400"/>
          </a:p>
        </p:txBody>
      </p:sp>
      <p:sp>
        <p:nvSpPr>
          <p:cNvPr id="31" name="R3 F1"/>
          <p:cNvSpPr/>
          <p:nvPr/>
        </p:nvSpPr>
        <p:spPr>
          <a:xfrm>
            <a:off x="4856000" y="393192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0.2286</a:t>
            </a:r>
            <a:endParaRPr lang="en-US" sz="1400"/>
          </a:p>
        </p:txBody>
      </p:sp>
      <p:sp>
        <p:nvSpPr>
          <p:cNvPr id="32" name="R3 Precision"/>
          <p:cNvSpPr/>
          <p:nvPr/>
        </p:nvSpPr>
        <p:spPr>
          <a:xfrm>
            <a:off x="6512000" y="393192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0.2857</a:t>
            </a:r>
            <a:endParaRPr lang="en-US" sz="1400"/>
          </a:p>
        </p:txBody>
      </p:sp>
      <p:sp>
        <p:nvSpPr>
          <p:cNvPr id="33" name="R3 Recall"/>
          <p:cNvSpPr/>
          <p:nvPr/>
        </p:nvSpPr>
        <p:spPr>
          <a:xfrm>
            <a:off x="8168000" y="393192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0.1905</a:t>
            </a:r>
            <a:endParaRPr lang="en-US" sz="1400"/>
          </a:p>
        </p:txBody>
      </p:sp>
      <p:sp>
        <p:nvSpPr>
          <p:cNvPr id="34" name="R3 AUC"/>
          <p:cNvSpPr/>
          <p:nvPr/>
        </p:nvSpPr>
        <p:spPr>
          <a:xfrm>
            <a:off x="9824000" y="393192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0.4698</a:t>
            </a:r>
            <a:endParaRPr lang="en-US" sz="1400"/>
          </a:p>
        </p:txBody>
      </p:sp>
      <p:sp>
        <p:nvSpPr>
          <p:cNvPr id="35" name="R4 BG"/>
          <p:cNvSpPr/>
          <p:nvPr/>
        </p:nvSpPr>
        <p:spPr>
          <a:xfrm>
            <a:off x="548640" y="4754880"/>
            <a:ext cx="11091672" cy="822960"/>
          </a:xfrm>
          <a:prstGeom prst="rect">
            <a:avLst/>
          </a:prstGeom>
          <a:solidFill>
            <a:srgbClr val="F2F5FB"/>
          </a:solidFill>
          <a:ln w="12700">
            <a:solidFill>
              <a:srgbClr val="D4DCEA"/>
            </a:solidFill>
            <a:prstDash val="solid"/>
          </a:ln>
        </p:spPr>
        <p:txBody>
          <a:bodyPr/>
          <a:lstStyle/>
          <a:p>
            <a:endParaRPr lang="en-US"/>
          </a:p>
        </p:txBody>
      </p:sp>
      <p:sp>
        <p:nvSpPr>
          <p:cNvPr id="36" name="R4 Accent"/>
          <p:cNvSpPr/>
          <p:nvPr/>
        </p:nvSpPr>
        <p:spPr>
          <a:xfrm>
            <a:off x="548640" y="4754880"/>
            <a:ext cx="54864" cy="822960"/>
          </a:xfrm>
          <a:prstGeom prst="rect">
            <a:avLst/>
          </a:prstGeom>
          <a:solidFill>
            <a:srgbClr val="D4DCEA"/>
          </a:solidFill>
          <a:ln/>
        </p:spPr>
        <p:txBody>
          <a:bodyPr/>
          <a:lstStyle/>
          <a:p>
            <a:endParaRPr lang="en-US"/>
          </a:p>
        </p:txBody>
      </p:sp>
      <p:sp>
        <p:nvSpPr>
          <p:cNvPr id="37" name="R4 Model"/>
          <p:cNvSpPr/>
          <p:nvPr/>
        </p:nvSpPr>
        <p:spPr>
          <a:xfrm>
            <a:off x="822960" y="475488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XGBoost</a:t>
            </a:r>
            <a:endParaRPr lang="en-US" sz="1550"/>
          </a:p>
        </p:txBody>
      </p:sp>
      <p:sp>
        <p:nvSpPr>
          <p:cNvPr id="38" name="R4 Accuracy"/>
          <p:cNvSpPr/>
          <p:nvPr/>
        </p:nvSpPr>
        <p:spPr>
          <a:xfrm>
            <a:off x="3200000" y="475488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56.6%</a:t>
            </a:r>
            <a:endParaRPr lang="en-US" sz="1400"/>
          </a:p>
        </p:txBody>
      </p:sp>
      <p:sp>
        <p:nvSpPr>
          <p:cNvPr id="39" name="R4 F1"/>
          <p:cNvSpPr/>
          <p:nvPr/>
        </p:nvSpPr>
        <p:spPr>
          <a:xfrm>
            <a:off x="4856000" y="475488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0.2688</a:t>
            </a:r>
            <a:endParaRPr lang="en-US" sz="1400"/>
          </a:p>
        </p:txBody>
      </p:sp>
      <p:sp>
        <p:nvSpPr>
          <p:cNvPr id="40" name="R4 Precision"/>
          <p:cNvSpPr/>
          <p:nvPr/>
        </p:nvSpPr>
        <p:spPr>
          <a:xfrm>
            <a:off x="6512000" y="475488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0.3208</a:t>
            </a:r>
            <a:endParaRPr lang="en-US" sz="1400"/>
          </a:p>
        </p:txBody>
      </p:sp>
      <p:sp>
        <p:nvSpPr>
          <p:cNvPr id="41" name="R4 Recall"/>
          <p:cNvSpPr/>
          <p:nvPr/>
        </p:nvSpPr>
        <p:spPr>
          <a:xfrm>
            <a:off x="8168000" y="475488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0.2313</a:t>
            </a:r>
            <a:endParaRPr lang="en-US" sz="1400"/>
          </a:p>
        </p:txBody>
      </p:sp>
      <p:sp>
        <p:nvSpPr>
          <p:cNvPr id="42" name="R4 AUC"/>
          <p:cNvSpPr/>
          <p:nvPr/>
        </p:nvSpPr>
        <p:spPr>
          <a:xfrm>
            <a:off x="9824000" y="475488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0.4866</a:t>
            </a:r>
            <a:endParaRPr lang="en-US" sz="1400"/>
          </a:p>
        </p:txBody>
      </p:sp>
      <p:sp>
        <p:nvSpPr>
          <p:cNvPr id="43" name="Summary"/>
          <p:cNvSpPr/>
          <p:nvPr/>
        </p:nvSpPr>
        <p:spPr>
          <a:xfrm>
            <a:off x="548640" y="5561408"/>
            <a:ext cx="11091672" cy="760000"/>
          </a:xfrm>
          <a:prstGeom prst="rect">
            <a:avLst/>
          </a:prstGeom>
          <a:noFill/>
          <a:ln/>
        </p:spPr>
        <p:txBody>
          <a:bodyPr wrap="square" lIns="0" tIns="0" rIns="0" bIns="0" rtlCol="0" anchor="ctr"/>
          <a:lstStyle/>
          <a:p>
            <a:pPr marL="0" indent="0" algn="l">
              <a:lnSpc>
                <a:spcPct val="105000"/>
              </a:lnSpc>
              <a:buNone/>
            </a:pPr>
            <a:r>
              <a:rPr lang="en-US" sz="1300" i="1">
                <a:solidFill>
                  <a:srgbClr val="1F52D6"/>
                </a:solidFill>
                <a:latin typeface="Calibri" pitchFamily="34" charset="0"/>
                <a:ea typeface="Calibri" pitchFamily="34" charset="-122"/>
                <a:cs typeface="Calibri" pitchFamily="34" charset="-120"/>
              </a:rPr>
              <a:t>Because the primary business objective is customer retention, recall was prioritized over overall accuracy when evaluating model performance. Although Logistic Regression produced the lowest overall accuracy, it achieved the highest recall, successfully identifying the greatest number of customers at risk of churning. This makes it the most appropriate model for supporting proactive customer retention strategies.</a:t>
            </a:r>
            <a:endParaRPr lang="en-US" sz="1300"/>
          </a:p>
        </p:txBody>
      </p:sp>
      <p:sp>
        <p:nvSpPr>
          <p:cNvPr id="44" name="Caption"/>
          <p:cNvSpPr/>
          <p:nvPr/>
        </p:nvSpPr>
        <p:spPr>
          <a:xfrm>
            <a:off x="548640" y="6199632"/>
            <a:ext cx="9601200" cy="256032"/>
          </a:xfrm>
          <a:prstGeom prst="rect">
            <a:avLst/>
          </a:prstGeom>
          <a:noFill/>
          <a:ln/>
        </p:spPr>
        <p:txBody>
          <a:bodyPr wrap="square" lIns="0" tIns="0" rIns="0" bIns="0" rtlCol="0" anchor="ctr"/>
          <a:lstStyle/>
          <a:p>
            <a:pPr marL="0" indent="0">
              <a:buNone/>
            </a:pPr>
            <a:r>
              <a:rPr lang="en-US" sz="950" i="1">
                <a:solidFill>
                  <a:srgbClr val="5C6B85"/>
                </a:solidFill>
                <a:latin typeface="Calibri" pitchFamily="34" charset="0"/>
                <a:ea typeface="Calibri" pitchFamily="34" charset="-122"/>
                <a:cs typeface="Calibri" pitchFamily="34" charset="-120"/>
              </a:rPr>
              <a:t>Final model results from the classification notebook; recall is weighted most heavily per the methodology.</a:t>
            </a:r>
            <a:endParaRPr lang="en-US" sz="950"/>
          </a:p>
        </p:txBody>
      </p:sp>
      <p:sp>
        <p:nvSpPr>
          <p:cNvPr id="45" name="Footer"/>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46" name="Page Number"/>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09</a:t>
            </a:r>
            <a:endParaRPr lang="en-US" sz="900"/>
          </a:p>
        </p:txBody>
      </p:sp>
      <p:sp>
        <p:nvSpPr>
          <p:cNvPr id="47" name="Recommended Model Card"/>
          <p:cNvSpPr/>
          <p:nvPr/>
        </p:nvSpPr>
        <p:spPr>
          <a:xfrm>
            <a:off x="8686800" y="300000"/>
            <a:ext cx="2953512" cy="1300000"/>
          </a:xfrm>
          <a:prstGeom prst="rect">
            <a:avLst/>
          </a:prstGeom>
          <a:solidFill>
            <a:srgbClr val="1F52D6"/>
          </a:solidFill>
          <a:ln/>
          <a:effectLst>
            <a:outerShdw blurRad="101600" dist="25400" dir="5400000" algn="bl" rotWithShape="0">
              <a:srgbClr val="8CA0C4">
                <a:alpha val="28000"/>
              </a:srgbClr>
            </a:outerShdw>
          </a:effectLst>
        </p:spPr>
        <p:txBody>
          <a:bodyPr/>
          <a:lstStyle/>
          <a:p>
            <a:endParaRPr lang="en-US"/>
          </a:p>
        </p:txBody>
      </p:sp>
      <p:sp>
        <p:nvSpPr>
          <p:cNvPr id="48" name="Recommended Model Accent"/>
          <p:cNvSpPr/>
          <p:nvPr/>
        </p:nvSpPr>
        <p:spPr>
          <a:xfrm>
            <a:off x="8686800" y="300000"/>
            <a:ext cx="2953512" cy="68580"/>
          </a:xfrm>
          <a:prstGeom prst="rect">
            <a:avLst/>
          </a:prstGeom>
          <a:solidFill>
            <a:srgbClr val="F5A623"/>
          </a:solidFill>
          <a:ln/>
        </p:spPr>
        <p:txBody>
          <a:bodyPr/>
          <a:lstStyle/>
          <a:p>
            <a:endParaRPr lang="en-US"/>
          </a:p>
        </p:txBody>
      </p:sp>
      <p:sp>
        <p:nvSpPr>
          <p:cNvPr id="49" name="Recommended Model Text"/>
          <p:cNvSpPr/>
          <p:nvPr/>
        </p:nvSpPr>
        <p:spPr>
          <a:xfrm>
            <a:off x="8887320" y="405000"/>
            <a:ext cx="2552472" cy="1150000"/>
          </a:xfrm>
          <a:prstGeom prst="rect">
            <a:avLst/>
          </a:prstGeom>
          <a:noFill/>
          <a:ln/>
        </p:spPr>
        <p:txBody>
          <a:bodyPr wrap="square" lIns="0" tIns="0" rIns="0" bIns="0" rtlCol="0" anchor="ctr"/>
          <a:lstStyle/>
          <a:p>
            <a:pPr marL="0" indent="0" algn="l">
              <a:buNone/>
            </a:pPr>
            <a:r>
              <a:rPr lang="en-US" sz="1000" b="1" spc="120">
                <a:solidFill>
                  <a:srgbClr val="F5A623"/>
                </a:solidFill>
                <a:latin typeface="Calibri" pitchFamily="34" charset="0"/>
                <a:ea typeface="Calibri" pitchFamily="34" charset="-122"/>
                <a:cs typeface="Calibri" pitchFamily="34" charset="-120"/>
              </a:rPr>
              <a:t>RECOMMENDED MODEL</a:t>
            </a:r>
            <a:endParaRPr lang="en-US" sz="1000" b="1"/>
          </a:p>
          <a:p>
            <a:pPr marL="0" indent="0" algn="l">
              <a:buNone/>
            </a:pPr>
            <a:r>
              <a:rPr lang="en-US" sz="1800" b="1">
                <a:solidFill>
                  <a:srgbClr val="FFFFFF"/>
                </a:solidFill>
                <a:latin typeface="Georgia" pitchFamily="34" charset="0"/>
                <a:ea typeface="Georgia" pitchFamily="34" charset="-122"/>
                <a:cs typeface="Georgia" pitchFamily="34" charset="-120"/>
              </a:rPr>
              <a:t>Logistic Regression</a:t>
            </a:r>
            <a:endParaRPr lang="en-US" sz="1800" b="1"/>
          </a:p>
          <a:p>
            <a:pPr marL="0" indent="0" algn="l">
              <a:buNone/>
            </a:pPr>
            <a:r>
              <a:rPr lang="en-US" sz="1000">
                <a:solidFill>
                  <a:srgbClr val="DCE6FB"/>
                </a:solidFill>
                <a:latin typeface="Calibri" pitchFamily="34" charset="0"/>
                <a:ea typeface="Calibri" pitchFamily="34" charset="-122"/>
                <a:cs typeface="Calibri" pitchFamily="34" charset="-120"/>
              </a:rPr>
              <a:t>Every missed churner is lost revenue — best recall (0.67) catches the most.</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BUSINESS INSIGHTS</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What drives churn</a:t>
            </a:r>
            <a:endParaRPr lang="en-US" sz="3000" dirty="0"/>
          </a:p>
        </p:txBody>
      </p:sp>
      <p:sp>
        <p:nvSpPr>
          <p:cNvPr id="4" name="Shape 2"/>
          <p:cNvSpPr/>
          <p:nvPr/>
        </p:nvSpPr>
        <p:spPr>
          <a:xfrm>
            <a:off x="54864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91440" cy="1965960"/>
          </a:xfrm>
          <a:prstGeom prst="rect">
            <a:avLst/>
          </a:prstGeom>
          <a:solidFill>
            <a:srgbClr val="1F52D6"/>
          </a:solidFill>
          <a:ln/>
        </p:spPr>
        <p:txBody>
          <a:bodyPr/>
          <a:lstStyle/>
          <a:p>
            <a:endParaRPr lang="en-US"/>
          </a:p>
        </p:txBody>
      </p:sp>
      <p:sp>
        <p:nvSpPr>
          <p:cNvPr id="6" name="Text 4"/>
          <p:cNvSpPr/>
          <p:nvPr/>
        </p:nvSpPr>
        <p:spPr>
          <a:xfrm>
            <a:off x="868680" y="2011680"/>
            <a:ext cx="1005840" cy="64008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01</a:t>
            </a:r>
            <a:endParaRPr lang="en-US" sz="3000" dirty="0"/>
          </a:p>
        </p:txBody>
      </p:sp>
      <p:sp>
        <p:nvSpPr>
          <p:cNvPr id="7" name="Text 5"/>
          <p:cNvSpPr/>
          <p:nvPr/>
        </p:nvSpPr>
        <p:spPr>
          <a:xfrm>
            <a:off x="1783080" y="2057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Frequent Customers Are More Loyal</a:t>
            </a:r>
            <a:endParaRPr lang="en-US" sz="1800" dirty="0"/>
          </a:p>
        </p:txBody>
      </p:sp>
      <p:sp>
        <p:nvSpPr>
          <p:cNvPr id="8" name="Text 6"/>
          <p:cNvSpPr/>
          <p:nvPr/>
        </p:nvSpPr>
        <p:spPr>
          <a:xfrm>
            <a:off x="1783080" y="2606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Customers who purchase more frequently are significantly less likely to churn, making purchase </a:t>
            </a:r>
            <a:r>
              <a:rPr lang="en-US" sz="1350" dirty="0">
                <a:solidFill>
                  <a:srgbClr val="5C6B85"/>
                </a:solidFill>
                <a:latin typeface="Calibri" pitchFamily="34" charset="0"/>
                <a:ea typeface="Calibri" pitchFamily="34" charset="-122"/>
                <a:cs typeface="Calibri" pitchFamily="34" charset="-120"/>
              </a:rPr>
              <a:t>frequency </a:t>
            </a:r>
            <a:r>
              <a:rPr lang="en-US" sz="1350">
                <a:solidFill>
                  <a:srgbClr val="5C6B85"/>
                </a:solidFill>
                <a:latin typeface="Calibri" pitchFamily="34" charset="0"/>
                <a:ea typeface="Calibri" pitchFamily="34" charset="-122"/>
                <a:cs typeface="Calibri" pitchFamily="34" charset="-120"/>
              </a:rPr>
              <a:t>one of the strongest indicators</a:t>
            </a:r>
            <a:r>
              <a:rPr lang="en-US" sz="1350" dirty="0">
                <a:solidFill>
                  <a:srgbClr val="5C6B85"/>
                </a:solidFill>
                <a:latin typeface="Calibri" pitchFamily="34" charset="0"/>
                <a:ea typeface="Calibri" pitchFamily="34" charset="-122"/>
                <a:cs typeface="Calibri" pitchFamily="34" charset="-120"/>
              </a:rPr>
              <a:t> of customer loyalty.</a:t>
            </a:r>
            <a:endParaRPr lang="en-US" sz="1350"/>
          </a:p>
        </p:txBody>
      </p:sp>
      <p:sp>
        <p:nvSpPr>
          <p:cNvPr id="9" name="Shape 7"/>
          <p:cNvSpPr/>
          <p:nvPr/>
        </p:nvSpPr>
        <p:spPr>
          <a:xfrm>
            <a:off x="630936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0" name="Shape 8"/>
          <p:cNvSpPr/>
          <p:nvPr/>
        </p:nvSpPr>
        <p:spPr>
          <a:xfrm>
            <a:off x="6309360" y="1783080"/>
            <a:ext cx="91440" cy="1965960"/>
          </a:xfrm>
          <a:prstGeom prst="rect">
            <a:avLst/>
          </a:prstGeom>
          <a:solidFill>
            <a:srgbClr val="1F52D6"/>
          </a:solidFill>
          <a:ln/>
        </p:spPr>
        <p:txBody>
          <a:bodyPr/>
          <a:lstStyle/>
          <a:p>
            <a:endParaRPr lang="en-US"/>
          </a:p>
        </p:txBody>
      </p:sp>
      <p:sp>
        <p:nvSpPr>
          <p:cNvPr id="11" name="Text 9"/>
          <p:cNvSpPr/>
          <p:nvPr/>
        </p:nvSpPr>
        <p:spPr>
          <a:xfrm>
            <a:off x="6629400" y="2011680"/>
            <a:ext cx="1005840" cy="64008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02</a:t>
            </a:r>
            <a:endParaRPr lang="en-US" sz="3000" dirty="0"/>
          </a:p>
        </p:txBody>
      </p:sp>
      <p:sp>
        <p:nvSpPr>
          <p:cNvPr id="12" name="Text 10"/>
          <p:cNvSpPr/>
          <p:nvPr/>
        </p:nvSpPr>
        <p:spPr>
          <a:xfrm>
            <a:off x="7543800" y="2057400"/>
            <a:ext cx="3886200" cy="502920"/>
          </a:xfrm>
          <a:prstGeom prst="rect">
            <a:avLst/>
          </a:prstGeom>
          <a:noFill/>
          <a:ln/>
        </p:spPr>
        <p:txBody>
          <a:bodyPr wrap="square" lIns="0" tIns="0" rIns="0" bIns="0" rtlCol="0" anchor="ctr"/>
          <a:lstStyle/>
          <a:p>
            <a:pPr marL="0" indent="0" algn="l">
              <a:buNone/>
            </a:pPr>
            <a:r>
              <a:rPr lang="en-US" sz="1800" b="1" dirty="0">
                <a:solidFill>
                  <a:srgbClr val="16233B"/>
                </a:solidFill>
                <a:latin typeface="Georgia" pitchFamily="34" charset="0"/>
                <a:ea typeface="Georgia" pitchFamily="34" charset="-122"/>
                <a:cs typeface="Georgia" pitchFamily="34" charset="-120"/>
              </a:rPr>
              <a:t>Low</a:t>
            </a:r>
            <a:r>
              <a:rPr lang="en-US" sz="1800" b="1">
                <a:solidFill>
                  <a:srgbClr val="16233B"/>
                </a:solidFill>
                <a:latin typeface="Georgia" pitchFamily="34" charset="0"/>
                <a:ea typeface="Georgia" pitchFamily="34" charset="-122"/>
                <a:cs typeface="Georgia" pitchFamily="34" charset="-120"/>
              </a:rPr>
              <a:t> Spending Indicates Higher Risk</a:t>
            </a:r>
            <a:endParaRPr lang="en-US" sz="1800" dirty="0"/>
          </a:p>
        </p:txBody>
      </p:sp>
      <p:sp>
        <p:nvSpPr>
          <p:cNvPr id="13" name="Text 11"/>
          <p:cNvSpPr/>
          <p:nvPr/>
        </p:nvSpPr>
        <p:spPr>
          <a:xfrm>
            <a:off x="7543800" y="2606040"/>
            <a:ext cx="3886200" cy="1104900"/>
          </a:xfrm>
          <a:prstGeom prst="rect">
            <a:avLst/>
          </a:prstGeom>
          <a:noFill/>
          <a:ln/>
        </p:spPr>
        <p:txBody>
          <a:bodyPr wrap="square" lIns="0" tIns="0" rIns="0" bIns="0" rtlCol="0" anchor="ctr"/>
          <a:lstStyle/>
          <a:p>
            <a:pPr marL="0" indent="0" algn="l">
              <a:lnSpc>
                <a:spcPct val="104000"/>
              </a:lnSpc>
              <a:buNone/>
            </a:pPr>
            <a:r>
              <a:rPr lang="en-US" sz="1350" dirty="0">
                <a:solidFill>
                  <a:srgbClr val="5C6B85"/>
                </a:solidFill>
                <a:latin typeface="Calibri" pitchFamily="34" charset="0"/>
                <a:ea typeface="Calibri" pitchFamily="34" charset="-122"/>
                <a:cs typeface="Calibri" pitchFamily="34" charset="-120"/>
              </a:rPr>
              <a:t>Customers with infrequent purchases </a:t>
            </a:r>
            <a:r>
              <a:rPr lang="en-US" sz="1350">
                <a:solidFill>
                  <a:srgbClr val="5C6B85"/>
                </a:solidFill>
                <a:latin typeface="Calibri" pitchFamily="34" charset="0"/>
                <a:ea typeface="Calibri" pitchFamily="34" charset="-122"/>
                <a:cs typeface="Calibri" pitchFamily="34" charset="-120"/>
              </a:rPr>
              <a:t>and lower overall spending </a:t>
            </a:r>
            <a:r>
              <a:rPr lang="en-US" sz="1350" dirty="0">
                <a:solidFill>
                  <a:srgbClr val="5C6B85"/>
                </a:solidFill>
                <a:latin typeface="Calibri" pitchFamily="34" charset="0"/>
                <a:ea typeface="Calibri" pitchFamily="34" charset="-122"/>
                <a:cs typeface="Calibri" pitchFamily="34" charset="-120"/>
              </a:rPr>
              <a:t>are more likely to </a:t>
            </a:r>
            <a:r>
              <a:rPr lang="en-US" sz="1350">
                <a:solidFill>
                  <a:srgbClr val="5C6B85"/>
                </a:solidFill>
                <a:latin typeface="Calibri" pitchFamily="34" charset="0"/>
                <a:ea typeface="Calibri" pitchFamily="34" charset="-122"/>
                <a:cs typeface="Calibri" pitchFamily="34" charset="-120"/>
              </a:rPr>
              <a:t>discontinue purchasing and should be prioritized for retention efforts</a:t>
            </a:r>
            <a:r>
              <a:rPr lang="en-US" sz="1350" dirty="0">
                <a:solidFill>
                  <a:srgbClr val="5C6B85"/>
                </a:solidFill>
                <a:latin typeface="Calibri" pitchFamily="34" charset="0"/>
                <a:ea typeface="Calibri" pitchFamily="34" charset="-122"/>
                <a:cs typeface="Calibri" pitchFamily="34" charset="-120"/>
              </a:rPr>
              <a:t>.</a:t>
            </a:r>
            <a:endParaRPr lang="en-US" sz="1350"/>
          </a:p>
        </p:txBody>
      </p:sp>
      <p:sp>
        <p:nvSpPr>
          <p:cNvPr id="14" name="Shape 12"/>
          <p:cNvSpPr/>
          <p:nvPr/>
        </p:nvSpPr>
        <p:spPr>
          <a:xfrm>
            <a:off x="54864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5" name="Shape 13"/>
          <p:cNvSpPr/>
          <p:nvPr/>
        </p:nvSpPr>
        <p:spPr>
          <a:xfrm>
            <a:off x="548640" y="4069080"/>
            <a:ext cx="91440" cy="1965960"/>
          </a:xfrm>
          <a:prstGeom prst="rect">
            <a:avLst/>
          </a:prstGeom>
          <a:solidFill>
            <a:srgbClr val="1F52D6"/>
          </a:solidFill>
          <a:ln/>
        </p:spPr>
        <p:txBody>
          <a:bodyPr/>
          <a:lstStyle/>
          <a:p>
            <a:endParaRPr lang="en-US"/>
          </a:p>
        </p:txBody>
      </p:sp>
      <p:sp>
        <p:nvSpPr>
          <p:cNvPr id="16" name="Text 14"/>
          <p:cNvSpPr/>
          <p:nvPr/>
        </p:nvSpPr>
        <p:spPr>
          <a:xfrm>
            <a:off x="868680" y="4297680"/>
            <a:ext cx="1005840" cy="64008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03</a:t>
            </a:r>
            <a:endParaRPr lang="en-US" sz="3000" dirty="0"/>
          </a:p>
        </p:txBody>
      </p:sp>
      <p:sp>
        <p:nvSpPr>
          <p:cNvPr id="17" name="Text 15"/>
          <p:cNvSpPr/>
          <p:nvPr/>
        </p:nvSpPr>
        <p:spPr>
          <a:xfrm>
            <a:off x="1783080" y="4343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Recent Activity Predicts Future Engagement</a:t>
            </a:r>
            <a:endParaRPr lang="en-US" sz="1800" dirty="0"/>
          </a:p>
        </p:txBody>
      </p:sp>
      <p:sp>
        <p:nvSpPr>
          <p:cNvPr id="18" name="Text 16"/>
          <p:cNvSpPr/>
          <p:nvPr/>
        </p:nvSpPr>
        <p:spPr>
          <a:xfrm>
            <a:off x="1783080" y="4892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Customers who have purchased recently are more likely to remain active, while extended periods without purchases often indicate </a:t>
            </a:r>
            <a:r>
              <a:rPr lang="en-US" sz="1350" dirty="0">
                <a:solidFill>
                  <a:srgbClr val="5C6B85"/>
                </a:solidFill>
                <a:latin typeface="Calibri" pitchFamily="34" charset="0"/>
                <a:ea typeface="Calibri" pitchFamily="34" charset="-122"/>
                <a:cs typeface="Calibri" pitchFamily="34" charset="-120"/>
              </a:rPr>
              <a:t>an </a:t>
            </a:r>
            <a:r>
              <a:rPr lang="en-US" sz="1350">
                <a:solidFill>
                  <a:srgbClr val="5C6B85"/>
                </a:solidFill>
                <a:latin typeface="Calibri" pitchFamily="34" charset="0"/>
                <a:ea typeface="Calibri" pitchFamily="34" charset="-122"/>
                <a:cs typeface="Calibri" pitchFamily="34" charset="-120"/>
              </a:rPr>
              <a:t>increased risk </a:t>
            </a:r>
            <a:r>
              <a:rPr lang="en-US" sz="1350" dirty="0">
                <a:solidFill>
                  <a:srgbClr val="5C6B85"/>
                </a:solidFill>
                <a:latin typeface="Calibri" pitchFamily="34" charset="0"/>
                <a:ea typeface="Calibri" pitchFamily="34" charset="-122"/>
                <a:cs typeface="Calibri" pitchFamily="34" charset="-120"/>
              </a:rPr>
              <a:t>of </a:t>
            </a:r>
            <a:r>
              <a:rPr lang="en-US" sz="1350">
                <a:solidFill>
                  <a:srgbClr val="5C6B85"/>
                </a:solidFill>
                <a:latin typeface="Calibri" pitchFamily="34" charset="0"/>
                <a:ea typeface="Calibri" pitchFamily="34" charset="-122"/>
                <a:cs typeface="Calibri" pitchFamily="34" charset="-120"/>
              </a:rPr>
              <a:t>churn</a:t>
            </a:r>
            <a:r>
              <a:rPr lang="en-US" sz="1350" dirty="0">
                <a:solidFill>
                  <a:srgbClr val="5C6B85"/>
                </a:solidFill>
                <a:latin typeface="Calibri" pitchFamily="34" charset="0"/>
                <a:ea typeface="Calibri" pitchFamily="34" charset="-122"/>
                <a:cs typeface="Calibri" pitchFamily="34" charset="-120"/>
              </a:rPr>
              <a:t>.</a:t>
            </a:r>
            <a:endParaRPr lang="en-US" sz="1350"/>
          </a:p>
        </p:txBody>
      </p:sp>
      <p:sp>
        <p:nvSpPr>
          <p:cNvPr id="19" name="Shape 17"/>
          <p:cNvSpPr/>
          <p:nvPr/>
        </p:nvSpPr>
        <p:spPr>
          <a:xfrm>
            <a:off x="630936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0" name="Shape 18"/>
          <p:cNvSpPr/>
          <p:nvPr/>
        </p:nvSpPr>
        <p:spPr>
          <a:xfrm>
            <a:off x="6309360" y="4069080"/>
            <a:ext cx="91440" cy="1965960"/>
          </a:xfrm>
          <a:prstGeom prst="rect">
            <a:avLst/>
          </a:prstGeom>
          <a:solidFill>
            <a:srgbClr val="1F52D6"/>
          </a:solidFill>
          <a:ln/>
        </p:spPr>
        <p:txBody>
          <a:bodyPr/>
          <a:lstStyle/>
          <a:p>
            <a:endParaRPr lang="en-US"/>
          </a:p>
        </p:txBody>
      </p:sp>
      <p:sp>
        <p:nvSpPr>
          <p:cNvPr id="21" name="Text 19"/>
          <p:cNvSpPr/>
          <p:nvPr/>
        </p:nvSpPr>
        <p:spPr>
          <a:xfrm>
            <a:off x="6629400" y="4297680"/>
            <a:ext cx="1005840" cy="64008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04</a:t>
            </a:r>
            <a:endParaRPr lang="en-US" sz="3000" dirty="0"/>
          </a:p>
        </p:txBody>
      </p:sp>
      <p:sp>
        <p:nvSpPr>
          <p:cNvPr id="22" name="Text 20"/>
          <p:cNvSpPr/>
          <p:nvPr/>
        </p:nvSpPr>
        <p:spPr>
          <a:xfrm>
            <a:off x="7543800" y="4343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Customer </a:t>
            </a:r>
            <a:r>
              <a:rPr lang="en-US" sz="1800" b="1" dirty="0">
                <a:solidFill>
                  <a:srgbClr val="16233B"/>
                </a:solidFill>
                <a:latin typeface="Georgia" pitchFamily="34" charset="0"/>
                <a:ea typeface="Georgia" pitchFamily="34" charset="-122"/>
                <a:cs typeface="Georgia" pitchFamily="34" charset="-120"/>
              </a:rPr>
              <a:t>Segmentation </a:t>
            </a:r>
            <a:r>
              <a:rPr lang="en-US" sz="1800" b="1">
                <a:solidFill>
                  <a:srgbClr val="16233B"/>
                </a:solidFill>
                <a:latin typeface="Georgia" pitchFamily="34" charset="0"/>
                <a:ea typeface="Georgia" pitchFamily="34" charset="-122"/>
                <a:cs typeface="Georgia" pitchFamily="34" charset="-120"/>
              </a:rPr>
              <a:t>Improves Marketing</a:t>
            </a:r>
            <a:endParaRPr lang="en-US" sz="1800" dirty="0"/>
          </a:p>
        </p:txBody>
      </p:sp>
      <p:sp>
        <p:nvSpPr>
          <p:cNvPr id="23" name="Text 21"/>
          <p:cNvSpPr/>
          <p:nvPr/>
        </p:nvSpPr>
        <p:spPr>
          <a:xfrm>
            <a:off x="7543800" y="4892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Segmenting customers based on purchasing behavior enables more personalized marketing campaigns, increasing customer engagement while improving </a:t>
            </a:r>
            <a:r>
              <a:rPr lang="en-US" sz="1350" dirty="0">
                <a:solidFill>
                  <a:srgbClr val="5C6B85"/>
                </a:solidFill>
                <a:latin typeface="Calibri" pitchFamily="34" charset="0"/>
                <a:ea typeface="Calibri" pitchFamily="34" charset="-122"/>
                <a:cs typeface="Calibri" pitchFamily="34" charset="-120"/>
              </a:rPr>
              <a:t>marketing </a:t>
            </a:r>
            <a:r>
              <a:rPr lang="en-US" sz="1350">
                <a:solidFill>
                  <a:srgbClr val="5C6B85"/>
                </a:solidFill>
                <a:latin typeface="Calibri" pitchFamily="34" charset="0"/>
                <a:ea typeface="Calibri" pitchFamily="34" charset="-122"/>
                <a:cs typeface="Calibri" pitchFamily="34" charset="-120"/>
              </a:rPr>
              <a:t>efficiency</a:t>
            </a:r>
            <a:r>
              <a:rPr lang="en-US" sz="1350" dirty="0">
                <a:solidFill>
                  <a:srgbClr val="5C6B85"/>
                </a:solidFill>
                <a:latin typeface="Calibri" pitchFamily="34" charset="0"/>
                <a:ea typeface="Calibri" pitchFamily="34" charset="-122"/>
                <a:cs typeface="Calibri" pitchFamily="34" charset="-120"/>
              </a:rPr>
              <a:t>.</a:t>
            </a:r>
            <a:endParaRPr lang="en-US" sz="1350"/>
          </a:p>
        </p:txBody>
      </p:sp>
      <p:sp>
        <p:nvSpPr>
          <p:cNvPr id="24" name="Text 22"/>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25" name="Text 23"/>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dirty="0">
                <a:solidFill>
                  <a:srgbClr val="1F52D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CUSTOMER SEGMENTATION</a:t>
            </a:r>
            <a:endParaRPr lang="en-US" sz="125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How we built the segments</a:t>
            </a:r>
            <a:endParaRPr lang="en-US" sz="3000"/>
          </a:p>
        </p:txBody>
      </p:sp>
      <p:sp>
        <p:nvSpPr>
          <p:cNvPr id="4" name="Shape 2"/>
          <p:cNvSpPr/>
          <p:nvPr/>
        </p:nvSpPr>
        <p:spPr>
          <a:xfrm>
            <a:off x="54864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91440" cy="1965960"/>
          </a:xfrm>
          <a:prstGeom prst="rect">
            <a:avLst/>
          </a:prstGeom>
          <a:solidFill>
            <a:srgbClr val="1F52D6"/>
          </a:solidFill>
          <a:ln/>
        </p:spPr>
        <p:txBody>
          <a:bodyPr/>
          <a:lstStyle/>
          <a:p>
            <a:endParaRPr lang="en-US"/>
          </a:p>
        </p:txBody>
      </p:sp>
      <p:sp>
        <p:nvSpPr>
          <p:cNvPr id="6" name="Text 4"/>
          <p:cNvSpPr/>
          <p:nvPr/>
        </p:nvSpPr>
        <p:spPr>
          <a:xfrm>
            <a:off x="868680" y="2011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01</a:t>
            </a:r>
            <a:endParaRPr lang="en-US" sz="3000"/>
          </a:p>
        </p:txBody>
      </p:sp>
      <p:sp>
        <p:nvSpPr>
          <p:cNvPr id="7" name="Text 5"/>
          <p:cNvSpPr/>
          <p:nvPr/>
        </p:nvSpPr>
        <p:spPr>
          <a:xfrm>
            <a:off x="1783080" y="2057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Scale the Features</a:t>
            </a:r>
            <a:endParaRPr lang="en-US" sz="1800"/>
          </a:p>
        </p:txBody>
      </p:sp>
      <p:sp>
        <p:nvSpPr>
          <p:cNvPr id="8" name="Text 6"/>
          <p:cNvSpPr/>
          <p:nvPr/>
        </p:nvSpPr>
        <p:spPr>
          <a:xfrm>
            <a:off x="1783080" y="2606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Standardized five behavioral features—frequency, recency, tenure, monetary value, and unique items—across 2,130 customers so no single metric dominated the distance calculation.</a:t>
            </a:r>
            <a:endParaRPr lang="en-US" sz="1350"/>
          </a:p>
        </p:txBody>
      </p:sp>
      <p:sp>
        <p:nvSpPr>
          <p:cNvPr id="9" name="Shape 7"/>
          <p:cNvSpPr/>
          <p:nvPr/>
        </p:nvSpPr>
        <p:spPr>
          <a:xfrm>
            <a:off x="630936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0" name="Shape 8"/>
          <p:cNvSpPr/>
          <p:nvPr/>
        </p:nvSpPr>
        <p:spPr>
          <a:xfrm>
            <a:off x="6309360" y="1783080"/>
            <a:ext cx="91440" cy="1965960"/>
          </a:xfrm>
          <a:prstGeom prst="rect">
            <a:avLst/>
          </a:prstGeom>
          <a:solidFill>
            <a:srgbClr val="1F52D6"/>
          </a:solidFill>
          <a:ln/>
        </p:spPr>
        <p:txBody>
          <a:bodyPr/>
          <a:lstStyle/>
          <a:p>
            <a:endParaRPr lang="en-US"/>
          </a:p>
        </p:txBody>
      </p:sp>
      <p:sp>
        <p:nvSpPr>
          <p:cNvPr id="11" name="Text 9"/>
          <p:cNvSpPr/>
          <p:nvPr/>
        </p:nvSpPr>
        <p:spPr>
          <a:xfrm>
            <a:off x="6629400" y="2011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02</a:t>
            </a:r>
            <a:endParaRPr lang="en-US" sz="3000"/>
          </a:p>
        </p:txBody>
      </p:sp>
      <p:sp>
        <p:nvSpPr>
          <p:cNvPr id="12" name="Text 10"/>
          <p:cNvSpPr/>
          <p:nvPr/>
        </p:nvSpPr>
        <p:spPr>
          <a:xfrm>
            <a:off x="7543800" y="2057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Choose the Cluster Count</a:t>
            </a:r>
            <a:endParaRPr lang="en-US" sz="1800"/>
          </a:p>
        </p:txBody>
      </p:sp>
      <p:sp>
        <p:nvSpPr>
          <p:cNvPr id="13" name="Text 11"/>
          <p:cNvSpPr/>
          <p:nvPr/>
        </p:nvSpPr>
        <p:spPr>
          <a:xfrm>
            <a:off x="7543800" y="2606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Compared elbow-method inertia with silhouette scores from two to ten clusters, landing on five as the best balance of separation and interpretability.</a:t>
            </a:r>
            <a:endParaRPr lang="en-US" sz="1350"/>
          </a:p>
        </p:txBody>
      </p:sp>
      <p:sp>
        <p:nvSpPr>
          <p:cNvPr id="14" name="Shape 12"/>
          <p:cNvSpPr/>
          <p:nvPr/>
        </p:nvSpPr>
        <p:spPr>
          <a:xfrm>
            <a:off x="54864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5" name="Shape 13"/>
          <p:cNvSpPr/>
          <p:nvPr/>
        </p:nvSpPr>
        <p:spPr>
          <a:xfrm>
            <a:off x="548640" y="4069080"/>
            <a:ext cx="91440" cy="1965960"/>
          </a:xfrm>
          <a:prstGeom prst="rect">
            <a:avLst/>
          </a:prstGeom>
          <a:solidFill>
            <a:srgbClr val="1F52D6"/>
          </a:solidFill>
          <a:ln/>
        </p:spPr>
        <p:txBody>
          <a:bodyPr/>
          <a:lstStyle/>
          <a:p>
            <a:endParaRPr lang="en-US"/>
          </a:p>
        </p:txBody>
      </p:sp>
      <p:sp>
        <p:nvSpPr>
          <p:cNvPr id="16" name="Text 14"/>
          <p:cNvSpPr/>
          <p:nvPr/>
        </p:nvSpPr>
        <p:spPr>
          <a:xfrm>
            <a:off x="868680" y="4297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03</a:t>
            </a:r>
            <a:endParaRPr lang="en-US" sz="3000"/>
          </a:p>
        </p:txBody>
      </p:sp>
      <p:sp>
        <p:nvSpPr>
          <p:cNvPr id="17" name="Text 15"/>
          <p:cNvSpPr/>
          <p:nvPr/>
        </p:nvSpPr>
        <p:spPr>
          <a:xfrm>
            <a:off x="1783080" y="4343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Fit the K-Means Model</a:t>
            </a:r>
            <a:endParaRPr lang="en-US" sz="1800"/>
          </a:p>
        </p:txBody>
      </p:sp>
      <p:sp>
        <p:nvSpPr>
          <p:cNvPr id="18" name="Text 16"/>
          <p:cNvSpPr/>
          <p:nvPr/>
        </p:nvSpPr>
        <p:spPr>
          <a:xfrm>
            <a:off x="1783080" y="4892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Trained a K-means model with five clusters on the scaled data, assigning every customer to the segment its profile most closely matched.</a:t>
            </a:r>
            <a:endParaRPr lang="en-US" sz="1350"/>
          </a:p>
        </p:txBody>
      </p:sp>
      <p:sp>
        <p:nvSpPr>
          <p:cNvPr id="19" name="Shape 17"/>
          <p:cNvSpPr/>
          <p:nvPr/>
        </p:nvSpPr>
        <p:spPr>
          <a:xfrm>
            <a:off x="630936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0" name="Shape 18"/>
          <p:cNvSpPr/>
          <p:nvPr/>
        </p:nvSpPr>
        <p:spPr>
          <a:xfrm>
            <a:off x="6309360" y="4069080"/>
            <a:ext cx="91440" cy="1965960"/>
          </a:xfrm>
          <a:prstGeom prst="rect">
            <a:avLst/>
          </a:prstGeom>
          <a:solidFill>
            <a:srgbClr val="1F52D6"/>
          </a:solidFill>
          <a:ln/>
        </p:spPr>
        <p:txBody>
          <a:bodyPr/>
          <a:lstStyle/>
          <a:p>
            <a:endParaRPr lang="en-US"/>
          </a:p>
        </p:txBody>
      </p:sp>
      <p:sp>
        <p:nvSpPr>
          <p:cNvPr id="21" name="Text 19"/>
          <p:cNvSpPr/>
          <p:nvPr/>
        </p:nvSpPr>
        <p:spPr>
          <a:xfrm>
            <a:off x="6629400" y="4297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04</a:t>
            </a:r>
            <a:endParaRPr lang="en-US" sz="3000"/>
          </a:p>
        </p:txBody>
      </p:sp>
      <p:sp>
        <p:nvSpPr>
          <p:cNvPr id="22" name="Text 20"/>
          <p:cNvSpPr/>
          <p:nvPr/>
        </p:nvSpPr>
        <p:spPr>
          <a:xfrm>
            <a:off x="7543800" y="4343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Validate with PCA</a:t>
            </a:r>
            <a:endParaRPr lang="en-US" sz="1800"/>
          </a:p>
        </p:txBody>
      </p:sp>
      <p:sp>
        <p:nvSpPr>
          <p:cNvPr id="23" name="Text 21"/>
          <p:cNvSpPr/>
          <p:nvPr/>
        </p:nvSpPr>
        <p:spPr>
          <a:xfrm>
            <a:off x="7543800" y="4892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Reduced the features to two dimensions with principal component analysis to confirm the five segments were visually distinct and cohesive.</a:t>
            </a:r>
            <a:endParaRPr lang="en-US" sz="1350"/>
          </a:p>
        </p:txBody>
      </p:sp>
      <p:sp>
        <p:nvSpPr>
          <p:cNvPr id="24" name="Text 22"/>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25" name="Text 23"/>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11</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SEGMENTATION RESULTS</a:t>
            </a:r>
            <a:endParaRPr lang="en-US" sz="125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Five distinct customer segments</a:t>
            </a:r>
            <a:endParaRPr lang="en-US" sz="3000"/>
          </a:p>
        </p:txBody>
      </p:sp>
      <p:sp>
        <p:nvSpPr>
          <p:cNvPr id="4" name="Shape 2"/>
          <p:cNvSpPr/>
          <p:nvPr/>
        </p:nvSpPr>
        <p:spPr>
          <a:xfrm>
            <a:off x="548640" y="178308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3566160" cy="91440"/>
          </a:xfrm>
          <a:prstGeom prst="rect">
            <a:avLst/>
          </a:prstGeom>
          <a:solidFill>
            <a:srgbClr val="1F52D6"/>
          </a:solidFill>
          <a:ln/>
        </p:spPr>
        <p:txBody>
          <a:bodyPr/>
          <a:lstStyle/>
          <a:p>
            <a:endParaRPr lang="en-US"/>
          </a:p>
        </p:txBody>
      </p:sp>
      <p:sp>
        <p:nvSpPr>
          <p:cNvPr id="6" name="Shape 4"/>
          <p:cNvSpPr/>
          <p:nvPr/>
        </p:nvSpPr>
        <p:spPr>
          <a:xfrm>
            <a:off x="868680" y="2130552"/>
            <a:ext cx="457200" cy="457200"/>
          </a:xfrm>
          <a:prstGeom prst="ellipse">
            <a:avLst/>
          </a:prstGeom>
          <a:solidFill>
            <a:srgbClr val="1F52D6"/>
          </a:solidFill>
          <a:ln/>
        </p:spPr>
        <p:txBody>
          <a:bodyPr/>
          <a:lstStyle/>
          <a:p>
            <a:endParaRPr lang="en-US"/>
          </a:p>
        </p:txBody>
      </p:sp>
      <p:sp>
        <p:nvSpPr>
          <p:cNvPr id="7" name="Text 5"/>
          <p:cNvSpPr/>
          <p:nvPr/>
        </p:nvSpPr>
        <p:spPr>
          <a:xfrm>
            <a:off x="868680" y="2130552"/>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Georgia" pitchFamily="34" charset="0"/>
                <a:ea typeface="Georgia" pitchFamily="34" charset="-122"/>
                <a:cs typeface="Georgia" pitchFamily="34" charset="-120"/>
              </a:rPr>
              <a:t>0</a:t>
            </a:r>
            <a:endParaRPr lang="en-US" sz="1800"/>
          </a:p>
        </p:txBody>
      </p:sp>
      <p:sp>
        <p:nvSpPr>
          <p:cNvPr id="8" name="Text 6"/>
          <p:cNvSpPr/>
          <p:nvPr/>
        </p:nvSpPr>
        <p:spPr>
          <a:xfrm>
            <a:off x="1481328" y="211226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Low-Value Newcomers</a:t>
            </a:r>
            <a:endParaRPr lang="en-US" sz="1600"/>
          </a:p>
        </p:txBody>
      </p:sp>
      <p:sp>
        <p:nvSpPr>
          <p:cNvPr id="9" name="Text 7"/>
          <p:cNvSpPr/>
          <p:nvPr/>
        </p:nvSpPr>
        <p:spPr>
          <a:xfrm>
            <a:off x="868680" y="274320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671 customers with short tenure and minimal spend, recently acquired and still low-commitment.</a:t>
            </a:r>
            <a:endParaRPr lang="en-US" sz="1250"/>
          </a:p>
        </p:txBody>
      </p:sp>
      <p:sp>
        <p:nvSpPr>
          <p:cNvPr id="10" name="Shape 8"/>
          <p:cNvSpPr/>
          <p:nvPr/>
        </p:nvSpPr>
        <p:spPr>
          <a:xfrm>
            <a:off x="4389120" y="178308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1" name="Shape 9"/>
          <p:cNvSpPr/>
          <p:nvPr/>
        </p:nvSpPr>
        <p:spPr>
          <a:xfrm>
            <a:off x="4389120" y="1783080"/>
            <a:ext cx="3566160" cy="91440"/>
          </a:xfrm>
          <a:prstGeom prst="rect">
            <a:avLst/>
          </a:prstGeom>
          <a:solidFill>
            <a:srgbClr val="1F52D6"/>
          </a:solidFill>
          <a:ln/>
        </p:spPr>
        <p:txBody>
          <a:bodyPr/>
          <a:lstStyle/>
          <a:p>
            <a:endParaRPr lang="en-US"/>
          </a:p>
        </p:txBody>
      </p:sp>
      <p:sp>
        <p:nvSpPr>
          <p:cNvPr id="12" name="Shape 10"/>
          <p:cNvSpPr/>
          <p:nvPr/>
        </p:nvSpPr>
        <p:spPr>
          <a:xfrm>
            <a:off x="4709160" y="2130552"/>
            <a:ext cx="457200" cy="457200"/>
          </a:xfrm>
          <a:prstGeom prst="ellipse">
            <a:avLst/>
          </a:prstGeom>
          <a:solidFill>
            <a:srgbClr val="1F52D6"/>
          </a:solidFill>
          <a:ln/>
        </p:spPr>
        <p:txBody>
          <a:bodyPr/>
          <a:lstStyle/>
          <a:p>
            <a:endParaRPr lang="en-US"/>
          </a:p>
        </p:txBody>
      </p:sp>
      <p:sp>
        <p:nvSpPr>
          <p:cNvPr id="13" name="Text 11"/>
          <p:cNvSpPr/>
          <p:nvPr/>
        </p:nvSpPr>
        <p:spPr>
          <a:xfrm>
            <a:off x="4709160" y="2130552"/>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Georgia" pitchFamily="34" charset="0"/>
                <a:ea typeface="Georgia" pitchFamily="34" charset="-122"/>
                <a:cs typeface="Georgia" pitchFamily="34" charset="-120"/>
              </a:rPr>
              <a:t>1</a:t>
            </a:r>
            <a:endParaRPr lang="en-US" sz="1800"/>
          </a:p>
        </p:txBody>
      </p:sp>
      <p:sp>
        <p:nvSpPr>
          <p:cNvPr id="14" name="Text 12"/>
          <p:cNvSpPr/>
          <p:nvPr/>
        </p:nvSpPr>
        <p:spPr>
          <a:xfrm>
            <a:off x="5321808" y="211226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Micro Outlier Group</a:t>
            </a:r>
            <a:endParaRPr lang="en-US" sz="1600"/>
          </a:p>
        </p:txBody>
      </p:sp>
      <p:sp>
        <p:nvSpPr>
          <p:cNvPr id="15" name="Text 13"/>
          <p:cNvSpPr/>
          <p:nvPr/>
        </p:nvSpPr>
        <p:spPr>
          <a:xfrm>
            <a:off x="4709160" y="274320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Just 10 customers forming a small, highly distinct niche set apart from every other segment.</a:t>
            </a:r>
            <a:endParaRPr lang="en-US" sz="1250"/>
          </a:p>
        </p:txBody>
      </p:sp>
      <p:sp>
        <p:nvSpPr>
          <p:cNvPr id="16" name="Shape 14"/>
          <p:cNvSpPr/>
          <p:nvPr/>
        </p:nvSpPr>
        <p:spPr>
          <a:xfrm>
            <a:off x="8229600" y="178308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7" name="Shape 15"/>
          <p:cNvSpPr/>
          <p:nvPr/>
        </p:nvSpPr>
        <p:spPr>
          <a:xfrm>
            <a:off x="8229600" y="1783080"/>
            <a:ext cx="3566160" cy="91440"/>
          </a:xfrm>
          <a:prstGeom prst="rect">
            <a:avLst/>
          </a:prstGeom>
          <a:solidFill>
            <a:srgbClr val="1F52D6"/>
          </a:solidFill>
          <a:ln/>
        </p:spPr>
        <p:txBody>
          <a:bodyPr/>
          <a:lstStyle/>
          <a:p>
            <a:endParaRPr lang="en-US"/>
          </a:p>
        </p:txBody>
      </p:sp>
      <p:sp>
        <p:nvSpPr>
          <p:cNvPr id="18" name="Shape 16"/>
          <p:cNvSpPr/>
          <p:nvPr/>
        </p:nvSpPr>
        <p:spPr>
          <a:xfrm>
            <a:off x="8549640" y="2130552"/>
            <a:ext cx="457200" cy="457200"/>
          </a:xfrm>
          <a:prstGeom prst="ellipse">
            <a:avLst/>
          </a:prstGeom>
          <a:solidFill>
            <a:srgbClr val="1F52D6"/>
          </a:solidFill>
          <a:ln/>
        </p:spPr>
        <p:txBody>
          <a:bodyPr/>
          <a:lstStyle/>
          <a:p>
            <a:endParaRPr lang="en-US"/>
          </a:p>
        </p:txBody>
      </p:sp>
      <p:sp>
        <p:nvSpPr>
          <p:cNvPr id="19" name="Text 17"/>
          <p:cNvSpPr/>
          <p:nvPr/>
        </p:nvSpPr>
        <p:spPr>
          <a:xfrm>
            <a:off x="8549640" y="2130552"/>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Georgia" pitchFamily="34" charset="0"/>
                <a:ea typeface="Georgia" pitchFamily="34" charset="-122"/>
                <a:cs typeface="Georgia" pitchFamily="34" charset="-120"/>
              </a:rPr>
              <a:t>2</a:t>
            </a:r>
            <a:endParaRPr lang="en-US" sz="1800"/>
          </a:p>
        </p:txBody>
      </p:sp>
      <p:sp>
        <p:nvSpPr>
          <p:cNvPr id="20" name="Text 18"/>
          <p:cNvSpPr/>
          <p:nvPr/>
        </p:nvSpPr>
        <p:spPr>
          <a:xfrm>
            <a:off x="9162288" y="211226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Mid-Sized Cluster</a:t>
            </a:r>
            <a:endParaRPr lang="en-US" sz="1600"/>
          </a:p>
        </p:txBody>
      </p:sp>
      <p:sp>
        <p:nvSpPr>
          <p:cNvPr id="21" name="Text 19"/>
          <p:cNvSpPr/>
          <p:nvPr/>
        </p:nvSpPr>
        <p:spPr>
          <a:xfrm>
            <a:off x="8549640" y="274320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246 customers grouped into a moderate segment with its own shared purchasing pattern.</a:t>
            </a:r>
            <a:endParaRPr lang="en-US" sz="1250"/>
          </a:p>
        </p:txBody>
      </p:sp>
      <p:sp>
        <p:nvSpPr>
          <p:cNvPr id="22" name="Shape 20"/>
          <p:cNvSpPr/>
          <p:nvPr/>
        </p:nvSpPr>
        <p:spPr>
          <a:xfrm>
            <a:off x="548640" y="397764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3" name="Shape 21"/>
          <p:cNvSpPr/>
          <p:nvPr/>
        </p:nvSpPr>
        <p:spPr>
          <a:xfrm>
            <a:off x="548640" y="3977640"/>
            <a:ext cx="3566160" cy="91440"/>
          </a:xfrm>
          <a:prstGeom prst="rect">
            <a:avLst/>
          </a:prstGeom>
          <a:solidFill>
            <a:srgbClr val="1F52D6"/>
          </a:solidFill>
          <a:ln/>
        </p:spPr>
        <p:txBody>
          <a:bodyPr/>
          <a:lstStyle/>
          <a:p>
            <a:endParaRPr lang="en-US"/>
          </a:p>
        </p:txBody>
      </p:sp>
      <p:sp>
        <p:nvSpPr>
          <p:cNvPr id="24" name="Shape 22"/>
          <p:cNvSpPr/>
          <p:nvPr/>
        </p:nvSpPr>
        <p:spPr>
          <a:xfrm>
            <a:off x="868680" y="4325112"/>
            <a:ext cx="457200" cy="457200"/>
          </a:xfrm>
          <a:prstGeom prst="ellipse">
            <a:avLst/>
          </a:prstGeom>
          <a:solidFill>
            <a:srgbClr val="1F52D6"/>
          </a:solidFill>
          <a:ln/>
        </p:spPr>
        <p:txBody>
          <a:bodyPr/>
          <a:lstStyle/>
          <a:p>
            <a:endParaRPr lang="en-US"/>
          </a:p>
        </p:txBody>
      </p:sp>
      <p:sp>
        <p:nvSpPr>
          <p:cNvPr id="25" name="Text 23"/>
          <p:cNvSpPr/>
          <p:nvPr/>
        </p:nvSpPr>
        <p:spPr>
          <a:xfrm>
            <a:off x="868680" y="4325112"/>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Georgia" pitchFamily="34" charset="0"/>
                <a:ea typeface="Georgia" pitchFamily="34" charset="-122"/>
                <a:cs typeface="Georgia" pitchFamily="34" charset="-120"/>
              </a:rPr>
              <a:t>3</a:t>
            </a:r>
            <a:endParaRPr lang="en-US" sz="1800"/>
          </a:p>
        </p:txBody>
      </p:sp>
      <p:sp>
        <p:nvSpPr>
          <p:cNvPr id="26" name="Text 24"/>
          <p:cNvSpPr/>
          <p:nvPr/>
        </p:nvSpPr>
        <p:spPr>
          <a:xfrm>
            <a:off x="1481328" y="430682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Dormant Long-Tenured</a:t>
            </a:r>
            <a:endParaRPr lang="en-US" sz="1600"/>
          </a:p>
        </p:txBody>
      </p:sp>
      <p:sp>
        <p:nvSpPr>
          <p:cNvPr id="27" name="Text 25"/>
          <p:cNvSpPr/>
          <p:nvPr/>
        </p:nvSpPr>
        <p:spPr>
          <a:xfrm>
            <a:off x="868680" y="493776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546 long-standing customers who have gone quiet, showing very low recent spending.</a:t>
            </a:r>
            <a:endParaRPr lang="en-US" sz="1250"/>
          </a:p>
        </p:txBody>
      </p:sp>
      <p:sp>
        <p:nvSpPr>
          <p:cNvPr id="28" name="Shape 26"/>
          <p:cNvSpPr/>
          <p:nvPr/>
        </p:nvSpPr>
        <p:spPr>
          <a:xfrm>
            <a:off x="4389120" y="397764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9" name="Shape 27"/>
          <p:cNvSpPr/>
          <p:nvPr/>
        </p:nvSpPr>
        <p:spPr>
          <a:xfrm>
            <a:off x="4389120" y="3977640"/>
            <a:ext cx="3566160" cy="91440"/>
          </a:xfrm>
          <a:prstGeom prst="rect">
            <a:avLst/>
          </a:prstGeom>
          <a:solidFill>
            <a:srgbClr val="1F52D6"/>
          </a:solidFill>
          <a:ln/>
        </p:spPr>
        <p:txBody>
          <a:bodyPr/>
          <a:lstStyle/>
          <a:p>
            <a:endParaRPr lang="en-US"/>
          </a:p>
        </p:txBody>
      </p:sp>
      <p:sp>
        <p:nvSpPr>
          <p:cNvPr id="30" name="Shape 28"/>
          <p:cNvSpPr/>
          <p:nvPr/>
        </p:nvSpPr>
        <p:spPr>
          <a:xfrm>
            <a:off x="4709160" y="4325112"/>
            <a:ext cx="457200" cy="457200"/>
          </a:xfrm>
          <a:prstGeom prst="ellipse">
            <a:avLst/>
          </a:prstGeom>
          <a:solidFill>
            <a:srgbClr val="1F52D6"/>
          </a:solidFill>
          <a:ln/>
        </p:spPr>
        <p:txBody>
          <a:bodyPr/>
          <a:lstStyle/>
          <a:p>
            <a:endParaRPr lang="en-US"/>
          </a:p>
        </p:txBody>
      </p:sp>
      <p:sp>
        <p:nvSpPr>
          <p:cNvPr id="31" name="Text 29"/>
          <p:cNvSpPr/>
          <p:nvPr/>
        </p:nvSpPr>
        <p:spPr>
          <a:xfrm>
            <a:off x="4709160" y="4325112"/>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Georgia" pitchFamily="34" charset="0"/>
                <a:ea typeface="Georgia" pitchFamily="34" charset="-122"/>
                <a:cs typeface="Georgia" pitchFamily="34" charset="-120"/>
              </a:rPr>
              <a:t>4</a:t>
            </a:r>
            <a:endParaRPr lang="en-US" sz="1800"/>
          </a:p>
        </p:txBody>
      </p:sp>
      <p:sp>
        <p:nvSpPr>
          <p:cNvPr id="32" name="Text 30"/>
          <p:cNvSpPr/>
          <p:nvPr/>
        </p:nvSpPr>
        <p:spPr>
          <a:xfrm>
            <a:off x="5321808" y="430682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High-Value Actives</a:t>
            </a:r>
            <a:endParaRPr lang="en-US" sz="1600"/>
          </a:p>
        </p:txBody>
      </p:sp>
      <p:sp>
        <p:nvSpPr>
          <p:cNvPr id="33" name="Text 31"/>
          <p:cNvSpPr/>
          <p:nvPr/>
        </p:nvSpPr>
        <p:spPr>
          <a:xfrm>
            <a:off x="4709160" y="493776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657 frequent, high-spending customers, the most engaged and most valuable group.</a:t>
            </a:r>
            <a:endParaRPr lang="en-US" sz="1250"/>
          </a:p>
        </p:txBody>
      </p:sp>
      <p:sp>
        <p:nvSpPr>
          <p:cNvPr id="40" name="Text 38"/>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41" name="Text 39"/>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12</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SEGMENT PROFILES</a:t>
            </a:r>
            <a:endParaRPr lang="en-US" sz="125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Signature segments in depth</a:t>
            </a:r>
            <a:endParaRPr lang="en-US" sz="3000"/>
          </a:p>
        </p:txBody>
      </p:sp>
      <p:sp>
        <p:nvSpPr>
          <p:cNvPr id="4" name="Shape 2"/>
          <p:cNvSpPr/>
          <p:nvPr/>
        </p:nvSpPr>
        <p:spPr>
          <a:xfrm>
            <a:off x="54864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3566160" cy="91440"/>
          </a:xfrm>
          <a:prstGeom prst="rect">
            <a:avLst/>
          </a:prstGeom>
          <a:solidFill>
            <a:srgbClr val="1F52D6"/>
          </a:solidFill>
          <a:ln/>
        </p:spPr>
        <p:txBody>
          <a:bodyPr/>
          <a:lstStyle/>
          <a:p>
            <a:endParaRPr lang="en-US"/>
          </a:p>
        </p:txBody>
      </p:sp>
      <p:sp>
        <p:nvSpPr>
          <p:cNvPr id="6" name="Text 4"/>
          <p:cNvSpPr/>
          <p:nvPr/>
        </p:nvSpPr>
        <p:spPr>
          <a:xfrm>
            <a:off x="86868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a:solidFill>
                  <a:srgbClr val="1F52D6"/>
                </a:solidFill>
                <a:latin typeface="Calibri" pitchFamily="34" charset="0"/>
                <a:ea typeface="Calibri" pitchFamily="34" charset="-122"/>
                <a:cs typeface="Calibri" pitchFamily="34" charset="-120"/>
              </a:rPr>
              <a:t>LOW-VALUE NEWCOMERS</a:t>
            </a:r>
            <a:endParaRPr lang="en-US" sz="1200"/>
          </a:p>
        </p:txBody>
      </p:sp>
      <p:sp>
        <p:nvSpPr>
          <p:cNvPr id="7" name="Text 5"/>
          <p:cNvSpPr/>
          <p:nvPr/>
        </p:nvSpPr>
        <p:spPr>
          <a:xfrm>
            <a:off x="841248" y="2560320"/>
            <a:ext cx="3017520" cy="777240"/>
          </a:xfrm>
          <a:prstGeom prst="rect">
            <a:avLst/>
          </a:prstGeom>
          <a:noFill/>
          <a:ln/>
        </p:spPr>
        <p:txBody>
          <a:bodyPr wrap="square" lIns="0" tIns="0" rIns="0" bIns="0" rtlCol="0" anchor="ctr"/>
          <a:lstStyle/>
          <a:p>
            <a:pPr marL="0" indent="0" algn="l">
              <a:buNone/>
            </a:pPr>
            <a:r>
              <a:rPr lang="en-US" sz="4000" b="1">
                <a:solidFill>
                  <a:srgbClr val="16233B"/>
                </a:solidFill>
                <a:latin typeface="Georgia" pitchFamily="34" charset="0"/>
                <a:ea typeface="Georgia" pitchFamily="34" charset="-122"/>
                <a:cs typeface="Georgia" pitchFamily="34" charset="-120"/>
              </a:rPr>
              <a:t>671</a:t>
            </a:r>
            <a:endParaRPr lang="en-US" sz="4000"/>
          </a:p>
        </p:txBody>
      </p:sp>
      <p:sp>
        <p:nvSpPr>
          <p:cNvPr id="8" name="Text 6"/>
          <p:cNvSpPr/>
          <p:nvPr/>
        </p:nvSpPr>
        <p:spPr>
          <a:xfrm>
            <a:off x="868680" y="3319272"/>
            <a:ext cx="2926080" cy="274320"/>
          </a:xfrm>
          <a:prstGeom prst="rect">
            <a:avLst/>
          </a:prstGeom>
          <a:noFill/>
          <a:ln/>
        </p:spPr>
        <p:txBody>
          <a:bodyPr wrap="square" lIns="0" tIns="0" rIns="0" bIns="0" rtlCol="0" anchor="ctr"/>
          <a:lstStyle/>
          <a:p>
            <a:pPr marL="0" indent="0" algn="l">
              <a:buNone/>
            </a:pPr>
            <a:r>
              <a:rPr lang="en-US" sz="1250" i="1">
                <a:solidFill>
                  <a:srgbClr val="5C6B85"/>
                </a:solidFill>
                <a:latin typeface="Calibri" pitchFamily="34" charset="0"/>
                <a:ea typeface="Calibri" pitchFamily="34" charset="-122"/>
                <a:cs typeface="Calibri" pitchFamily="34" charset="-120"/>
              </a:rPr>
              <a:t>customers · segment 0</a:t>
            </a:r>
            <a:endParaRPr lang="en-US" sz="1250"/>
          </a:p>
        </p:txBody>
      </p:sp>
      <p:sp>
        <p:nvSpPr>
          <p:cNvPr id="9" name="Shape 7"/>
          <p:cNvSpPr/>
          <p:nvPr/>
        </p:nvSpPr>
        <p:spPr>
          <a:xfrm>
            <a:off x="868680" y="3685032"/>
            <a:ext cx="2926080" cy="10973"/>
          </a:xfrm>
          <a:prstGeom prst="rect">
            <a:avLst/>
          </a:prstGeom>
          <a:solidFill>
            <a:srgbClr val="D4DCEA"/>
          </a:solidFill>
          <a:ln/>
        </p:spPr>
        <p:txBody>
          <a:bodyPr/>
          <a:lstStyle/>
          <a:p>
            <a:endParaRPr lang="en-US"/>
          </a:p>
        </p:txBody>
      </p:sp>
      <p:sp>
        <p:nvSpPr>
          <p:cNvPr id="10" name="Shape 8"/>
          <p:cNvSpPr/>
          <p:nvPr/>
        </p:nvSpPr>
        <p:spPr>
          <a:xfrm>
            <a:off x="896112" y="3904488"/>
            <a:ext cx="100584" cy="100584"/>
          </a:xfrm>
          <a:prstGeom prst="ellipse">
            <a:avLst/>
          </a:prstGeom>
          <a:solidFill>
            <a:srgbClr val="1F52D6"/>
          </a:solidFill>
          <a:ln/>
        </p:spPr>
        <p:txBody>
          <a:bodyPr/>
          <a:lstStyle/>
          <a:p>
            <a:endParaRPr lang="en-US"/>
          </a:p>
        </p:txBody>
      </p:sp>
      <p:sp>
        <p:nvSpPr>
          <p:cNvPr id="11" name="Text 9"/>
          <p:cNvSpPr/>
          <p:nvPr/>
        </p:nvSpPr>
        <p:spPr>
          <a:xfrm>
            <a:off x="1115568" y="3794760"/>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Avg. spend $2.84</a:t>
            </a:r>
            <a:endParaRPr lang="en-US" sz="1300"/>
          </a:p>
        </p:txBody>
      </p:sp>
      <p:sp>
        <p:nvSpPr>
          <p:cNvPr id="12" name="Shape 10"/>
          <p:cNvSpPr/>
          <p:nvPr/>
        </p:nvSpPr>
        <p:spPr>
          <a:xfrm>
            <a:off x="896112" y="4306824"/>
            <a:ext cx="100584" cy="100584"/>
          </a:xfrm>
          <a:prstGeom prst="ellipse">
            <a:avLst/>
          </a:prstGeom>
          <a:solidFill>
            <a:srgbClr val="1F52D6"/>
          </a:solidFill>
          <a:ln/>
        </p:spPr>
        <p:txBody>
          <a:bodyPr/>
          <a:lstStyle/>
          <a:p>
            <a:endParaRPr lang="en-US"/>
          </a:p>
        </p:txBody>
      </p:sp>
      <p:sp>
        <p:nvSpPr>
          <p:cNvPr id="13" name="Text 11"/>
          <p:cNvSpPr/>
          <p:nvPr/>
        </p:nvSpPr>
        <p:spPr>
          <a:xfrm>
            <a:off x="1115568" y="4197096"/>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Frequency 0.26</a:t>
            </a:r>
            <a:endParaRPr lang="en-US" sz="1300"/>
          </a:p>
        </p:txBody>
      </p:sp>
      <p:sp>
        <p:nvSpPr>
          <p:cNvPr id="14" name="Shape 12"/>
          <p:cNvSpPr/>
          <p:nvPr/>
        </p:nvSpPr>
        <p:spPr>
          <a:xfrm>
            <a:off x="896112" y="4709160"/>
            <a:ext cx="100584" cy="100584"/>
          </a:xfrm>
          <a:prstGeom prst="ellipse">
            <a:avLst/>
          </a:prstGeom>
          <a:solidFill>
            <a:srgbClr val="1F52D6"/>
          </a:solidFill>
          <a:ln/>
        </p:spPr>
        <p:txBody>
          <a:bodyPr/>
          <a:lstStyle/>
          <a:p>
            <a:endParaRPr lang="en-US"/>
          </a:p>
        </p:txBody>
      </p:sp>
      <p:sp>
        <p:nvSpPr>
          <p:cNvPr id="15" name="Text 13"/>
          <p:cNvSpPr/>
          <p:nvPr/>
        </p:nvSpPr>
        <p:spPr>
          <a:xfrm>
            <a:off x="1115568" y="4599432"/>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Recency 10</a:t>
            </a:r>
            <a:endParaRPr lang="en-US" sz="1300"/>
          </a:p>
        </p:txBody>
      </p:sp>
      <p:sp>
        <p:nvSpPr>
          <p:cNvPr id="16" name="Shape 14"/>
          <p:cNvSpPr/>
          <p:nvPr/>
        </p:nvSpPr>
        <p:spPr>
          <a:xfrm>
            <a:off x="896112" y="5111496"/>
            <a:ext cx="100584" cy="100584"/>
          </a:xfrm>
          <a:prstGeom prst="ellipse">
            <a:avLst/>
          </a:prstGeom>
          <a:solidFill>
            <a:srgbClr val="1F52D6"/>
          </a:solidFill>
          <a:ln/>
        </p:spPr>
        <p:txBody>
          <a:bodyPr/>
          <a:lstStyle/>
          <a:p>
            <a:endParaRPr lang="en-US"/>
          </a:p>
        </p:txBody>
      </p:sp>
      <p:sp>
        <p:nvSpPr>
          <p:cNvPr id="17" name="Text 15"/>
          <p:cNvSpPr/>
          <p:nvPr/>
        </p:nvSpPr>
        <p:spPr>
          <a:xfrm>
            <a:off x="1115568" y="5001768"/>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Tenure 73 days</a:t>
            </a:r>
            <a:endParaRPr lang="en-US" sz="1300"/>
          </a:p>
        </p:txBody>
      </p:sp>
      <p:sp>
        <p:nvSpPr>
          <p:cNvPr id="18" name="Shape 16"/>
          <p:cNvSpPr/>
          <p:nvPr/>
        </p:nvSpPr>
        <p:spPr>
          <a:xfrm>
            <a:off x="438912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9" name="Shape 17"/>
          <p:cNvSpPr/>
          <p:nvPr/>
        </p:nvSpPr>
        <p:spPr>
          <a:xfrm>
            <a:off x="4389120" y="1783080"/>
            <a:ext cx="3566160" cy="91440"/>
          </a:xfrm>
          <a:prstGeom prst="rect">
            <a:avLst/>
          </a:prstGeom>
          <a:solidFill>
            <a:srgbClr val="1F52D6"/>
          </a:solidFill>
          <a:ln/>
        </p:spPr>
        <p:txBody>
          <a:bodyPr/>
          <a:lstStyle/>
          <a:p>
            <a:endParaRPr lang="en-US"/>
          </a:p>
        </p:txBody>
      </p:sp>
      <p:sp>
        <p:nvSpPr>
          <p:cNvPr id="20" name="Text 18"/>
          <p:cNvSpPr/>
          <p:nvPr/>
        </p:nvSpPr>
        <p:spPr>
          <a:xfrm>
            <a:off x="470916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a:solidFill>
                  <a:srgbClr val="1F52D6"/>
                </a:solidFill>
                <a:latin typeface="Calibri" pitchFamily="34" charset="0"/>
                <a:ea typeface="Calibri" pitchFamily="34" charset="-122"/>
                <a:cs typeface="Calibri" pitchFamily="34" charset="-120"/>
              </a:rPr>
              <a:t>DORMANT LONG-TENURED</a:t>
            </a:r>
            <a:endParaRPr lang="en-US" sz="1200"/>
          </a:p>
        </p:txBody>
      </p:sp>
      <p:sp>
        <p:nvSpPr>
          <p:cNvPr id="21" name="Text 19"/>
          <p:cNvSpPr/>
          <p:nvPr/>
        </p:nvSpPr>
        <p:spPr>
          <a:xfrm>
            <a:off x="4681728" y="2560320"/>
            <a:ext cx="3017520" cy="777240"/>
          </a:xfrm>
          <a:prstGeom prst="rect">
            <a:avLst/>
          </a:prstGeom>
          <a:noFill/>
          <a:ln/>
        </p:spPr>
        <p:txBody>
          <a:bodyPr wrap="square" lIns="0" tIns="0" rIns="0" bIns="0" rtlCol="0" anchor="ctr"/>
          <a:lstStyle/>
          <a:p>
            <a:pPr marL="0" indent="0" algn="l">
              <a:buNone/>
            </a:pPr>
            <a:r>
              <a:rPr lang="en-US" sz="4000" b="1">
                <a:solidFill>
                  <a:srgbClr val="16233B"/>
                </a:solidFill>
                <a:latin typeface="Georgia" pitchFamily="34" charset="0"/>
                <a:ea typeface="Georgia" pitchFamily="34" charset="-122"/>
                <a:cs typeface="Georgia" pitchFamily="34" charset="-120"/>
              </a:rPr>
              <a:t>546</a:t>
            </a:r>
            <a:endParaRPr lang="en-US" sz="4000"/>
          </a:p>
        </p:txBody>
      </p:sp>
      <p:sp>
        <p:nvSpPr>
          <p:cNvPr id="22" name="Text 20"/>
          <p:cNvSpPr/>
          <p:nvPr/>
        </p:nvSpPr>
        <p:spPr>
          <a:xfrm>
            <a:off x="4709160" y="3319272"/>
            <a:ext cx="2926080" cy="274320"/>
          </a:xfrm>
          <a:prstGeom prst="rect">
            <a:avLst/>
          </a:prstGeom>
          <a:noFill/>
          <a:ln/>
        </p:spPr>
        <p:txBody>
          <a:bodyPr wrap="square" lIns="0" tIns="0" rIns="0" bIns="0" rtlCol="0" anchor="ctr"/>
          <a:lstStyle/>
          <a:p>
            <a:pPr marL="0" indent="0" algn="l">
              <a:buNone/>
            </a:pPr>
            <a:r>
              <a:rPr lang="en-US" sz="1250" i="1">
                <a:solidFill>
                  <a:srgbClr val="5C6B85"/>
                </a:solidFill>
                <a:latin typeface="Calibri" pitchFamily="34" charset="0"/>
                <a:ea typeface="Calibri" pitchFamily="34" charset="-122"/>
                <a:cs typeface="Calibri" pitchFamily="34" charset="-120"/>
              </a:rPr>
              <a:t>customers · segment 3</a:t>
            </a:r>
            <a:endParaRPr lang="en-US" sz="1250"/>
          </a:p>
        </p:txBody>
      </p:sp>
      <p:sp>
        <p:nvSpPr>
          <p:cNvPr id="23" name="Shape 21"/>
          <p:cNvSpPr/>
          <p:nvPr/>
        </p:nvSpPr>
        <p:spPr>
          <a:xfrm>
            <a:off x="4709160" y="3685032"/>
            <a:ext cx="2926080" cy="10973"/>
          </a:xfrm>
          <a:prstGeom prst="rect">
            <a:avLst/>
          </a:prstGeom>
          <a:solidFill>
            <a:srgbClr val="D4DCEA"/>
          </a:solidFill>
          <a:ln/>
        </p:spPr>
        <p:txBody>
          <a:bodyPr/>
          <a:lstStyle/>
          <a:p>
            <a:endParaRPr lang="en-US"/>
          </a:p>
        </p:txBody>
      </p:sp>
      <p:sp>
        <p:nvSpPr>
          <p:cNvPr id="24" name="Shape 22"/>
          <p:cNvSpPr/>
          <p:nvPr/>
        </p:nvSpPr>
        <p:spPr>
          <a:xfrm>
            <a:off x="4736592" y="3904488"/>
            <a:ext cx="100584" cy="100584"/>
          </a:xfrm>
          <a:prstGeom prst="ellipse">
            <a:avLst/>
          </a:prstGeom>
          <a:solidFill>
            <a:srgbClr val="1F52D6"/>
          </a:solidFill>
          <a:ln/>
        </p:spPr>
        <p:txBody>
          <a:bodyPr/>
          <a:lstStyle/>
          <a:p>
            <a:endParaRPr lang="en-US"/>
          </a:p>
        </p:txBody>
      </p:sp>
      <p:sp>
        <p:nvSpPr>
          <p:cNvPr id="25" name="Text 23"/>
          <p:cNvSpPr/>
          <p:nvPr/>
        </p:nvSpPr>
        <p:spPr>
          <a:xfrm>
            <a:off x="4956048" y="3794760"/>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Avg. spend $1.47</a:t>
            </a:r>
            <a:endParaRPr lang="en-US" sz="1300"/>
          </a:p>
        </p:txBody>
      </p:sp>
      <p:sp>
        <p:nvSpPr>
          <p:cNvPr id="26" name="Shape 24"/>
          <p:cNvSpPr/>
          <p:nvPr/>
        </p:nvSpPr>
        <p:spPr>
          <a:xfrm>
            <a:off x="4736592" y="4306824"/>
            <a:ext cx="100584" cy="100584"/>
          </a:xfrm>
          <a:prstGeom prst="ellipse">
            <a:avLst/>
          </a:prstGeom>
          <a:solidFill>
            <a:srgbClr val="1F52D6"/>
          </a:solidFill>
          <a:ln/>
        </p:spPr>
        <p:txBody>
          <a:bodyPr/>
          <a:lstStyle/>
          <a:p>
            <a:endParaRPr lang="en-US"/>
          </a:p>
        </p:txBody>
      </p:sp>
      <p:sp>
        <p:nvSpPr>
          <p:cNvPr id="27" name="Text 25"/>
          <p:cNvSpPr/>
          <p:nvPr/>
        </p:nvSpPr>
        <p:spPr>
          <a:xfrm>
            <a:off x="4956048" y="4197096"/>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Frequency 0.15</a:t>
            </a:r>
            <a:endParaRPr lang="en-US" sz="1300"/>
          </a:p>
        </p:txBody>
      </p:sp>
      <p:sp>
        <p:nvSpPr>
          <p:cNvPr id="28" name="Shape 26"/>
          <p:cNvSpPr/>
          <p:nvPr/>
        </p:nvSpPr>
        <p:spPr>
          <a:xfrm>
            <a:off x="4736592" y="4709160"/>
            <a:ext cx="100584" cy="100584"/>
          </a:xfrm>
          <a:prstGeom prst="ellipse">
            <a:avLst/>
          </a:prstGeom>
          <a:solidFill>
            <a:srgbClr val="1F52D6"/>
          </a:solidFill>
          <a:ln/>
        </p:spPr>
        <p:txBody>
          <a:bodyPr/>
          <a:lstStyle/>
          <a:p>
            <a:endParaRPr lang="en-US"/>
          </a:p>
        </p:txBody>
      </p:sp>
      <p:sp>
        <p:nvSpPr>
          <p:cNvPr id="29" name="Text 27"/>
          <p:cNvSpPr/>
          <p:nvPr/>
        </p:nvSpPr>
        <p:spPr>
          <a:xfrm>
            <a:off x="4956048" y="4599432"/>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Recency 9</a:t>
            </a:r>
            <a:endParaRPr lang="en-US" sz="1300"/>
          </a:p>
        </p:txBody>
      </p:sp>
      <p:sp>
        <p:nvSpPr>
          <p:cNvPr id="30" name="Shape 28"/>
          <p:cNvSpPr/>
          <p:nvPr/>
        </p:nvSpPr>
        <p:spPr>
          <a:xfrm>
            <a:off x="4736592" y="5111496"/>
            <a:ext cx="100584" cy="100584"/>
          </a:xfrm>
          <a:prstGeom prst="ellipse">
            <a:avLst/>
          </a:prstGeom>
          <a:solidFill>
            <a:srgbClr val="1F52D6"/>
          </a:solidFill>
          <a:ln/>
        </p:spPr>
        <p:txBody>
          <a:bodyPr/>
          <a:lstStyle/>
          <a:p>
            <a:endParaRPr lang="en-US"/>
          </a:p>
        </p:txBody>
      </p:sp>
      <p:sp>
        <p:nvSpPr>
          <p:cNvPr id="31" name="Text 29"/>
          <p:cNvSpPr/>
          <p:nvPr/>
        </p:nvSpPr>
        <p:spPr>
          <a:xfrm>
            <a:off x="4956048" y="5001768"/>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Tenure 266 days</a:t>
            </a:r>
            <a:endParaRPr lang="en-US" sz="1300"/>
          </a:p>
        </p:txBody>
      </p:sp>
      <p:sp>
        <p:nvSpPr>
          <p:cNvPr id="32" name="Shape 30"/>
          <p:cNvSpPr/>
          <p:nvPr/>
        </p:nvSpPr>
        <p:spPr>
          <a:xfrm>
            <a:off x="822960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33" name="Shape 31"/>
          <p:cNvSpPr/>
          <p:nvPr/>
        </p:nvSpPr>
        <p:spPr>
          <a:xfrm>
            <a:off x="8229600" y="1783080"/>
            <a:ext cx="3566160" cy="91440"/>
          </a:xfrm>
          <a:prstGeom prst="rect">
            <a:avLst/>
          </a:prstGeom>
          <a:solidFill>
            <a:srgbClr val="1F52D6"/>
          </a:solidFill>
          <a:ln/>
        </p:spPr>
        <p:txBody>
          <a:bodyPr/>
          <a:lstStyle/>
          <a:p>
            <a:endParaRPr lang="en-US"/>
          </a:p>
        </p:txBody>
      </p:sp>
      <p:sp>
        <p:nvSpPr>
          <p:cNvPr id="34" name="Text 32"/>
          <p:cNvSpPr/>
          <p:nvPr/>
        </p:nvSpPr>
        <p:spPr>
          <a:xfrm>
            <a:off x="854964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a:solidFill>
                  <a:srgbClr val="1F52D6"/>
                </a:solidFill>
                <a:latin typeface="Calibri" pitchFamily="34" charset="0"/>
                <a:ea typeface="Calibri" pitchFamily="34" charset="-122"/>
                <a:cs typeface="Calibri" pitchFamily="34" charset="-120"/>
              </a:rPr>
              <a:t>HIGH-VALUE ACTIVES</a:t>
            </a:r>
            <a:endParaRPr lang="en-US" sz="1200"/>
          </a:p>
        </p:txBody>
      </p:sp>
      <p:sp>
        <p:nvSpPr>
          <p:cNvPr id="35" name="Text 33"/>
          <p:cNvSpPr/>
          <p:nvPr/>
        </p:nvSpPr>
        <p:spPr>
          <a:xfrm>
            <a:off x="8522208" y="2560320"/>
            <a:ext cx="3017520" cy="777240"/>
          </a:xfrm>
          <a:prstGeom prst="rect">
            <a:avLst/>
          </a:prstGeom>
          <a:noFill/>
          <a:ln/>
        </p:spPr>
        <p:txBody>
          <a:bodyPr wrap="square" lIns="0" tIns="0" rIns="0" bIns="0" rtlCol="0" anchor="ctr"/>
          <a:lstStyle/>
          <a:p>
            <a:pPr marL="0" indent="0" algn="l">
              <a:buNone/>
            </a:pPr>
            <a:r>
              <a:rPr lang="en-US" sz="4000" b="1">
                <a:solidFill>
                  <a:srgbClr val="16233B"/>
                </a:solidFill>
                <a:latin typeface="Georgia" pitchFamily="34" charset="0"/>
                <a:ea typeface="Georgia" pitchFamily="34" charset="-122"/>
                <a:cs typeface="Georgia" pitchFamily="34" charset="-120"/>
              </a:rPr>
              <a:t>657</a:t>
            </a:r>
            <a:endParaRPr lang="en-US" sz="4000"/>
          </a:p>
        </p:txBody>
      </p:sp>
      <p:sp>
        <p:nvSpPr>
          <p:cNvPr id="36" name="Text 34"/>
          <p:cNvSpPr/>
          <p:nvPr/>
        </p:nvSpPr>
        <p:spPr>
          <a:xfrm>
            <a:off x="8549640" y="3319272"/>
            <a:ext cx="2926080" cy="274320"/>
          </a:xfrm>
          <a:prstGeom prst="rect">
            <a:avLst/>
          </a:prstGeom>
          <a:noFill/>
          <a:ln/>
        </p:spPr>
        <p:txBody>
          <a:bodyPr wrap="square" lIns="0" tIns="0" rIns="0" bIns="0" rtlCol="0" anchor="ctr"/>
          <a:lstStyle/>
          <a:p>
            <a:pPr marL="0" indent="0" algn="l">
              <a:buNone/>
            </a:pPr>
            <a:r>
              <a:rPr lang="en-US" sz="1250" i="1">
                <a:solidFill>
                  <a:srgbClr val="5C6B85"/>
                </a:solidFill>
                <a:latin typeface="Calibri" pitchFamily="34" charset="0"/>
                <a:ea typeface="Calibri" pitchFamily="34" charset="-122"/>
                <a:cs typeface="Calibri" pitchFamily="34" charset="-120"/>
              </a:rPr>
              <a:t>customers · segment 4</a:t>
            </a:r>
            <a:endParaRPr lang="en-US" sz="1250"/>
          </a:p>
        </p:txBody>
      </p:sp>
      <p:sp>
        <p:nvSpPr>
          <p:cNvPr id="37" name="Shape 35"/>
          <p:cNvSpPr/>
          <p:nvPr/>
        </p:nvSpPr>
        <p:spPr>
          <a:xfrm>
            <a:off x="8549640" y="3685032"/>
            <a:ext cx="2926080" cy="10973"/>
          </a:xfrm>
          <a:prstGeom prst="rect">
            <a:avLst/>
          </a:prstGeom>
          <a:solidFill>
            <a:srgbClr val="D4DCEA"/>
          </a:solidFill>
          <a:ln/>
        </p:spPr>
        <p:txBody>
          <a:bodyPr/>
          <a:lstStyle/>
          <a:p>
            <a:endParaRPr lang="en-US"/>
          </a:p>
        </p:txBody>
      </p:sp>
      <p:sp>
        <p:nvSpPr>
          <p:cNvPr id="38" name="Shape 36"/>
          <p:cNvSpPr/>
          <p:nvPr/>
        </p:nvSpPr>
        <p:spPr>
          <a:xfrm>
            <a:off x="8577072" y="3904488"/>
            <a:ext cx="100584" cy="100584"/>
          </a:xfrm>
          <a:prstGeom prst="ellipse">
            <a:avLst/>
          </a:prstGeom>
          <a:solidFill>
            <a:srgbClr val="1F52D6"/>
          </a:solidFill>
          <a:ln/>
        </p:spPr>
        <p:txBody>
          <a:bodyPr/>
          <a:lstStyle/>
          <a:p>
            <a:endParaRPr lang="en-US"/>
          </a:p>
        </p:txBody>
      </p:sp>
      <p:sp>
        <p:nvSpPr>
          <p:cNvPr id="39" name="Text 37"/>
          <p:cNvSpPr/>
          <p:nvPr/>
        </p:nvSpPr>
        <p:spPr>
          <a:xfrm>
            <a:off x="8796528" y="3794760"/>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Avg. spend $23.60</a:t>
            </a:r>
            <a:endParaRPr lang="en-US" sz="1300"/>
          </a:p>
        </p:txBody>
      </p:sp>
      <p:sp>
        <p:nvSpPr>
          <p:cNvPr id="40" name="Shape 38"/>
          <p:cNvSpPr/>
          <p:nvPr/>
        </p:nvSpPr>
        <p:spPr>
          <a:xfrm>
            <a:off x="8577072" y="4306824"/>
            <a:ext cx="100584" cy="100584"/>
          </a:xfrm>
          <a:prstGeom prst="ellipse">
            <a:avLst/>
          </a:prstGeom>
          <a:solidFill>
            <a:srgbClr val="1F52D6"/>
          </a:solidFill>
          <a:ln/>
        </p:spPr>
        <p:txBody>
          <a:bodyPr/>
          <a:lstStyle/>
          <a:p>
            <a:endParaRPr lang="en-US"/>
          </a:p>
        </p:txBody>
      </p:sp>
      <p:sp>
        <p:nvSpPr>
          <p:cNvPr id="41" name="Text 39"/>
          <p:cNvSpPr/>
          <p:nvPr/>
        </p:nvSpPr>
        <p:spPr>
          <a:xfrm>
            <a:off x="8796528" y="4197096"/>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Frequency 2.15</a:t>
            </a:r>
            <a:endParaRPr lang="en-US" sz="1300"/>
          </a:p>
        </p:txBody>
      </p:sp>
      <p:sp>
        <p:nvSpPr>
          <p:cNvPr id="42" name="Shape 40"/>
          <p:cNvSpPr/>
          <p:nvPr/>
        </p:nvSpPr>
        <p:spPr>
          <a:xfrm>
            <a:off x="8577072" y="4709160"/>
            <a:ext cx="100584" cy="100584"/>
          </a:xfrm>
          <a:prstGeom prst="ellipse">
            <a:avLst/>
          </a:prstGeom>
          <a:solidFill>
            <a:srgbClr val="1F52D6"/>
          </a:solidFill>
          <a:ln/>
        </p:spPr>
        <p:txBody>
          <a:bodyPr/>
          <a:lstStyle/>
          <a:p>
            <a:endParaRPr lang="en-US"/>
          </a:p>
        </p:txBody>
      </p:sp>
      <p:sp>
        <p:nvSpPr>
          <p:cNvPr id="43" name="Text 41"/>
          <p:cNvSpPr/>
          <p:nvPr/>
        </p:nvSpPr>
        <p:spPr>
          <a:xfrm>
            <a:off x="8796528" y="4599432"/>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Recency 192</a:t>
            </a:r>
            <a:endParaRPr lang="en-US" sz="1300"/>
          </a:p>
        </p:txBody>
      </p:sp>
      <p:sp>
        <p:nvSpPr>
          <p:cNvPr id="44" name="Shape 42"/>
          <p:cNvSpPr/>
          <p:nvPr/>
        </p:nvSpPr>
        <p:spPr>
          <a:xfrm>
            <a:off x="8577072" y="5111496"/>
            <a:ext cx="100584" cy="100584"/>
          </a:xfrm>
          <a:prstGeom prst="ellipse">
            <a:avLst/>
          </a:prstGeom>
          <a:solidFill>
            <a:srgbClr val="1F52D6"/>
          </a:solidFill>
          <a:ln/>
        </p:spPr>
        <p:txBody>
          <a:bodyPr/>
          <a:lstStyle/>
          <a:p>
            <a:endParaRPr lang="en-US"/>
          </a:p>
        </p:txBody>
      </p:sp>
      <p:sp>
        <p:nvSpPr>
          <p:cNvPr id="45" name="Text 43"/>
          <p:cNvSpPr/>
          <p:nvPr/>
        </p:nvSpPr>
        <p:spPr>
          <a:xfrm>
            <a:off x="8796528" y="5001768"/>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Tenure 274 days</a:t>
            </a:r>
            <a:endParaRPr lang="en-US" sz="1300"/>
          </a:p>
        </p:txBody>
      </p:sp>
      <p:sp>
        <p:nvSpPr>
          <p:cNvPr id="46" name="Shape 44"/>
          <p:cNvSpPr/>
          <p:nvPr/>
        </p:nvSpPr>
        <p:spPr>
          <a:xfrm>
            <a:off x="8577072" y="5513832"/>
            <a:ext cx="100584" cy="100584"/>
          </a:xfrm>
          <a:prstGeom prst="ellipse">
            <a:avLst/>
          </a:prstGeom>
          <a:solidFill>
            <a:srgbClr val="1F52D6"/>
          </a:solidFill>
          <a:ln/>
        </p:spPr>
        <p:txBody>
          <a:bodyPr/>
          <a:lstStyle/>
          <a:p>
            <a:endParaRPr lang="en-US"/>
          </a:p>
        </p:txBody>
      </p:sp>
      <p:sp>
        <p:nvSpPr>
          <p:cNvPr id="47" name="Text 45"/>
          <p:cNvSpPr/>
          <p:nvPr/>
        </p:nvSpPr>
        <p:spPr>
          <a:xfrm>
            <a:off x="8796528" y="5404104"/>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2.4 unique items</a:t>
            </a:r>
            <a:endParaRPr lang="en-US" sz="1300"/>
          </a:p>
        </p:txBody>
      </p:sp>
      <p:sp>
        <p:nvSpPr>
          <p:cNvPr id="48" name="Text 46"/>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49" name="Text 47"/>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13</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ilhouette Chart">
    <p:spTree>
      <p:nvGrpSpPr>
        <p:cNvPr id="1" name=""/>
        <p:cNvGrpSpPr/>
        <p:nvPr/>
      </p:nvGrpSpPr>
      <p:grpSpPr>
        <a:xfrm>
          <a:off x="0" y="0"/>
          <a:ext cx="0" cy="0"/>
          <a:chOff x="0" y="0"/>
          <a:chExt cx="0" cy="0"/>
        </a:xfrm>
      </p:grpSpPr>
      <p:sp>
        <p:nvSpPr>
          <p:cNvPr id="2" name="Eyebrow"/>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CLUSTERING VALIDATION</a:t>
            </a:r>
            <a:endParaRPr lang="en-US" sz="1250"/>
          </a:p>
        </p:txBody>
      </p:sp>
      <p:sp>
        <p:nvSpPr>
          <p:cNvPr id="3" name="Title"/>
          <p:cNvSpPr/>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How many segments? Silhouette scores</a:t>
            </a:r>
            <a:endParaRPr lang="en-US" sz="3000"/>
          </a:p>
        </p:txBody>
      </p:sp>
      <p:graphicFrame>
        <p:nvGraphicFramePr>
          <p:cNvPr id="10" name="Silhouette Chart"/>
          <p:cNvGraphicFramePr/>
          <p:nvPr>
            <p:extLst>
              <p:ext uri="{D42A27DB-BD31-4B8C-83A1-F6EECF244321}">
                <p14:modId xmlns:p14="http://schemas.microsoft.com/office/powerpoint/2010/main" val="2290714214"/>
              </p:ext>
            </p:extLst>
          </p:nvPr>
        </p:nvGraphicFramePr>
        <p:xfrm>
          <a:off x="548640" y="1660000"/>
          <a:ext cx="6980000" cy="418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Chart source"/>
          <p:cNvSpPr/>
          <p:nvPr/>
        </p:nvSpPr>
        <p:spPr>
          <a:xfrm>
            <a:off x="548640" y="5880000"/>
            <a:ext cx="6980000" cy="300000"/>
          </a:xfrm>
          <a:prstGeom prst="rect">
            <a:avLst/>
          </a:prstGeom>
          <a:noFill/>
          <a:ln/>
        </p:spPr>
        <p:txBody>
          <a:bodyPr wrap="square" lIns="0" tIns="0" rIns="0" bIns="0" rtlCol="0" anchor="ctr"/>
          <a:lstStyle/>
          <a:p>
            <a:pPr marL="0" indent="0" algn="l">
              <a:buNone/>
            </a:pPr>
            <a:r>
              <a:rPr lang="en-US" sz="900" i="1">
                <a:solidFill>
                  <a:srgbClr val="5C6B85"/>
                </a:solidFill>
                <a:latin typeface="Calibri" pitchFamily="34" charset="0"/>
                <a:ea typeface="Calibri" pitchFamily="34" charset="-122"/>
                <a:cs typeface="Calibri" pitchFamily="34" charset="-120"/>
              </a:rPr>
              <a:t>Silhouette scores from the K-means clustering notebook (scikit-learn), k = 2 to 10.</a:t>
            </a:r>
            <a:endParaRPr lang="en-US" sz="900"/>
          </a:p>
        </p:txBody>
      </p:sp>
      <p:sp>
        <p:nvSpPr>
          <p:cNvPr id="20" name="Insight card"/>
          <p:cNvSpPr/>
          <p:nvPr/>
        </p:nvSpPr>
        <p:spPr>
          <a:xfrm>
            <a:off x="7750000" y="1660000"/>
            <a:ext cx="3893360" cy="418000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1" name="Insight accent"/>
          <p:cNvSpPr/>
          <p:nvPr/>
        </p:nvSpPr>
        <p:spPr>
          <a:xfrm>
            <a:off x="7750000" y="1660000"/>
            <a:ext cx="91440" cy="4180000"/>
          </a:xfrm>
          <a:prstGeom prst="rect">
            <a:avLst/>
          </a:prstGeom>
          <a:solidFill>
            <a:srgbClr val="1F52D6"/>
          </a:solidFill>
          <a:ln/>
        </p:spPr>
        <p:txBody>
          <a:bodyPr/>
          <a:lstStyle/>
          <a:p>
            <a:endParaRPr lang="en-US"/>
          </a:p>
        </p:txBody>
      </p:sp>
      <p:sp>
        <p:nvSpPr>
          <p:cNvPr id="22" name="Insight heading"/>
          <p:cNvSpPr/>
          <p:nvPr/>
        </p:nvSpPr>
        <p:spPr>
          <a:xfrm>
            <a:off x="8040000" y="1900000"/>
            <a:ext cx="3450000" cy="46000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Reading the curve</a:t>
            </a:r>
            <a:endParaRPr lang="en-US" sz="1800"/>
          </a:p>
        </p:txBody>
      </p:sp>
      <p:sp>
        <p:nvSpPr>
          <p:cNvPr id="23" name="Insight body"/>
          <p:cNvSpPr/>
          <p:nvPr/>
        </p:nvSpPr>
        <p:spPr>
          <a:xfrm>
            <a:off x="8040000" y="2420000"/>
            <a:ext cx="3450000" cy="2280000"/>
          </a:xfrm>
          <a:prstGeom prst="rect">
            <a:avLst/>
          </a:prstGeom>
          <a:noFill/>
          <a:ln/>
        </p:spPr>
        <p:txBody>
          <a:bodyPr wrap="square" lIns="0" tIns="0" rIns="0" bIns="0" rtlCol="0"/>
          <a:lstStyle/>
          <a:p>
            <a:pPr marL="0" indent="0" algn="l">
              <a:lnSpc>
                <a:spcPct val="108000"/>
              </a:lnSpc>
              <a:buNone/>
            </a:pPr>
            <a:r>
              <a:rPr lang="en-US" sz="1300">
                <a:solidFill>
                  <a:srgbClr val="5C6B85"/>
                </a:solidFill>
                <a:latin typeface="Calibri" pitchFamily="34" charset="0"/>
                <a:ea typeface="Calibri" pitchFamily="34" charset="-122"/>
                <a:cs typeface="Calibri" pitchFamily="34" charset="-120"/>
              </a:rPr>
              <a:t>The score is highest at two clusters (0.44), then settles near 0.37 as more clusters are added. Raw score alone favors the coarsest split.</a:t>
            </a:r>
          </a:p>
          <a:p>
            <a:pPr marL="0" indent="0" algn="l">
              <a:lnSpc>
                <a:spcPct val="108000"/>
              </a:lnSpc>
              <a:spcBef>
                <a:spcPts val="800"/>
              </a:spcBef>
              <a:buNone/>
            </a:pPr>
            <a:r>
              <a:rPr lang="en-US" sz="1300">
                <a:solidFill>
                  <a:srgbClr val="5C6B85"/>
                </a:solidFill>
                <a:latin typeface="Calibri" pitchFamily="34" charset="0"/>
                <a:ea typeface="Calibri" pitchFamily="34" charset="-122"/>
                <a:cs typeface="Calibri" pitchFamily="34" charset="-120"/>
              </a:rPr>
              <a:t>We chose five (highlighted) — where the curve levels off and the segments stay distinct yet detailed enough to act on.</a:t>
            </a:r>
          </a:p>
        </p:txBody>
      </p:sp>
      <p:sp>
        <p:nvSpPr>
          <p:cNvPr id="24" name="Highlight box"/>
          <p:cNvSpPr/>
          <p:nvPr/>
        </p:nvSpPr>
        <p:spPr>
          <a:xfrm>
            <a:off x="8040000" y="4900000"/>
            <a:ext cx="3450000" cy="720000"/>
          </a:xfrm>
          <a:prstGeom prst="rect">
            <a:avLst/>
          </a:prstGeom>
          <a:solidFill>
            <a:srgbClr val="FDF1DF"/>
          </a:solidFill>
          <a:ln w="12700">
            <a:solidFill>
              <a:srgbClr val="F5A623"/>
            </a:solidFill>
          </a:ln>
        </p:spPr>
        <p:txBody>
          <a:bodyPr wrap="square" lIns="137160" tIns="45720" rIns="91440" bIns="45720" rtlCol="0" anchor="ctr"/>
          <a:lstStyle/>
          <a:p>
            <a:pPr marL="0" indent="0" algn="l">
              <a:buNone/>
            </a:pPr>
            <a:r>
              <a:rPr lang="en-US" sz="1400" b="1">
                <a:solidFill>
                  <a:srgbClr val="B26B00"/>
                </a:solidFill>
                <a:latin typeface="Georgia" pitchFamily="34" charset="0"/>
                <a:ea typeface="Georgia" pitchFamily="34" charset="-122"/>
                <a:cs typeface="Georgia" pitchFamily="34" charset="-120"/>
              </a:rPr>
              <a:t>k = 5 selected</a:t>
            </a:r>
          </a:p>
          <a:p>
            <a:pPr marL="0" indent="0" algn="l">
              <a:spcBef>
                <a:spcPts val="200"/>
              </a:spcBef>
              <a:buNone/>
            </a:pPr>
            <a:r>
              <a:rPr lang="en-US" sz="1100">
                <a:solidFill>
                  <a:srgbClr val="8A5A12"/>
                </a:solidFill>
                <a:latin typeface="Calibri" pitchFamily="34" charset="0"/>
                <a:ea typeface="Calibri" pitchFamily="34" charset="-122"/>
                <a:cs typeface="Calibri" pitchFamily="34" charset="-120"/>
              </a:rPr>
              <a:t>Balances separation with interpretability</a:t>
            </a:r>
          </a:p>
        </p:txBody>
      </p:sp>
      <p:sp>
        <p:nvSpPr>
          <p:cNvPr id="30" name="Footer"/>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31" name="Page number"/>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14</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CA Scatter">
    <p:spTree>
      <p:nvGrpSpPr>
        <p:cNvPr id="1" name=""/>
        <p:cNvGrpSpPr/>
        <p:nvPr/>
      </p:nvGrpSpPr>
      <p:grpSpPr>
        <a:xfrm>
          <a:off x="0" y="0"/>
          <a:ext cx="0" cy="0"/>
          <a:chOff x="0" y="0"/>
          <a:chExt cx="0" cy="0"/>
        </a:xfrm>
      </p:grpSpPr>
      <p:sp>
        <p:nvSpPr>
          <p:cNvPr id="2" name="Eyebrow"/>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CLUSTER VISUALIZATION</a:t>
            </a:r>
            <a:endParaRPr lang="en-US" sz="1250"/>
          </a:p>
        </p:txBody>
      </p:sp>
      <p:sp>
        <p:nvSpPr>
          <p:cNvPr id="3" name="Title"/>
          <p:cNvSpPr/>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Five segments, seen in two dimensions</a:t>
            </a:r>
            <a:endParaRPr lang="en-US" sz="3000"/>
          </a:p>
        </p:txBody>
      </p:sp>
      <p:graphicFrame>
        <p:nvGraphicFramePr>
          <p:cNvPr id="10" name="PCA Scatter Chart"/>
          <p:cNvGraphicFramePr/>
          <p:nvPr>
            <p:extLst>
              <p:ext uri="{D42A27DB-BD31-4B8C-83A1-F6EECF244321}">
                <p14:modId xmlns:p14="http://schemas.microsoft.com/office/powerpoint/2010/main" val="3772921723"/>
              </p:ext>
            </p:extLst>
          </p:nvPr>
        </p:nvGraphicFramePr>
        <p:xfrm>
          <a:off x="548640" y="1660000"/>
          <a:ext cx="6980000" cy="418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Chart source"/>
          <p:cNvSpPr/>
          <p:nvPr/>
        </p:nvSpPr>
        <p:spPr>
          <a:xfrm>
            <a:off x="548640" y="5880000"/>
            <a:ext cx="6980000" cy="300000"/>
          </a:xfrm>
          <a:prstGeom prst="rect">
            <a:avLst/>
          </a:prstGeom>
          <a:noFill/>
          <a:ln/>
        </p:spPr>
        <p:txBody>
          <a:bodyPr wrap="square" lIns="0" tIns="0" rIns="0" bIns="0" rtlCol="0" anchor="ctr"/>
          <a:lstStyle/>
          <a:p>
            <a:pPr marL="0" indent="0" algn="l">
              <a:buNone/>
            </a:pPr>
            <a:r>
              <a:rPr lang="en-US" sz="900" i="1">
                <a:solidFill>
                  <a:srgbClr val="5C6B85"/>
                </a:solidFill>
                <a:latin typeface="Calibri" pitchFamily="34" charset="0"/>
                <a:ea typeface="Calibri" pitchFamily="34" charset="-122"/>
                <a:cs typeface="Calibri" pitchFamily="34" charset="-120"/>
              </a:rPr>
              <a:t>Illustrative PCA projection — a schematic view of the five K-means segments, not exact point coordinates.</a:t>
            </a:r>
            <a:endParaRPr lang="en-US" sz="900"/>
          </a:p>
        </p:txBody>
      </p:sp>
      <p:sp>
        <p:nvSpPr>
          <p:cNvPr id="20" name="Insight card"/>
          <p:cNvSpPr/>
          <p:nvPr/>
        </p:nvSpPr>
        <p:spPr>
          <a:xfrm>
            <a:off x="7750000" y="1660000"/>
            <a:ext cx="3893360" cy="418000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1" name="Insight accent"/>
          <p:cNvSpPr/>
          <p:nvPr/>
        </p:nvSpPr>
        <p:spPr>
          <a:xfrm>
            <a:off x="7750000" y="1660000"/>
            <a:ext cx="91440" cy="4180000"/>
          </a:xfrm>
          <a:prstGeom prst="rect">
            <a:avLst/>
          </a:prstGeom>
          <a:solidFill>
            <a:srgbClr val="1F52D6"/>
          </a:solidFill>
          <a:ln/>
        </p:spPr>
        <p:txBody>
          <a:bodyPr/>
          <a:lstStyle/>
          <a:p>
            <a:endParaRPr lang="en-US"/>
          </a:p>
        </p:txBody>
      </p:sp>
      <p:sp>
        <p:nvSpPr>
          <p:cNvPr id="22" name="Insight heading"/>
          <p:cNvSpPr/>
          <p:nvPr/>
        </p:nvSpPr>
        <p:spPr>
          <a:xfrm>
            <a:off x="8040000" y="1900000"/>
            <a:ext cx="3450000" cy="46000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What PCA shows</a:t>
            </a:r>
            <a:endParaRPr lang="en-US" sz="1800"/>
          </a:p>
        </p:txBody>
      </p:sp>
      <p:sp>
        <p:nvSpPr>
          <p:cNvPr id="23" name="Insight body"/>
          <p:cNvSpPr/>
          <p:nvPr/>
        </p:nvSpPr>
        <p:spPr>
          <a:xfrm>
            <a:off x="8040000" y="2420000"/>
            <a:ext cx="3450000" cy="3200000"/>
          </a:xfrm>
          <a:prstGeom prst="rect">
            <a:avLst/>
          </a:prstGeom>
          <a:noFill/>
          <a:ln/>
        </p:spPr>
        <p:txBody>
          <a:bodyPr wrap="square" lIns="0" tIns="0" rIns="0" bIns="0" rtlCol="0"/>
          <a:lstStyle/>
          <a:p>
            <a:pPr marL="0" indent="0" algn="l">
              <a:lnSpc>
                <a:spcPct val="108000"/>
              </a:lnSpc>
              <a:buNone/>
            </a:pPr>
            <a:r>
              <a:rPr lang="en-US" sz="1300">
                <a:solidFill>
                  <a:srgbClr val="5C6B85"/>
                </a:solidFill>
                <a:latin typeface="Calibri" pitchFamily="34" charset="0"/>
                <a:ea typeface="Calibri" pitchFamily="34" charset="-122"/>
                <a:cs typeface="Calibri" pitchFamily="34" charset="-120"/>
              </a:rPr>
              <a:t>Principal component analysis compresses the five behavioral features into two axes, letting us see the segments on a single plane.</a:t>
            </a:r>
          </a:p>
          <a:p>
            <a:pPr marL="0" indent="0" algn="l">
              <a:lnSpc>
                <a:spcPct val="108000"/>
              </a:lnSpc>
              <a:spcBef>
                <a:spcPts val="800"/>
              </a:spcBef>
              <a:buNone/>
            </a:pPr>
            <a:r>
              <a:rPr lang="en-US" sz="1300">
                <a:solidFill>
                  <a:srgbClr val="5C6B85"/>
                </a:solidFill>
                <a:latin typeface="Calibri" pitchFamily="34" charset="0"/>
                <a:ea typeface="Calibri" pitchFamily="34" charset="-122"/>
                <a:cs typeface="Calibri" pitchFamily="34" charset="-120"/>
              </a:rPr>
              <a:t>The High-Value Actives spread to one side, the Dormant and Newcomer groups cluster near the center, and the 10-customer Micro Outlier group sits far apart — confirming the five segments are genuinely distinct.</a:t>
            </a:r>
          </a:p>
        </p:txBody>
      </p:sp>
      <p:sp>
        <p:nvSpPr>
          <p:cNvPr id="30" name="Footer"/>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31" name="Page number"/>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15</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egment Actions">
    <p:spTree>
      <p:nvGrpSpPr>
        <p:cNvPr id="1" name=""/>
        <p:cNvGrpSpPr/>
        <p:nvPr/>
      </p:nvGrpSpPr>
      <p:grpSpPr>
        <a:xfrm>
          <a:off x="0" y="0"/>
          <a:ext cx="0" cy="0"/>
          <a:chOff x="0" y="0"/>
          <a:chExt cx="0" cy="0"/>
        </a:xfrm>
      </p:grpSpPr>
      <p:sp>
        <p:nvSpPr>
          <p:cNvPr id="2" name="Eyebrow"/>
          <p:cNvSpPr/>
          <p:nvPr/>
        </p:nvSpPr>
        <p:spPr>
          <a:xfrm>
            <a:off x="548640" y="320040"/>
            <a:ext cx="10058400" cy="292608"/>
          </a:xfrm>
          <a:prstGeom prst="rect">
            <a:avLst/>
          </a:prstGeom>
          <a:noFill/>
          <a:ln/>
        </p:spPr>
        <p:txBody>
          <a:bodyPr wrap="square" lIns="0" tIns="0" rIns="0" bIns="0" rtlCol="0" anchor="ctr"/>
          <a:lstStyle/>
          <a:p>
            <a:pPr marL="0" indent="0" algn="l">
              <a:lnSpc>
                <a:spcPct val="104000"/>
              </a:lnSpc>
              <a:buNone/>
            </a:pPr>
            <a:r>
              <a:rPr lang="en-US" sz="1250" b="1" spc="200">
                <a:solidFill>
                  <a:srgbClr val="1F52D6"/>
                </a:solidFill>
                <a:latin typeface="Calibri" pitchFamily="34" charset="0"/>
                <a:ea typeface="Calibri" pitchFamily="34" charset="-122"/>
                <a:cs typeface="Calibri" pitchFamily="34" charset="-120"/>
              </a:rPr>
              <a:t>SEGMENT PLAYBOOK</a:t>
            </a:r>
          </a:p>
        </p:txBody>
      </p:sp>
      <p:sp>
        <p:nvSpPr>
          <p:cNvPr id="3" name="Title"/>
          <p:cNvSpPr/>
          <p:nvPr/>
        </p:nvSpPr>
        <p:spPr>
          <a:xfrm>
            <a:off x="548640" y="566928"/>
            <a:ext cx="11064240" cy="822960"/>
          </a:xfrm>
          <a:prstGeom prst="rect">
            <a:avLst/>
          </a:prstGeom>
          <a:noFill/>
          <a:ln/>
        </p:spPr>
        <p:txBody>
          <a:bodyPr wrap="square" lIns="0" tIns="0" rIns="0" bIns="0" rtlCol="0" anchor="t"/>
          <a:lstStyle/>
          <a:p>
            <a:pPr marL="0" indent="0" algn="l">
              <a:lnSpc>
                <a:spcPct val="104000"/>
              </a:lnSpc>
              <a:buNone/>
            </a:pPr>
            <a:r>
              <a:rPr lang="en-US" sz="3000" b="1">
                <a:solidFill>
                  <a:srgbClr val="16233B"/>
                </a:solidFill>
                <a:latin typeface="Georgia" pitchFamily="34" charset="0"/>
                <a:ea typeface="Georgia" pitchFamily="34" charset="-122"/>
                <a:cs typeface="Georgia" pitchFamily="34" charset="-120"/>
              </a:rPr>
              <a:t>From segments to marketing action</a:t>
            </a:r>
          </a:p>
        </p:txBody>
      </p:sp>
      <p:sp>
        <p:nvSpPr>
          <p:cNvPr id="40" name="Row 0 card"/>
          <p:cNvSpPr/>
          <p:nvPr/>
        </p:nvSpPr>
        <p:spPr>
          <a:xfrm>
            <a:off x="548640" y="1600000"/>
            <a:ext cx="11094720" cy="77200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41" name="Row 0 accent"/>
          <p:cNvSpPr/>
          <p:nvPr/>
        </p:nvSpPr>
        <p:spPr>
          <a:xfrm>
            <a:off x="548640" y="1600000"/>
            <a:ext cx="120000" cy="772000"/>
          </a:xfrm>
          <a:prstGeom prst="rect">
            <a:avLst/>
          </a:prstGeom>
          <a:solidFill>
            <a:srgbClr val="1F52D6"/>
          </a:solidFill>
          <a:ln/>
        </p:spPr>
        <p:txBody>
          <a:bodyPr/>
          <a:lstStyle/>
          <a:p>
            <a:endParaRPr lang="en-US"/>
          </a:p>
        </p:txBody>
      </p:sp>
      <p:sp>
        <p:nvSpPr>
          <p:cNvPr id="42" name="Row 0 num"/>
          <p:cNvSpPr/>
          <p:nvPr/>
        </p:nvSpPr>
        <p:spPr>
          <a:xfrm>
            <a:off x="760000" y="1600000"/>
            <a:ext cx="620000" cy="772000"/>
          </a:xfrm>
          <a:prstGeom prst="rect">
            <a:avLst/>
          </a:prstGeom>
          <a:noFill/>
          <a:ln/>
        </p:spPr>
        <p:txBody>
          <a:bodyPr wrap="square" lIns="0" tIns="0" rIns="0" bIns="0" rtlCol="0" anchor="ctr"/>
          <a:lstStyle/>
          <a:p>
            <a:pPr marL="0" indent="0" algn="l">
              <a:lnSpc>
                <a:spcPct val="104000"/>
              </a:lnSpc>
              <a:buNone/>
            </a:pPr>
            <a:r>
              <a:rPr lang="en-US" sz="3200" b="1">
                <a:solidFill>
                  <a:srgbClr val="1F52D6"/>
                </a:solidFill>
                <a:latin typeface="Georgia" pitchFamily="34" charset="0"/>
                <a:ea typeface="Georgia" pitchFamily="34" charset="-122"/>
                <a:cs typeface="Georgia" pitchFamily="34" charset="-120"/>
              </a:rPr>
              <a:t>0</a:t>
            </a:r>
          </a:p>
        </p:txBody>
      </p:sp>
      <p:sp>
        <p:nvSpPr>
          <p:cNvPr id="43" name="Row 0 name"/>
          <p:cNvSpPr/>
          <p:nvPr/>
        </p:nvSpPr>
        <p:spPr>
          <a:xfrm>
            <a:off x="1500000" y="1600000"/>
            <a:ext cx="3050000" cy="772000"/>
          </a:xfrm>
          <a:prstGeom prst="rect">
            <a:avLst/>
          </a:prstGeom>
          <a:noFill/>
          <a:ln/>
        </p:spPr>
        <p:txBody>
          <a:bodyPr wrap="square" lIns="0" tIns="0" rIns="0" bIns="0" rtlCol="0" anchor="ctr"/>
          <a:lstStyle/>
          <a:p>
            <a:pPr marL="0" indent="0" algn="l">
              <a:lnSpc>
                <a:spcPct val="104000"/>
              </a:lnSpc>
              <a:buNone/>
            </a:pPr>
            <a:r>
              <a:rPr lang="en-US" sz="1500" b="1">
                <a:solidFill>
                  <a:srgbClr val="16233B"/>
                </a:solidFill>
                <a:latin typeface="Georgia" pitchFamily="34" charset="0"/>
                <a:ea typeface="Georgia" pitchFamily="34" charset="-122"/>
                <a:cs typeface="Georgia" pitchFamily="34" charset="-120"/>
              </a:rPr>
              <a:t>Low-Value Newcomers</a:t>
            </a:r>
          </a:p>
          <a:p>
            <a:pPr marL="0" indent="0" algn="l">
              <a:lnSpc>
                <a:spcPct val="104000"/>
              </a:lnSpc>
              <a:buNone/>
            </a:pPr>
            <a:r>
              <a:rPr lang="en-US" sz="1050" b="0">
                <a:solidFill>
                  <a:srgbClr val="5C6B85"/>
                </a:solidFill>
                <a:latin typeface="Calibri" pitchFamily="34" charset="0"/>
                <a:ea typeface="Calibri" pitchFamily="34" charset="-122"/>
                <a:cs typeface="Calibri" pitchFamily="34" charset="-120"/>
              </a:rPr>
              <a:t>671 customers</a:t>
            </a:r>
          </a:p>
        </p:txBody>
      </p:sp>
      <p:sp>
        <p:nvSpPr>
          <p:cNvPr id="44" name="Row 0 action"/>
          <p:cNvSpPr/>
          <p:nvPr/>
        </p:nvSpPr>
        <p:spPr>
          <a:xfrm>
            <a:off x="4820000" y="1600000"/>
            <a:ext cx="6650000" cy="772000"/>
          </a:xfrm>
          <a:prstGeom prst="rect">
            <a:avLst/>
          </a:prstGeom>
          <a:noFill/>
          <a:ln/>
        </p:spPr>
        <p:txBody>
          <a:bodyPr wrap="square" lIns="0" tIns="0" rIns="0" bIns="0" rtlCol="0" anchor="ctr"/>
          <a:lstStyle/>
          <a:p>
            <a:pPr marL="0" indent="0" algn="l">
              <a:lnSpc>
                <a:spcPct val="104000"/>
              </a:lnSpc>
              <a:buNone/>
            </a:pPr>
            <a:r>
              <a:rPr lang="en-US" sz="1050" b="1" spc="200">
                <a:solidFill>
                  <a:srgbClr val="1F52D6"/>
                </a:solidFill>
                <a:latin typeface="Calibri" pitchFamily="34" charset="0"/>
                <a:ea typeface="Calibri" pitchFamily="34" charset="-122"/>
                <a:cs typeface="Calibri" pitchFamily="34" charset="-120"/>
              </a:rPr>
              <a:t>WELCOME &amp; ONBOARD</a:t>
            </a:r>
          </a:p>
          <a:p>
            <a:pPr marL="0" indent="0" algn="l">
              <a:lnSpc>
                <a:spcPct val="104000"/>
              </a:lnSpc>
              <a:buNone/>
            </a:pPr>
            <a:r>
              <a:rPr lang="en-US" sz="1200" b="0">
                <a:solidFill>
                  <a:srgbClr val="5C6B85"/>
                </a:solidFill>
                <a:latin typeface="Calibri" pitchFamily="34" charset="0"/>
                <a:ea typeface="Calibri" pitchFamily="34" charset="-122"/>
                <a:cs typeface="Calibri" pitchFamily="34" charset="-120"/>
              </a:rPr>
              <a:t>Nurture with a first-purchase series and starter offers to build early buying habits.</a:t>
            </a:r>
          </a:p>
        </p:txBody>
      </p:sp>
      <p:sp>
        <p:nvSpPr>
          <p:cNvPr id="45" name="Row 1 card"/>
          <p:cNvSpPr/>
          <p:nvPr/>
        </p:nvSpPr>
        <p:spPr>
          <a:xfrm>
            <a:off x="548640" y="2446000"/>
            <a:ext cx="11094720" cy="77200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46" name="Row 1 accent"/>
          <p:cNvSpPr/>
          <p:nvPr/>
        </p:nvSpPr>
        <p:spPr>
          <a:xfrm>
            <a:off x="548640" y="2446000"/>
            <a:ext cx="120000" cy="772000"/>
          </a:xfrm>
          <a:prstGeom prst="rect">
            <a:avLst/>
          </a:prstGeom>
          <a:solidFill>
            <a:srgbClr val="F5A623"/>
          </a:solidFill>
          <a:ln/>
        </p:spPr>
        <p:txBody>
          <a:bodyPr/>
          <a:lstStyle/>
          <a:p>
            <a:endParaRPr lang="en-US"/>
          </a:p>
        </p:txBody>
      </p:sp>
      <p:sp>
        <p:nvSpPr>
          <p:cNvPr id="47" name="Row 1 num"/>
          <p:cNvSpPr/>
          <p:nvPr/>
        </p:nvSpPr>
        <p:spPr>
          <a:xfrm>
            <a:off x="760000" y="2446000"/>
            <a:ext cx="620000" cy="772000"/>
          </a:xfrm>
          <a:prstGeom prst="rect">
            <a:avLst/>
          </a:prstGeom>
          <a:noFill/>
          <a:ln/>
        </p:spPr>
        <p:txBody>
          <a:bodyPr wrap="square" lIns="0" tIns="0" rIns="0" bIns="0" rtlCol="0" anchor="ctr"/>
          <a:lstStyle/>
          <a:p>
            <a:pPr marL="0" indent="0" algn="l">
              <a:lnSpc>
                <a:spcPct val="104000"/>
              </a:lnSpc>
              <a:buNone/>
            </a:pPr>
            <a:r>
              <a:rPr lang="en-US" sz="3200" b="1">
                <a:solidFill>
                  <a:srgbClr val="F5A623"/>
                </a:solidFill>
                <a:latin typeface="Georgia" pitchFamily="34" charset="0"/>
                <a:ea typeface="Georgia" pitchFamily="34" charset="-122"/>
                <a:cs typeface="Georgia" pitchFamily="34" charset="-120"/>
              </a:rPr>
              <a:t>1</a:t>
            </a:r>
          </a:p>
        </p:txBody>
      </p:sp>
      <p:sp>
        <p:nvSpPr>
          <p:cNvPr id="48" name="Row 1 name"/>
          <p:cNvSpPr/>
          <p:nvPr/>
        </p:nvSpPr>
        <p:spPr>
          <a:xfrm>
            <a:off x="1500000" y="2446000"/>
            <a:ext cx="3050000" cy="772000"/>
          </a:xfrm>
          <a:prstGeom prst="rect">
            <a:avLst/>
          </a:prstGeom>
          <a:noFill/>
          <a:ln/>
        </p:spPr>
        <p:txBody>
          <a:bodyPr wrap="square" lIns="0" tIns="0" rIns="0" bIns="0" rtlCol="0" anchor="ctr"/>
          <a:lstStyle/>
          <a:p>
            <a:pPr marL="0" indent="0" algn="l">
              <a:lnSpc>
                <a:spcPct val="104000"/>
              </a:lnSpc>
              <a:buNone/>
            </a:pPr>
            <a:r>
              <a:rPr lang="en-US" sz="1500" b="1">
                <a:solidFill>
                  <a:srgbClr val="16233B"/>
                </a:solidFill>
                <a:latin typeface="Georgia" pitchFamily="34" charset="0"/>
                <a:ea typeface="Georgia" pitchFamily="34" charset="-122"/>
                <a:cs typeface="Georgia" pitchFamily="34" charset="-120"/>
              </a:rPr>
              <a:t>Micro Outlier Group</a:t>
            </a:r>
          </a:p>
          <a:p>
            <a:pPr marL="0" indent="0" algn="l">
              <a:lnSpc>
                <a:spcPct val="104000"/>
              </a:lnSpc>
              <a:buNone/>
            </a:pPr>
            <a:r>
              <a:rPr lang="en-US" sz="1050" b="0">
                <a:solidFill>
                  <a:srgbClr val="5C6B85"/>
                </a:solidFill>
                <a:latin typeface="Calibri" pitchFamily="34" charset="0"/>
                <a:ea typeface="Calibri" pitchFamily="34" charset="-122"/>
                <a:cs typeface="Calibri" pitchFamily="34" charset="-120"/>
              </a:rPr>
              <a:t>10 customers</a:t>
            </a:r>
          </a:p>
        </p:txBody>
      </p:sp>
      <p:sp>
        <p:nvSpPr>
          <p:cNvPr id="49" name="Row 1 action"/>
          <p:cNvSpPr/>
          <p:nvPr/>
        </p:nvSpPr>
        <p:spPr>
          <a:xfrm>
            <a:off x="4820000" y="2446000"/>
            <a:ext cx="6650000" cy="772000"/>
          </a:xfrm>
          <a:prstGeom prst="rect">
            <a:avLst/>
          </a:prstGeom>
          <a:noFill/>
          <a:ln/>
        </p:spPr>
        <p:txBody>
          <a:bodyPr wrap="square" lIns="0" tIns="0" rIns="0" bIns="0" rtlCol="0" anchor="ctr"/>
          <a:lstStyle/>
          <a:p>
            <a:pPr marL="0" indent="0" algn="l">
              <a:lnSpc>
                <a:spcPct val="104000"/>
              </a:lnSpc>
              <a:buNone/>
            </a:pPr>
            <a:r>
              <a:rPr lang="en-US" sz="1050" b="1" spc="200">
                <a:solidFill>
                  <a:srgbClr val="F5A623"/>
                </a:solidFill>
                <a:latin typeface="Calibri" pitchFamily="34" charset="0"/>
                <a:ea typeface="Calibri" pitchFamily="34" charset="-122"/>
                <a:cs typeface="Calibri" pitchFamily="34" charset="-120"/>
              </a:rPr>
              <a:t>INVESTIGATE MANUALLY</a:t>
            </a:r>
          </a:p>
          <a:p>
            <a:pPr marL="0" indent="0" algn="l">
              <a:lnSpc>
                <a:spcPct val="104000"/>
              </a:lnSpc>
              <a:buNone/>
            </a:pPr>
            <a:r>
              <a:rPr lang="en-US" sz="1200" b="0">
                <a:solidFill>
                  <a:srgbClr val="5C6B85"/>
                </a:solidFill>
                <a:latin typeface="Calibri" pitchFamily="34" charset="0"/>
                <a:ea typeface="Calibri" pitchFamily="34" charset="-122"/>
                <a:cs typeface="Calibri" pitchFamily="34" charset="-120"/>
              </a:rPr>
              <a:t>Review this tiny niche by hand for data quirks or a bespoke, high-touch approach.</a:t>
            </a:r>
          </a:p>
        </p:txBody>
      </p:sp>
      <p:sp>
        <p:nvSpPr>
          <p:cNvPr id="50" name="Row 2 card"/>
          <p:cNvSpPr/>
          <p:nvPr/>
        </p:nvSpPr>
        <p:spPr>
          <a:xfrm>
            <a:off x="548640" y="3292000"/>
            <a:ext cx="11094720" cy="77200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1" name="Row 2 accent"/>
          <p:cNvSpPr/>
          <p:nvPr/>
        </p:nvSpPr>
        <p:spPr>
          <a:xfrm>
            <a:off x="548640" y="3292000"/>
            <a:ext cx="120000" cy="772000"/>
          </a:xfrm>
          <a:prstGeom prst="rect">
            <a:avLst/>
          </a:prstGeom>
          <a:solidFill>
            <a:srgbClr val="5C6B85"/>
          </a:solidFill>
          <a:ln/>
        </p:spPr>
        <p:txBody>
          <a:bodyPr/>
          <a:lstStyle/>
          <a:p>
            <a:endParaRPr lang="en-US"/>
          </a:p>
        </p:txBody>
      </p:sp>
      <p:sp>
        <p:nvSpPr>
          <p:cNvPr id="52" name="Row 2 num"/>
          <p:cNvSpPr/>
          <p:nvPr/>
        </p:nvSpPr>
        <p:spPr>
          <a:xfrm>
            <a:off x="760000" y="3292000"/>
            <a:ext cx="620000" cy="772000"/>
          </a:xfrm>
          <a:prstGeom prst="rect">
            <a:avLst/>
          </a:prstGeom>
          <a:noFill/>
          <a:ln/>
        </p:spPr>
        <p:txBody>
          <a:bodyPr wrap="square" lIns="0" tIns="0" rIns="0" bIns="0" rtlCol="0" anchor="ctr"/>
          <a:lstStyle/>
          <a:p>
            <a:pPr marL="0" indent="0" algn="l">
              <a:lnSpc>
                <a:spcPct val="104000"/>
              </a:lnSpc>
              <a:buNone/>
            </a:pPr>
            <a:r>
              <a:rPr lang="en-US" sz="3200" b="1">
                <a:solidFill>
                  <a:srgbClr val="5C6B85"/>
                </a:solidFill>
                <a:latin typeface="Georgia" pitchFamily="34" charset="0"/>
                <a:ea typeface="Georgia" pitchFamily="34" charset="-122"/>
                <a:cs typeface="Georgia" pitchFamily="34" charset="-120"/>
              </a:rPr>
              <a:t>2</a:t>
            </a:r>
          </a:p>
        </p:txBody>
      </p:sp>
      <p:sp>
        <p:nvSpPr>
          <p:cNvPr id="53" name="Row 2 name"/>
          <p:cNvSpPr/>
          <p:nvPr/>
        </p:nvSpPr>
        <p:spPr>
          <a:xfrm>
            <a:off x="1500000" y="3292000"/>
            <a:ext cx="3050000" cy="772000"/>
          </a:xfrm>
          <a:prstGeom prst="rect">
            <a:avLst/>
          </a:prstGeom>
          <a:noFill/>
          <a:ln/>
        </p:spPr>
        <p:txBody>
          <a:bodyPr wrap="square" lIns="0" tIns="0" rIns="0" bIns="0" rtlCol="0" anchor="ctr"/>
          <a:lstStyle/>
          <a:p>
            <a:pPr marL="0" indent="0" algn="l">
              <a:lnSpc>
                <a:spcPct val="104000"/>
              </a:lnSpc>
              <a:buNone/>
            </a:pPr>
            <a:r>
              <a:rPr lang="en-US" sz="1500" b="1">
                <a:solidFill>
                  <a:srgbClr val="16233B"/>
                </a:solidFill>
                <a:latin typeface="Georgia" pitchFamily="34" charset="0"/>
                <a:ea typeface="Georgia" pitchFamily="34" charset="-122"/>
                <a:cs typeface="Georgia" pitchFamily="34" charset="-120"/>
              </a:rPr>
              <a:t>Mid-Sized Cluster</a:t>
            </a:r>
          </a:p>
          <a:p>
            <a:pPr marL="0" indent="0" algn="l">
              <a:lnSpc>
                <a:spcPct val="104000"/>
              </a:lnSpc>
              <a:buNone/>
            </a:pPr>
            <a:r>
              <a:rPr lang="en-US" sz="1050" b="0">
                <a:solidFill>
                  <a:srgbClr val="5C6B85"/>
                </a:solidFill>
                <a:latin typeface="Calibri" pitchFamily="34" charset="0"/>
                <a:ea typeface="Calibri" pitchFamily="34" charset="-122"/>
                <a:cs typeface="Calibri" pitchFamily="34" charset="-120"/>
              </a:rPr>
              <a:t>246 customers</a:t>
            </a:r>
          </a:p>
        </p:txBody>
      </p:sp>
      <p:sp>
        <p:nvSpPr>
          <p:cNvPr id="54" name="Row 2 action"/>
          <p:cNvSpPr/>
          <p:nvPr/>
        </p:nvSpPr>
        <p:spPr>
          <a:xfrm>
            <a:off x="4820000" y="3292000"/>
            <a:ext cx="6650000" cy="772000"/>
          </a:xfrm>
          <a:prstGeom prst="rect">
            <a:avLst/>
          </a:prstGeom>
          <a:noFill/>
          <a:ln/>
        </p:spPr>
        <p:txBody>
          <a:bodyPr wrap="square" lIns="0" tIns="0" rIns="0" bIns="0" rtlCol="0" anchor="ctr"/>
          <a:lstStyle/>
          <a:p>
            <a:pPr marL="0" indent="0" algn="l">
              <a:lnSpc>
                <a:spcPct val="104000"/>
              </a:lnSpc>
              <a:buNone/>
            </a:pPr>
            <a:r>
              <a:rPr lang="en-US" sz="1050" b="1" spc="200">
                <a:solidFill>
                  <a:srgbClr val="5C6B85"/>
                </a:solidFill>
                <a:latin typeface="Calibri" pitchFamily="34" charset="0"/>
                <a:ea typeface="Calibri" pitchFamily="34" charset="-122"/>
                <a:cs typeface="Calibri" pitchFamily="34" charset="-120"/>
              </a:rPr>
              <a:t>TEST &amp; LEARN</a:t>
            </a:r>
          </a:p>
          <a:p>
            <a:pPr marL="0" indent="0" algn="l">
              <a:lnSpc>
                <a:spcPct val="104000"/>
              </a:lnSpc>
              <a:buNone/>
            </a:pPr>
            <a:r>
              <a:rPr lang="en-US" sz="1200" b="0">
                <a:solidFill>
                  <a:srgbClr val="5C6B85"/>
                </a:solidFill>
                <a:latin typeface="Calibri" pitchFamily="34" charset="0"/>
                <a:ea typeface="Calibri" pitchFamily="34" charset="-122"/>
                <a:cs typeface="Calibri" pitchFamily="34" charset="-120"/>
              </a:rPr>
              <a:t>Run targeted campaigns to learn what moves this middle group and lift their value.</a:t>
            </a:r>
          </a:p>
        </p:txBody>
      </p:sp>
      <p:sp>
        <p:nvSpPr>
          <p:cNvPr id="55" name="Row 3 card"/>
          <p:cNvSpPr/>
          <p:nvPr/>
        </p:nvSpPr>
        <p:spPr>
          <a:xfrm>
            <a:off x="548640" y="4138000"/>
            <a:ext cx="11094720" cy="77200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6" name="Row 3 accent"/>
          <p:cNvSpPr/>
          <p:nvPr/>
        </p:nvSpPr>
        <p:spPr>
          <a:xfrm>
            <a:off x="548640" y="4138000"/>
            <a:ext cx="120000" cy="772000"/>
          </a:xfrm>
          <a:prstGeom prst="rect">
            <a:avLst/>
          </a:prstGeom>
          <a:solidFill>
            <a:srgbClr val="27AE8F"/>
          </a:solidFill>
          <a:ln/>
        </p:spPr>
        <p:txBody>
          <a:bodyPr/>
          <a:lstStyle/>
          <a:p>
            <a:endParaRPr lang="en-US"/>
          </a:p>
        </p:txBody>
      </p:sp>
      <p:sp>
        <p:nvSpPr>
          <p:cNvPr id="57" name="Row 3 num"/>
          <p:cNvSpPr/>
          <p:nvPr/>
        </p:nvSpPr>
        <p:spPr>
          <a:xfrm>
            <a:off x="760000" y="4138000"/>
            <a:ext cx="620000" cy="772000"/>
          </a:xfrm>
          <a:prstGeom prst="rect">
            <a:avLst/>
          </a:prstGeom>
          <a:noFill/>
          <a:ln/>
        </p:spPr>
        <p:txBody>
          <a:bodyPr wrap="square" lIns="0" tIns="0" rIns="0" bIns="0" rtlCol="0" anchor="ctr"/>
          <a:lstStyle/>
          <a:p>
            <a:pPr marL="0" indent="0" algn="l">
              <a:lnSpc>
                <a:spcPct val="104000"/>
              </a:lnSpc>
              <a:buNone/>
            </a:pPr>
            <a:r>
              <a:rPr lang="en-US" sz="3200" b="1">
                <a:solidFill>
                  <a:srgbClr val="27AE8F"/>
                </a:solidFill>
                <a:latin typeface="Georgia" pitchFamily="34" charset="0"/>
                <a:ea typeface="Georgia" pitchFamily="34" charset="-122"/>
                <a:cs typeface="Georgia" pitchFamily="34" charset="-120"/>
              </a:rPr>
              <a:t>3</a:t>
            </a:r>
          </a:p>
        </p:txBody>
      </p:sp>
      <p:sp>
        <p:nvSpPr>
          <p:cNvPr id="58" name="Row 3 name"/>
          <p:cNvSpPr/>
          <p:nvPr/>
        </p:nvSpPr>
        <p:spPr>
          <a:xfrm>
            <a:off x="1500000" y="4138000"/>
            <a:ext cx="3050000" cy="772000"/>
          </a:xfrm>
          <a:prstGeom prst="rect">
            <a:avLst/>
          </a:prstGeom>
          <a:noFill/>
          <a:ln/>
        </p:spPr>
        <p:txBody>
          <a:bodyPr wrap="square" lIns="0" tIns="0" rIns="0" bIns="0" rtlCol="0" anchor="ctr"/>
          <a:lstStyle/>
          <a:p>
            <a:pPr marL="0" indent="0" algn="l">
              <a:lnSpc>
                <a:spcPct val="104000"/>
              </a:lnSpc>
              <a:buNone/>
            </a:pPr>
            <a:r>
              <a:rPr lang="en-US" sz="1500" b="1">
                <a:solidFill>
                  <a:srgbClr val="16233B"/>
                </a:solidFill>
                <a:latin typeface="Georgia" pitchFamily="34" charset="0"/>
                <a:ea typeface="Georgia" pitchFamily="34" charset="-122"/>
                <a:cs typeface="Georgia" pitchFamily="34" charset="-120"/>
              </a:rPr>
              <a:t>Dormant Long-Tenured</a:t>
            </a:r>
          </a:p>
          <a:p>
            <a:pPr marL="0" indent="0" algn="l">
              <a:lnSpc>
                <a:spcPct val="104000"/>
              </a:lnSpc>
              <a:buNone/>
            </a:pPr>
            <a:r>
              <a:rPr lang="en-US" sz="1050" b="0">
                <a:solidFill>
                  <a:srgbClr val="5C6B85"/>
                </a:solidFill>
                <a:latin typeface="Calibri" pitchFamily="34" charset="0"/>
                <a:ea typeface="Calibri" pitchFamily="34" charset="-122"/>
                <a:cs typeface="Calibri" pitchFamily="34" charset="-120"/>
              </a:rPr>
              <a:t>546 customers</a:t>
            </a:r>
          </a:p>
        </p:txBody>
      </p:sp>
      <p:sp>
        <p:nvSpPr>
          <p:cNvPr id="59" name="Row 3 action"/>
          <p:cNvSpPr/>
          <p:nvPr/>
        </p:nvSpPr>
        <p:spPr>
          <a:xfrm>
            <a:off x="4820000" y="4138000"/>
            <a:ext cx="6650000" cy="772000"/>
          </a:xfrm>
          <a:prstGeom prst="rect">
            <a:avLst/>
          </a:prstGeom>
          <a:noFill/>
          <a:ln/>
        </p:spPr>
        <p:txBody>
          <a:bodyPr wrap="square" lIns="0" tIns="0" rIns="0" bIns="0" rtlCol="0" anchor="ctr"/>
          <a:lstStyle/>
          <a:p>
            <a:pPr marL="0" indent="0" algn="l">
              <a:lnSpc>
                <a:spcPct val="104000"/>
              </a:lnSpc>
              <a:buNone/>
            </a:pPr>
            <a:r>
              <a:rPr lang="en-US" sz="1050" b="1" spc="200">
                <a:solidFill>
                  <a:srgbClr val="27AE8F"/>
                </a:solidFill>
                <a:latin typeface="Calibri" pitchFamily="34" charset="0"/>
                <a:ea typeface="Calibri" pitchFamily="34" charset="-122"/>
                <a:cs typeface="Calibri" pitchFamily="34" charset="-120"/>
              </a:rPr>
              <a:t>WIN BACK</a:t>
            </a:r>
          </a:p>
          <a:p>
            <a:pPr marL="0" indent="0" algn="l">
              <a:lnSpc>
                <a:spcPct val="104000"/>
              </a:lnSpc>
              <a:buNone/>
            </a:pPr>
            <a:r>
              <a:rPr lang="en-US" sz="1200" b="0">
                <a:solidFill>
                  <a:srgbClr val="5C6B85"/>
                </a:solidFill>
                <a:latin typeface="Calibri" pitchFamily="34" charset="0"/>
                <a:ea typeface="Calibri" pitchFamily="34" charset="-122"/>
                <a:cs typeface="Calibri" pitchFamily="34" charset="-120"/>
              </a:rPr>
              <a:t>Re-engage with reactivation offers and reminders before these long-tenured buyers churn.</a:t>
            </a:r>
          </a:p>
        </p:txBody>
      </p:sp>
      <p:sp>
        <p:nvSpPr>
          <p:cNvPr id="60" name="Row 4 card"/>
          <p:cNvSpPr/>
          <p:nvPr/>
        </p:nvSpPr>
        <p:spPr>
          <a:xfrm>
            <a:off x="548640" y="4984000"/>
            <a:ext cx="11094720" cy="77200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61" name="Row 4 accent"/>
          <p:cNvSpPr/>
          <p:nvPr/>
        </p:nvSpPr>
        <p:spPr>
          <a:xfrm>
            <a:off x="548640" y="4984000"/>
            <a:ext cx="120000" cy="772000"/>
          </a:xfrm>
          <a:prstGeom prst="rect">
            <a:avLst/>
          </a:prstGeom>
          <a:solidFill>
            <a:srgbClr val="16233B"/>
          </a:solidFill>
          <a:ln/>
        </p:spPr>
        <p:txBody>
          <a:bodyPr/>
          <a:lstStyle/>
          <a:p>
            <a:endParaRPr lang="en-US"/>
          </a:p>
        </p:txBody>
      </p:sp>
      <p:sp>
        <p:nvSpPr>
          <p:cNvPr id="62" name="Row 4 num"/>
          <p:cNvSpPr/>
          <p:nvPr/>
        </p:nvSpPr>
        <p:spPr>
          <a:xfrm>
            <a:off x="760000" y="4984000"/>
            <a:ext cx="620000" cy="772000"/>
          </a:xfrm>
          <a:prstGeom prst="rect">
            <a:avLst/>
          </a:prstGeom>
          <a:noFill/>
          <a:ln/>
        </p:spPr>
        <p:txBody>
          <a:bodyPr wrap="square" lIns="0" tIns="0" rIns="0" bIns="0" rtlCol="0" anchor="ctr"/>
          <a:lstStyle/>
          <a:p>
            <a:pPr marL="0" indent="0" algn="l">
              <a:lnSpc>
                <a:spcPct val="104000"/>
              </a:lnSpc>
              <a:buNone/>
            </a:pPr>
            <a:r>
              <a:rPr lang="en-US" sz="3200" b="1">
                <a:solidFill>
                  <a:srgbClr val="16233B"/>
                </a:solidFill>
                <a:latin typeface="Georgia" pitchFamily="34" charset="0"/>
                <a:ea typeface="Georgia" pitchFamily="34" charset="-122"/>
                <a:cs typeface="Georgia" pitchFamily="34" charset="-120"/>
              </a:rPr>
              <a:t>4</a:t>
            </a:r>
          </a:p>
        </p:txBody>
      </p:sp>
      <p:sp>
        <p:nvSpPr>
          <p:cNvPr id="63" name="Row 4 name"/>
          <p:cNvSpPr/>
          <p:nvPr/>
        </p:nvSpPr>
        <p:spPr>
          <a:xfrm>
            <a:off x="1500000" y="4984000"/>
            <a:ext cx="3050000" cy="772000"/>
          </a:xfrm>
          <a:prstGeom prst="rect">
            <a:avLst/>
          </a:prstGeom>
          <a:noFill/>
          <a:ln/>
        </p:spPr>
        <p:txBody>
          <a:bodyPr wrap="square" lIns="0" tIns="0" rIns="0" bIns="0" rtlCol="0" anchor="ctr"/>
          <a:lstStyle/>
          <a:p>
            <a:pPr marL="0" indent="0" algn="l">
              <a:lnSpc>
                <a:spcPct val="104000"/>
              </a:lnSpc>
              <a:buNone/>
            </a:pPr>
            <a:r>
              <a:rPr lang="en-US" sz="1500" b="1">
                <a:solidFill>
                  <a:srgbClr val="16233B"/>
                </a:solidFill>
                <a:latin typeface="Georgia" pitchFamily="34" charset="0"/>
                <a:ea typeface="Georgia" pitchFamily="34" charset="-122"/>
                <a:cs typeface="Georgia" pitchFamily="34" charset="-120"/>
              </a:rPr>
              <a:t>High-Value Actives</a:t>
            </a:r>
          </a:p>
          <a:p>
            <a:pPr marL="0" indent="0" algn="l">
              <a:lnSpc>
                <a:spcPct val="104000"/>
              </a:lnSpc>
              <a:buNone/>
            </a:pPr>
            <a:r>
              <a:rPr lang="en-US" sz="1050" b="0">
                <a:solidFill>
                  <a:srgbClr val="5C6B85"/>
                </a:solidFill>
                <a:latin typeface="Calibri" pitchFamily="34" charset="0"/>
                <a:ea typeface="Calibri" pitchFamily="34" charset="-122"/>
                <a:cs typeface="Calibri" pitchFamily="34" charset="-120"/>
              </a:rPr>
              <a:t>657 customers</a:t>
            </a:r>
          </a:p>
        </p:txBody>
      </p:sp>
      <p:sp>
        <p:nvSpPr>
          <p:cNvPr id="64" name="Row 4 action"/>
          <p:cNvSpPr/>
          <p:nvPr/>
        </p:nvSpPr>
        <p:spPr>
          <a:xfrm>
            <a:off x="4820000" y="4984000"/>
            <a:ext cx="6650000" cy="772000"/>
          </a:xfrm>
          <a:prstGeom prst="rect">
            <a:avLst/>
          </a:prstGeom>
          <a:noFill/>
          <a:ln/>
        </p:spPr>
        <p:txBody>
          <a:bodyPr wrap="square" lIns="0" tIns="0" rIns="0" bIns="0" rtlCol="0" anchor="ctr"/>
          <a:lstStyle/>
          <a:p>
            <a:pPr marL="0" indent="0" algn="l">
              <a:lnSpc>
                <a:spcPct val="104000"/>
              </a:lnSpc>
              <a:buNone/>
            </a:pPr>
            <a:r>
              <a:rPr lang="en-US" sz="1050" b="1" spc="200">
                <a:solidFill>
                  <a:srgbClr val="16233B"/>
                </a:solidFill>
                <a:latin typeface="Calibri" pitchFamily="34" charset="0"/>
                <a:ea typeface="Calibri" pitchFamily="34" charset="-122"/>
                <a:cs typeface="Calibri" pitchFamily="34" charset="-120"/>
              </a:rPr>
              <a:t>REWARD &amp; RETAIN</a:t>
            </a:r>
          </a:p>
          <a:p>
            <a:pPr marL="0" indent="0" algn="l">
              <a:lnSpc>
                <a:spcPct val="104000"/>
              </a:lnSpc>
              <a:buNone/>
            </a:pPr>
            <a:r>
              <a:rPr lang="en-US" sz="1200" b="0">
                <a:solidFill>
                  <a:srgbClr val="5C6B85"/>
                </a:solidFill>
                <a:latin typeface="Calibri" pitchFamily="34" charset="0"/>
                <a:ea typeface="Calibri" pitchFamily="34" charset="-122"/>
                <a:cs typeface="Calibri" pitchFamily="34" charset="-120"/>
              </a:rPr>
              <a:t>Prioritize loyalty perks and VIP treatment to protect the most valuable segment.</a:t>
            </a:r>
          </a:p>
        </p:txBody>
      </p:sp>
      <p:sp>
        <p:nvSpPr>
          <p:cNvPr id="70" name="Bridge bar"/>
          <p:cNvSpPr/>
          <p:nvPr/>
        </p:nvSpPr>
        <p:spPr>
          <a:xfrm>
            <a:off x="548640" y="5870000"/>
            <a:ext cx="11094720" cy="300000"/>
          </a:xfrm>
          <a:prstGeom prst="rect">
            <a:avLst/>
          </a:prstGeom>
          <a:solidFill>
            <a:srgbClr val="E7EEFB"/>
          </a:solidFill>
          <a:ln/>
        </p:spPr>
        <p:txBody>
          <a:bodyPr/>
          <a:lstStyle/>
          <a:p>
            <a:endParaRPr lang="en-US"/>
          </a:p>
        </p:txBody>
      </p:sp>
      <p:sp>
        <p:nvSpPr>
          <p:cNvPr id="71" name="Bridge text"/>
          <p:cNvSpPr/>
          <p:nvPr/>
        </p:nvSpPr>
        <p:spPr>
          <a:xfrm>
            <a:off x="728640" y="5870000"/>
            <a:ext cx="10734720" cy="300000"/>
          </a:xfrm>
          <a:prstGeom prst="rect">
            <a:avLst/>
          </a:prstGeom>
          <a:noFill/>
          <a:ln/>
        </p:spPr>
        <p:txBody>
          <a:bodyPr wrap="square" lIns="0" tIns="0" rIns="0" bIns="0" rtlCol="0" anchor="ctr"/>
          <a:lstStyle/>
          <a:p>
            <a:pPr marL="0" indent="0" algn="l">
              <a:lnSpc>
                <a:spcPct val="104000"/>
              </a:lnSpc>
              <a:buNone/>
            </a:pPr>
            <a:r>
              <a:rPr lang="en-US" sz="1100" b="1" spc="200">
                <a:solidFill>
                  <a:srgbClr val="1F52D6"/>
                </a:solidFill>
                <a:latin typeface="Calibri" pitchFamily="34" charset="0"/>
                <a:ea typeface="Calibri" pitchFamily="34" charset="-122"/>
                <a:cs typeface="Calibri" pitchFamily="34" charset="-120"/>
              </a:rPr>
              <a:t>NEXT   </a:t>
            </a:r>
            <a:r>
              <a:rPr lang="en-US" sz="1150" b="0">
                <a:solidFill>
                  <a:srgbClr val="16233B"/>
                </a:solidFill>
                <a:latin typeface="Calibri" pitchFamily="34" charset="0"/>
                <a:ea typeface="Calibri" pitchFamily="34" charset="-122"/>
                <a:cs typeface="Calibri" pitchFamily="34" charset="-120"/>
              </a:rPr>
              <a:t>These segment plays feed directly into the retention recommendations ahead.</a:t>
            </a:r>
          </a:p>
        </p:txBody>
      </p:sp>
      <p:sp>
        <p:nvSpPr>
          <p:cNvPr id="30" name="Footer"/>
          <p:cNvSpPr/>
          <p:nvPr/>
        </p:nvSpPr>
        <p:spPr>
          <a:xfrm>
            <a:off x="548640" y="6437376"/>
            <a:ext cx="7315200" cy="274320"/>
          </a:xfrm>
          <a:prstGeom prst="rect">
            <a:avLst/>
          </a:prstGeom>
          <a:noFill/>
          <a:ln/>
        </p:spPr>
        <p:txBody>
          <a:bodyPr wrap="square" lIns="0" tIns="0" rIns="0" bIns="0" rtlCol="0" anchor="ctr"/>
          <a:lstStyle/>
          <a:p>
            <a:pPr marL="0" indent="0" algn="l">
              <a:lnSpc>
                <a:spcPct val="104000"/>
              </a:lnSpc>
              <a:buNone/>
            </a:pPr>
            <a:r>
              <a:rPr lang="en-US" sz="900" b="0">
                <a:solidFill>
                  <a:srgbClr val="5C6B85"/>
                </a:solidFill>
                <a:latin typeface="Calibri" pitchFamily="34" charset="0"/>
                <a:ea typeface="Calibri" pitchFamily="34" charset="-122"/>
                <a:cs typeface="Calibri" pitchFamily="34" charset="-120"/>
              </a:rPr>
              <a:t>Using ML to Improve Customer Purchasing Decisions</a:t>
            </a:r>
          </a:p>
        </p:txBody>
      </p:sp>
      <p:sp>
        <p:nvSpPr>
          <p:cNvPr id="31" name="Page number"/>
          <p:cNvSpPr/>
          <p:nvPr/>
        </p:nvSpPr>
        <p:spPr>
          <a:xfrm>
            <a:off x="11155680" y="6437376"/>
            <a:ext cx="548640" cy="274320"/>
          </a:xfrm>
          <a:prstGeom prst="rect">
            <a:avLst/>
          </a:prstGeom>
          <a:noFill/>
          <a:ln/>
        </p:spPr>
        <p:txBody>
          <a:bodyPr wrap="square" lIns="0" tIns="0" rIns="0" bIns="0" rtlCol="0" anchor="ctr"/>
          <a:lstStyle/>
          <a:p>
            <a:pPr marL="0" indent="0" algn="r">
              <a:lnSpc>
                <a:spcPct val="104000"/>
              </a:lnSpc>
              <a:buNone/>
            </a:pPr>
            <a:r>
              <a:rPr lang="en-US" sz="900" b="1">
                <a:solidFill>
                  <a:srgbClr val="1F52D6"/>
                </a:solidFill>
                <a:latin typeface="Calibri" pitchFamily="34" charset="0"/>
                <a:ea typeface="Calibri" pitchFamily="34" charset="-122"/>
                <a:cs typeface="Calibri" pitchFamily="34" charset="-120"/>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METHODOLOGY</a:t>
            </a:r>
            <a:endParaRPr lang="en-US" sz="125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How we built the model</a:t>
            </a:r>
            <a:endParaRPr lang="en-US" sz="3000"/>
          </a:p>
        </p:txBody>
      </p:sp>
      <p:sp>
        <p:nvSpPr>
          <p:cNvPr id="4" name="Shape 2"/>
          <p:cNvSpPr/>
          <p:nvPr/>
        </p:nvSpPr>
        <p:spPr>
          <a:xfrm>
            <a:off x="54864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91440" cy="1965960"/>
          </a:xfrm>
          <a:prstGeom prst="rect">
            <a:avLst/>
          </a:prstGeom>
          <a:solidFill>
            <a:srgbClr val="1F52D6"/>
          </a:solidFill>
          <a:ln/>
        </p:spPr>
        <p:txBody>
          <a:bodyPr/>
          <a:lstStyle/>
          <a:p>
            <a:endParaRPr lang="en-US"/>
          </a:p>
        </p:txBody>
      </p:sp>
      <p:sp>
        <p:nvSpPr>
          <p:cNvPr id="6" name="Text 4"/>
          <p:cNvSpPr/>
          <p:nvPr/>
        </p:nvSpPr>
        <p:spPr>
          <a:xfrm>
            <a:off x="868680" y="2011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01</a:t>
            </a:r>
            <a:endParaRPr lang="en-US" sz="3000"/>
          </a:p>
        </p:txBody>
      </p:sp>
      <p:sp>
        <p:nvSpPr>
          <p:cNvPr id="7" name="Text 5"/>
          <p:cNvSpPr/>
          <p:nvPr/>
        </p:nvSpPr>
        <p:spPr>
          <a:xfrm>
            <a:off x="1783080" y="2057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Prepare &amp; Split the Data</a:t>
            </a:r>
            <a:endParaRPr lang="en-US" sz="1800"/>
          </a:p>
        </p:txBody>
      </p:sp>
      <p:sp>
        <p:nvSpPr>
          <p:cNvPr id="8" name="Text 6"/>
          <p:cNvSpPr/>
          <p:nvPr/>
        </p:nvSpPr>
        <p:spPr>
          <a:xfrm>
            <a:off x="1783080" y="2606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The dataset covers 2,130 customers with five behavioral features. An 80/20 stratified split yields 1,704 training and 426 test records.</a:t>
            </a:r>
            <a:endParaRPr lang="en-US" sz="1350"/>
          </a:p>
        </p:txBody>
      </p:sp>
      <p:sp>
        <p:nvSpPr>
          <p:cNvPr id="9" name="Shape 7"/>
          <p:cNvSpPr/>
          <p:nvPr/>
        </p:nvSpPr>
        <p:spPr>
          <a:xfrm>
            <a:off x="630936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0" name="Shape 8"/>
          <p:cNvSpPr/>
          <p:nvPr/>
        </p:nvSpPr>
        <p:spPr>
          <a:xfrm>
            <a:off x="6309360" y="1783080"/>
            <a:ext cx="91440" cy="1965960"/>
          </a:xfrm>
          <a:prstGeom prst="rect">
            <a:avLst/>
          </a:prstGeom>
          <a:solidFill>
            <a:srgbClr val="1F52D6"/>
          </a:solidFill>
          <a:ln/>
        </p:spPr>
        <p:txBody>
          <a:bodyPr/>
          <a:lstStyle/>
          <a:p>
            <a:endParaRPr lang="en-US"/>
          </a:p>
        </p:txBody>
      </p:sp>
      <p:sp>
        <p:nvSpPr>
          <p:cNvPr id="11" name="Text 9"/>
          <p:cNvSpPr/>
          <p:nvPr/>
        </p:nvSpPr>
        <p:spPr>
          <a:xfrm>
            <a:off x="6629400" y="2011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02</a:t>
            </a:r>
            <a:endParaRPr lang="en-US" sz="3000"/>
          </a:p>
        </p:txBody>
      </p:sp>
      <p:sp>
        <p:nvSpPr>
          <p:cNvPr id="12" name="Text 10"/>
          <p:cNvSpPr/>
          <p:nvPr/>
        </p:nvSpPr>
        <p:spPr>
          <a:xfrm>
            <a:off x="7543800" y="2057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Train Candidate Models</a:t>
            </a:r>
            <a:endParaRPr lang="en-US" sz="1800"/>
          </a:p>
        </p:txBody>
      </p:sp>
      <p:sp>
        <p:nvSpPr>
          <p:cNvPr id="13" name="Text 11"/>
          <p:cNvSpPr/>
          <p:nvPr/>
        </p:nvSpPr>
        <p:spPr>
          <a:xfrm>
            <a:off x="7543800" y="2606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Four regressors target the churn label: a Dummy Regressor baseline alongside Linear Regression, Random Forest, and XGBoost.</a:t>
            </a:r>
            <a:endParaRPr lang="en-US" sz="1350"/>
          </a:p>
        </p:txBody>
      </p:sp>
      <p:sp>
        <p:nvSpPr>
          <p:cNvPr id="14" name="Shape 12"/>
          <p:cNvSpPr/>
          <p:nvPr/>
        </p:nvSpPr>
        <p:spPr>
          <a:xfrm>
            <a:off x="54864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5" name="Shape 13"/>
          <p:cNvSpPr/>
          <p:nvPr/>
        </p:nvSpPr>
        <p:spPr>
          <a:xfrm>
            <a:off x="548640" y="4069080"/>
            <a:ext cx="91440" cy="1965960"/>
          </a:xfrm>
          <a:prstGeom prst="rect">
            <a:avLst/>
          </a:prstGeom>
          <a:solidFill>
            <a:srgbClr val="1F52D6"/>
          </a:solidFill>
          <a:ln/>
        </p:spPr>
        <p:txBody>
          <a:bodyPr/>
          <a:lstStyle/>
          <a:p>
            <a:endParaRPr lang="en-US"/>
          </a:p>
        </p:txBody>
      </p:sp>
      <p:sp>
        <p:nvSpPr>
          <p:cNvPr id="16" name="Text 14"/>
          <p:cNvSpPr/>
          <p:nvPr/>
        </p:nvSpPr>
        <p:spPr>
          <a:xfrm>
            <a:off x="868680" y="4297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03</a:t>
            </a:r>
            <a:endParaRPr lang="en-US" sz="3000"/>
          </a:p>
        </p:txBody>
      </p:sp>
      <p:sp>
        <p:nvSpPr>
          <p:cNvPr id="17" name="Text 15"/>
          <p:cNvSpPr/>
          <p:nvPr/>
        </p:nvSpPr>
        <p:spPr>
          <a:xfrm>
            <a:off x="1783080" y="4343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Standardize &amp; Evaluate</a:t>
            </a:r>
            <a:endParaRPr lang="en-US" sz="1800"/>
          </a:p>
        </p:txBody>
      </p:sp>
      <p:sp>
        <p:nvSpPr>
          <p:cNvPr id="18" name="Text 16"/>
          <p:cNvSpPr/>
          <p:nvPr/>
        </p:nvSpPr>
        <p:spPr>
          <a:xfrm>
            <a:off x="1783080" y="4892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Features are standardized before scoring. Each model is measured on the held-out test set using R², mean absolute error, and mean squared error.</a:t>
            </a:r>
            <a:endParaRPr lang="en-US" sz="1350"/>
          </a:p>
        </p:txBody>
      </p:sp>
      <p:sp>
        <p:nvSpPr>
          <p:cNvPr id="19" name="Shape 17"/>
          <p:cNvSpPr/>
          <p:nvPr/>
        </p:nvSpPr>
        <p:spPr>
          <a:xfrm>
            <a:off x="630936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0" name="Shape 18"/>
          <p:cNvSpPr/>
          <p:nvPr/>
        </p:nvSpPr>
        <p:spPr>
          <a:xfrm>
            <a:off x="6309360" y="4069080"/>
            <a:ext cx="91440" cy="1965960"/>
          </a:xfrm>
          <a:prstGeom prst="rect">
            <a:avLst/>
          </a:prstGeom>
          <a:solidFill>
            <a:srgbClr val="1F52D6"/>
          </a:solidFill>
          <a:ln/>
        </p:spPr>
        <p:txBody>
          <a:bodyPr/>
          <a:lstStyle/>
          <a:p>
            <a:endParaRPr lang="en-US"/>
          </a:p>
        </p:txBody>
      </p:sp>
      <p:sp>
        <p:nvSpPr>
          <p:cNvPr id="21" name="Text 19"/>
          <p:cNvSpPr/>
          <p:nvPr/>
        </p:nvSpPr>
        <p:spPr>
          <a:xfrm>
            <a:off x="6629400" y="4297680"/>
            <a:ext cx="1005840" cy="64008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04</a:t>
            </a:r>
            <a:endParaRPr lang="en-US" sz="3000"/>
          </a:p>
        </p:txBody>
      </p:sp>
      <p:sp>
        <p:nvSpPr>
          <p:cNvPr id="22" name="Text 20"/>
          <p:cNvSpPr/>
          <p:nvPr/>
        </p:nvSpPr>
        <p:spPr>
          <a:xfrm>
            <a:off x="7543800" y="4343400"/>
            <a:ext cx="3886200" cy="502920"/>
          </a:xfrm>
          <a:prstGeom prst="rect">
            <a:avLst/>
          </a:prstGeom>
          <a:noFill/>
          <a:ln/>
        </p:spPr>
        <p:txBody>
          <a:bodyPr wrap="square" lIns="0" tIns="0" rIns="0" bIns="0" rtlCol="0" anchor="ctr"/>
          <a:lstStyle/>
          <a:p>
            <a:pPr marL="0" indent="0" algn="l">
              <a:buNone/>
            </a:pPr>
            <a:r>
              <a:rPr lang="en-US" sz="1800" b="1">
                <a:solidFill>
                  <a:srgbClr val="16233B"/>
                </a:solidFill>
                <a:latin typeface="Georgia" pitchFamily="34" charset="0"/>
                <a:ea typeface="Georgia" pitchFamily="34" charset="-122"/>
                <a:cs typeface="Georgia" pitchFamily="34" charset="-120"/>
              </a:rPr>
              <a:t>Compare Against Baseline</a:t>
            </a:r>
            <a:endParaRPr lang="en-US" sz="1800"/>
          </a:p>
        </p:txBody>
      </p:sp>
      <p:sp>
        <p:nvSpPr>
          <p:cNvPr id="23" name="Text 21"/>
          <p:cNvSpPr/>
          <p:nvPr/>
        </p:nvSpPr>
        <p:spPr>
          <a:xfrm>
            <a:off x="7543800" y="4892040"/>
            <a:ext cx="3886200" cy="1104900"/>
          </a:xfrm>
          <a:prstGeom prst="rect">
            <a:avLst/>
          </a:prstGeom>
          <a:noFill/>
          <a:ln/>
        </p:spPr>
        <p:txBody>
          <a:bodyPr wrap="square" lIns="0" tIns="0" rIns="0" bIns="0" rtlCol="0" anchor="ctr"/>
          <a:lstStyle/>
          <a:p>
            <a:pPr marL="0" indent="0" algn="l">
              <a:lnSpc>
                <a:spcPct val="104000"/>
              </a:lnSpc>
              <a:buNone/>
            </a:pPr>
            <a:r>
              <a:rPr lang="en-US" sz="1350">
                <a:solidFill>
                  <a:srgbClr val="5C6B85"/>
                </a:solidFill>
                <a:latin typeface="Calibri" pitchFamily="34" charset="0"/>
                <a:ea typeface="Calibri" pitchFamily="34" charset="-122"/>
                <a:cs typeface="Calibri" pitchFamily="34" charset="-120"/>
              </a:rPr>
              <a:t>Models are ranked by error to test whether any regressor can beat the naive baseline that simply predicts the average churn rate.</a:t>
            </a:r>
            <a:endParaRPr lang="en-US" sz="1350"/>
          </a:p>
        </p:txBody>
      </p:sp>
      <p:sp>
        <p:nvSpPr>
          <p:cNvPr id="24" name="Text 22"/>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Predicting Customer Churn with Regression Models</a:t>
            </a:r>
            <a:endParaRPr lang="en-US" sz="900"/>
          </a:p>
        </p:txBody>
      </p:sp>
      <p:sp>
        <p:nvSpPr>
          <p:cNvPr id="25" name="Text 23"/>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17</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RESULTS</a:t>
            </a:r>
            <a:endParaRPr lang="en-US" sz="125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Regression model comparison</a:t>
            </a:r>
            <a:endParaRPr lang="en-US" sz="3000"/>
          </a:p>
        </p:txBody>
      </p:sp>
      <p:sp>
        <p:nvSpPr>
          <p:cNvPr id="4" name="Header BG"/>
          <p:cNvSpPr/>
          <p:nvPr/>
        </p:nvSpPr>
        <p:spPr>
          <a:xfrm>
            <a:off x="548640" y="1783080"/>
            <a:ext cx="11091672" cy="502920"/>
          </a:xfrm>
          <a:prstGeom prst="rect">
            <a:avLst/>
          </a:prstGeom>
          <a:solidFill>
            <a:srgbClr val="1F52D6"/>
          </a:solidFill>
          <a:ln/>
        </p:spPr>
        <p:txBody>
          <a:bodyPr/>
          <a:lstStyle/>
          <a:p>
            <a:endParaRPr lang="en-US"/>
          </a:p>
        </p:txBody>
      </p:sp>
      <p:sp>
        <p:nvSpPr>
          <p:cNvPr id="5" name="H Model"/>
          <p:cNvSpPr/>
          <p:nvPr/>
        </p:nvSpPr>
        <p:spPr>
          <a:xfrm>
            <a:off x="822960" y="1783080"/>
            <a:ext cx="2300000" cy="502920"/>
          </a:xfrm>
          <a:prstGeom prst="rect">
            <a:avLst/>
          </a:prstGeom>
          <a:noFill/>
          <a:ln/>
        </p:spPr>
        <p:txBody>
          <a:bodyPr wrap="square" lIns="0" tIns="0" rIns="0" bIns="0" rtlCol="0" anchor="ctr"/>
          <a:lstStyle/>
          <a:p>
            <a:pPr marL="0" indent="0" algn="l">
              <a:buNone/>
            </a:pPr>
            <a:r>
              <a:rPr lang="en-US" sz="1300" b="1" kern="0" spc="150">
                <a:solidFill>
                  <a:srgbClr val="FFFFFF"/>
                </a:solidFill>
                <a:latin typeface="Calibri" pitchFamily="34" charset="0"/>
                <a:ea typeface="Calibri" pitchFamily="34" charset="-122"/>
                <a:cs typeface="Calibri" pitchFamily="34" charset="-120"/>
              </a:rPr>
              <a:t>MODEL</a:t>
            </a:r>
            <a:endParaRPr lang="en-US" sz="1300"/>
          </a:p>
        </p:txBody>
      </p:sp>
      <p:sp>
        <p:nvSpPr>
          <p:cNvPr id="6" name="H Accuracy"/>
          <p:cNvSpPr/>
          <p:nvPr/>
        </p:nvSpPr>
        <p:spPr>
          <a:xfrm>
            <a:off x="3500000" y="1783080"/>
            <a:ext cx="1656000" cy="502920"/>
          </a:xfrm>
          <a:prstGeom prst="rect">
            <a:avLst/>
          </a:prstGeom>
          <a:noFill/>
          <a:ln/>
        </p:spPr>
        <p:txBody>
          <a:bodyPr wrap="square" lIns="0" tIns="0" rIns="0" bIns="0" rtlCol="0" anchor="ctr"/>
          <a:lstStyle/>
          <a:p>
            <a:pPr marL="0" indent="0" algn="ctr">
              <a:buNone/>
            </a:pPr>
            <a:r>
              <a:rPr lang="en-US" sz="1300" b="1" kern="0" spc="150">
                <a:solidFill>
                  <a:srgbClr val="FFFFFF"/>
                </a:solidFill>
                <a:latin typeface="Calibri" pitchFamily="34" charset="0"/>
                <a:ea typeface="Calibri" pitchFamily="34" charset="-122"/>
                <a:cs typeface="Calibri" pitchFamily="34" charset="-120"/>
              </a:rPr>
              <a:t>R² SCORE</a:t>
            </a:r>
            <a:endParaRPr lang="en-US" sz="1300"/>
          </a:p>
        </p:txBody>
      </p:sp>
      <p:sp>
        <p:nvSpPr>
          <p:cNvPr id="7" name="H F1"/>
          <p:cNvSpPr/>
          <p:nvPr/>
        </p:nvSpPr>
        <p:spPr>
          <a:xfrm>
            <a:off x="6300000" y="1783080"/>
            <a:ext cx="1656000" cy="502920"/>
          </a:xfrm>
          <a:prstGeom prst="rect">
            <a:avLst/>
          </a:prstGeom>
          <a:noFill/>
          <a:ln/>
        </p:spPr>
        <p:txBody>
          <a:bodyPr wrap="square" lIns="0" tIns="0" rIns="0" bIns="0" rtlCol="0" anchor="ctr"/>
          <a:lstStyle/>
          <a:p>
            <a:pPr marL="0" indent="0" algn="ctr">
              <a:buNone/>
            </a:pPr>
            <a:r>
              <a:rPr lang="en-US" sz="1300" b="1" kern="0" spc="150">
                <a:solidFill>
                  <a:srgbClr val="FFFFFF"/>
                </a:solidFill>
                <a:latin typeface="Calibri" pitchFamily="34" charset="0"/>
                <a:ea typeface="Calibri" pitchFamily="34" charset="-122"/>
                <a:cs typeface="Calibri" pitchFamily="34" charset="-120"/>
              </a:rPr>
              <a:t>MAE</a:t>
            </a:r>
            <a:endParaRPr lang="en-US" sz="1300"/>
          </a:p>
        </p:txBody>
      </p:sp>
      <p:sp>
        <p:nvSpPr>
          <p:cNvPr id="8" name="H Precision"/>
          <p:cNvSpPr/>
          <p:nvPr/>
        </p:nvSpPr>
        <p:spPr>
          <a:xfrm>
            <a:off x="9100000" y="1783080"/>
            <a:ext cx="1656000" cy="502920"/>
          </a:xfrm>
          <a:prstGeom prst="rect">
            <a:avLst/>
          </a:prstGeom>
          <a:noFill/>
          <a:ln/>
        </p:spPr>
        <p:txBody>
          <a:bodyPr wrap="square" lIns="0" tIns="0" rIns="0" bIns="0" rtlCol="0" anchor="ctr"/>
          <a:lstStyle/>
          <a:p>
            <a:pPr marL="0" indent="0" algn="ctr">
              <a:buNone/>
            </a:pPr>
            <a:r>
              <a:rPr lang="en-US" sz="1300" b="1" kern="0" spc="150">
                <a:solidFill>
                  <a:srgbClr val="FFFFFF"/>
                </a:solidFill>
                <a:latin typeface="Calibri" pitchFamily="34" charset="0"/>
                <a:ea typeface="Calibri" pitchFamily="34" charset="-122"/>
                <a:cs typeface="Calibri" pitchFamily="34" charset="-120"/>
              </a:rPr>
              <a:t>MSE</a:t>
            </a:r>
            <a:endParaRPr lang="en-US" sz="1300"/>
          </a:p>
        </p:txBody>
      </p:sp>
      <p:sp>
        <p:nvSpPr>
          <p:cNvPr id="11" name="R1 BG"/>
          <p:cNvSpPr/>
          <p:nvPr/>
        </p:nvSpPr>
        <p:spPr>
          <a:xfrm>
            <a:off x="548640" y="2286000"/>
            <a:ext cx="11091672" cy="822960"/>
          </a:xfrm>
          <a:prstGeom prst="rect">
            <a:avLst/>
          </a:prstGeom>
          <a:solidFill>
            <a:srgbClr val="E7EEFB"/>
          </a:solidFill>
          <a:ln w="12700">
            <a:solidFill>
              <a:srgbClr val="D4DCEA"/>
            </a:solidFill>
            <a:prstDash val="solid"/>
          </a:ln>
        </p:spPr>
        <p:txBody>
          <a:bodyPr/>
          <a:lstStyle/>
          <a:p>
            <a:endParaRPr lang="en-US"/>
          </a:p>
        </p:txBody>
      </p:sp>
      <p:sp>
        <p:nvSpPr>
          <p:cNvPr id="12" name="R1 Accent"/>
          <p:cNvSpPr/>
          <p:nvPr/>
        </p:nvSpPr>
        <p:spPr>
          <a:xfrm>
            <a:off x="548640" y="2286000"/>
            <a:ext cx="54864" cy="822960"/>
          </a:xfrm>
          <a:prstGeom prst="rect">
            <a:avLst/>
          </a:prstGeom>
          <a:solidFill>
            <a:srgbClr val="F5A623"/>
          </a:solidFill>
          <a:ln/>
        </p:spPr>
        <p:txBody>
          <a:bodyPr/>
          <a:lstStyle/>
          <a:p>
            <a:endParaRPr lang="en-US"/>
          </a:p>
        </p:txBody>
      </p:sp>
      <p:sp>
        <p:nvSpPr>
          <p:cNvPr id="13" name="R1 Model"/>
          <p:cNvSpPr/>
          <p:nvPr/>
        </p:nvSpPr>
        <p:spPr>
          <a:xfrm>
            <a:off x="822960" y="228600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Dummy Regressor</a:t>
            </a:r>
            <a:endParaRPr lang="en-US" sz="1550"/>
          </a:p>
        </p:txBody>
      </p:sp>
      <p:sp>
        <p:nvSpPr>
          <p:cNvPr id="14" name="R1 Accuracy"/>
          <p:cNvSpPr/>
          <p:nvPr/>
        </p:nvSpPr>
        <p:spPr>
          <a:xfrm>
            <a:off x="3500000" y="228600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0.0000</a:t>
            </a:r>
            <a:endParaRPr lang="en-US" sz="1400"/>
          </a:p>
        </p:txBody>
      </p:sp>
      <p:sp>
        <p:nvSpPr>
          <p:cNvPr id="15" name="R1 F1"/>
          <p:cNvSpPr/>
          <p:nvPr/>
        </p:nvSpPr>
        <p:spPr>
          <a:xfrm>
            <a:off x="6300000" y="228600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0.4563</a:t>
            </a:r>
            <a:endParaRPr lang="en-US" sz="1400"/>
          </a:p>
        </p:txBody>
      </p:sp>
      <p:sp>
        <p:nvSpPr>
          <p:cNvPr id="16" name="R1 Precision"/>
          <p:cNvSpPr/>
          <p:nvPr/>
        </p:nvSpPr>
        <p:spPr>
          <a:xfrm>
            <a:off x="9100000" y="2286000"/>
            <a:ext cx="1656000" cy="822960"/>
          </a:xfrm>
          <a:prstGeom prst="rect">
            <a:avLst/>
          </a:prstGeom>
          <a:noFill/>
          <a:ln/>
        </p:spPr>
        <p:txBody>
          <a:bodyPr wrap="square" lIns="0" tIns="0" rIns="0" bIns="0" rtlCol="0" anchor="ctr"/>
          <a:lstStyle/>
          <a:p>
            <a:pPr marL="0" indent="0" algn="ctr">
              <a:buNone/>
            </a:pPr>
            <a:r>
              <a:rPr lang="en-US" sz="1400" b="1">
                <a:solidFill>
                  <a:srgbClr val="F5A623"/>
                </a:solidFill>
                <a:latin typeface="Georgia" pitchFamily="34" charset="0"/>
                <a:ea typeface="Georgia" pitchFamily="34" charset="-122"/>
                <a:cs typeface="Georgia" pitchFamily="34" charset="-120"/>
              </a:rPr>
              <a:t>0.2281</a:t>
            </a:r>
            <a:endParaRPr lang="en-US" sz="1400"/>
          </a:p>
        </p:txBody>
      </p:sp>
      <p:sp>
        <p:nvSpPr>
          <p:cNvPr id="19" name="R2 BG"/>
          <p:cNvSpPr/>
          <p:nvPr/>
        </p:nvSpPr>
        <p:spPr>
          <a:xfrm>
            <a:off x="548640" y="3108960"/>
            <a:ext cx="11091672" cy="822960"/>
          </a:xfrm>
          <a:prstGeom prst="rect">
            <a:avLst/>
          </a:prstGeom>
          <a:solidFill>
            <a:srgbClr val="F2F5FB"/>
          </a:solidFill>
          <a:ln w="12700">
            <a:solidFill>
              <a:srgbClr val="D4DCEA"/>
            </a:solidFill>
            <a:prstDash val="solid"/>
          </a:ln>
        </p:spPr>
        <p:txBody>
          <a:bodyPr/>
          <a:lstStyle/>
          <a:p>
            <a:endParaRPr lang="en-US"/>
          </a:p>
        </p:txBody>
      </p:sp>
      <p:sp>
        <p:nvSpPr>
          <p:cNvPr id="20" name="R2 Accent"/>
          <p:cNvSpPr/>
          <p:nvPr/>
        </p:nvSpPr>
        <p:spPr>
          <a:xfrm>
            <a:off x="548640" y="3108960"/>
            <a:ext cx="54864" cy="822960"/>
          </a:xfrm>
          <a:prstGeom prst="rect">
            <a:avLst/>
          </a:prstGeom>
          <a:solidFill>
            <a:srgbClr val="D4DCEA"/>
          </a:solidFill>
          <a:ln/>
        </p:spPr>
        <p:txBody>
          <a:bodyPr/>
          <a:lstStyle/>
          <a:p>
            <a:endParaRPr lang="en-US"/>
          </a:p>
        </p:txBody>
      </p:sp>
      <p:sp>
        <p:nvSpPr>
          <p:cNvPr id="21" name="R2 Model"/>
          <p:cNvSpPr/>
          <p:nvPr/>
        </p:nvSpPr>
        <p:spPr>
          <a:xfrm>
            <a:off x="822960" y="310896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Random Forest</a:t>
            </a:r>
            <a:endParaRPr lang="en-US" sz="1550"/>
          </a:p>
        </p:txBody>
      </p:sp>
      <p:sp>
        <p:nvSpPr>
          <p:cNvPr id="22" name="R2 Accuracy"/>
          <p:cNvSpPr/>
          <p:nvPr/>
        </p:nvSpPr>
        <p:spPr>
          <a:xfrm>
            <a:off x="3500000" y="310896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-0.2920</a:t>
            </a:r>
            <a:endParaRPr lang="en-US" sz="1400"/>
          </a:p>
        </p:txBody>
      </p:sp>
      <p:sp>
        <p:nvSpPr>
          <p:cNvPr id="23" name="R2 F1"/>
          <p:cNvSpPr/>
          <p:nvPr/>
        </p:nvSpPr>
        <p:spPr>
          <a:xfrm>
            <a:off x="6300000" y="310896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0.4724</a:t>
            </a:r>
            <a:endParaRPr lang="en-US" sz="1400"/>
          </a:p>
        </p:txBody>
      </p:sp>
      <p:sp>
        <p:nvSpPr>
          <p:cNvPr id="24" name="R2 Precision"/>
          <p:cNvSpPr/>
          <p:nvPr/>
        </p:nvSpPr>
        <p:spPr>
          <a:xfrm>
            <a:off x="9100000" y="310896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0.2947</a:t>
            </a:r>
            <a:endParaRPr lang="en-US" sz="1400"/>
          </a:p>
        </p:txBody>
      </p:sp>
      <p:sp>
        <p:nvSpPr>
          <p:cNvPr id="27" name="R3 BG"/>
          <p:cNvSpPr/>
          <p:nvPr/>
        </p:nvSpPr>
        <p:spPr>
          <a:xfrm>
            <a:off x="548640" y="3931920"/>
            <a:ext cx="11091672" cy="822960"/>
          </a:xfrm>
          <a:prstGeom prst="rect">
            <a:avLst/>
          </a:prstGeom>
          <a:solidFill>
            <a:srgbClr val="E7EEFB"/>
          </a:solidFill>
          <a:ln w="12700">
            <a:solidFill>
              <a:srgbClr val="D4DCEA"/>
            </a:solidFill>
            <a:prstDash val="solid"/>
          </a:ln>
        </p:spPr>
        <p:txBody>
          <a:bodyPr/>
          <a:lstStyle/>
          <a:p>
            <a:endParaRPr lang="en-US"/>
          </a:p>
        </p:txBody>
      </p:sp>
      <p:sp>
        <p:nvSpPr>
          <p:cNvPr id="28" name="R3 Accent"/>
          <p:cNvSpPr/>
          <p:nvPr/>
        </p:nvSpPr>
        <p:spPr>
          <a:xfrm>
            <a:off x="548640" y="3931920"/>
            <a:ext cx="54864" cy="822960"/>
          </a:xfrm>
          <a:prstGeom prst="rect">
            <a:avLst/>
          </a:prstGeom>
          <a:solidFill>
            <a:srgbClr val="D4DCEA"/>
          </a:solidFill>
          <a:ln/>
        </p:spPr>
        <p:txBody>
          <a:bodyPr/>
          <a:lstStyle/>
          <a:p>
            <a:endParaRPr lang="en-US"/>
          </a:p>
        </p:txBody>
      </p:sp>
      <p:sp>
        <p:nvSpPr>
          <p:cNvPr id="29" name="R3 Model"/>
          <p:cNvSpPr/>
          <p:nvPr/>
        </p:nvSpPr>
        <p:spPr>
          <a:xfrm>
            <a:off x="822960" y="393192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XGBoost</a:t>
            </a:r>
            <a:endParaRPr lang="en-US" sz="1550"/>
          </a:p>
        </p:txBody>
      </p:sp>
      <p:sp>
        <p:nvSpPr>
          <p:cNvPr id="30" name="R3 Accuracy"/>
          <p:cNvSpPr/>
          <p:nvPr/>
        </p:nvSpPr>
        <p:spPr>
          <a:xfrm>
            <a:off x="3500000" y="393192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-0.3239</a:t>
            </a:r>
            <a:endParaRPr lang="en-US" sz="1400"/>
          </a:p>
        </p:txBody>
      </p:sp>
      <p:sp>
        <p:nvSpPr>
          <p:cNvPr id="31" name="R3 F1"/>
          <p:cNvSpPr/>
          <p:nvPr/>
        </p:nvSpPr>
        <p:spPr>
          <a:xfrm>
            <a:off x="6300000" y="393192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0.4739</a:t>
            </a:r>
            <a:endParaRPr lang="en-US" sz="1400"/>
          </a:p>
        </p:txBody>
      </p:sp>
      <p:sp>
        <p:nvSpPr>
          <p:cNvPr id="32" name="R3 Precision"/>
          <p:cNvSpPr/>
          <p:nvPr/>
        </p:nvSpPr>
        <p:spPr>
          <a:xfrm>
            <a:off x="9100000" y="393192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0.3020</a:t>
            </a:r>
            <a:endParaRPr lang="en-US" sz="1400"/>
          </a:p>
        </p:txBody>
      </p:sp>
      <p:sp>
        <p:nvSpPr>
          <p:cNvPr id="35" name="R4 BG"/>
          <p:cNvSpPr/>
          <p:nvPr/>
        </p:nvSpPr>
        <p:spPr>
          <a:xfrm>
            <a:off x="548640" y="4754880"/>
            <a:ext cx="11091672" cy="822960"/>
          </a:xfrm>
          <a:prstGeom prst="rect">
            <a:avLst/>
          </a:prstGeom>
          <a:solidFill>
            <a:srgbClr val="F2F5FB"/>
          </a:solidFill>
          <a:ln w="12700">
            <a:solidFill>
              <a:srgbClr val="D4DCEA"/>
            </a:solidFill>
            <a:prstDash val="solid"/>
          </a:ln>
        </p:spPr>
        <p:txBody>
          <a:bodyPr/>
          <a:lstStyle/>
          <a:p>
            <a:endParaRPr lang="en-US"/>
          </a:p>
        </p:txBody>
      </p:sp>
      <p:sp>
        <p:nvSpPr>
          <p:cNvPr id="36" name="R4 Accent"/>
          <p:cNvSpPr/>
          <p:nvPr/>
        </p:nvSpPr>
        <p:spPr>
          <a:xfrm>
            <a:off x="548640" y="4754880"/>
            <a:ext cx="54864" cy="822960"/>
          </a:xfrm>
          <a:prstGeom prst="rect">
            <a:avLst/>
          </a:prstGeom>
          <a:solidFill>
            <a:srgbClr val="D4DCEA"/>
          </a:solidFill>
          <a:ln/>
        </p:spPr>
        <p:txBody>
          <a:bodyPr/>
          <a:lstStyle/>
          <a:p>
            <a:endParaRPr lang="en-US"/>
          </a:p>
        </p:txBody>
      </p:sp>
      <p:sp>
        <p:nvSpPr>
          <p:cNvPr id="37" name="R4 Model"/>
          <p:cNvSpPr/>
          <p:nvPr/>
        </p:nvSpPr>
        <p:spPr>
          <a:xfrm>
            <a:off x="822960" y="4754880"/>
            <a:ext cx="2300000" cy="822960"/>
          </a:xfrm>
          <a:prstGeom prst="rect">
            <a:avLst/>
          </a:prstGeom>
          <a:noFill/>
          <a:ln/>
        </p:spPr>
        <p:txBody>
          <a:bodyPr wrap="square" lIns="0" tIns="0" rIns="0" bIns="0" rtlCol="0" anchor="ctr"/>
          <a:lstStyle/>
          <a:p>
            <a:pPr marL="0" indent="0" algn="l">
              <a:lnSpc>
                <a:spcPct val="100000"/>
              </a:lnSpc>
              <a:buNone/>
            </a:pPr>
            <a:r>
              <a:rPr lang="en-US" sz="1550" b="1">
                <a:solidFill>
                  <a:srgbClr val="16233B"/>
                </a:solidFill>
                <a:latin typeface="Georgia" pitchFamily="34" charset="0"/>
                <a:ea typeface="Georgia" pitchFamily="34" charset="-122"/>
                <a:cs typeface="Georgia" pitchFamily="34" charset="-120"/>
              </a:rPr>
              <a:t>Linear Regression</a:t>
            </a:r>
            <a:endParaRPr lang="en-US" sz="1550"/>
          </a:p>
        </p:txBody>
      </p:sp>
      <p:sp>
        <p:nvSpPr>
          <p:cNvPr id="38" name="R4 Accuracy"/>
          <p:cNvSpPr/>
          <p:nvPr/>
        </p:nvSpPr>
        <p:spPr>
          <a:xfrm>
            <a:off x="3500000" y="4754880"/>
            <a:ext cx="1656000" cy="822960"/>
          </a:xfrm>
          <a:prstGeom prst="rect">
            <a:avLst/>
          </a:prstGeom>
          <a:noFill/>
          <a:ln/>
        </p:spPr>
        <p:txBody>
          <a:bodyPr wrap="square" lIns="0" tIns="0" rIns="0" bIns="0" rtlCol="0" anchor="ctr"/>
          <a:lstStyle/>
          <a:p>
            <a:pPr marL="0" indent="0" algn="ctr">
              <a:buNone/>
            </a:pPr>
            <a:r>
              <a:rPr lang="en-US" sz="1400" b="1">
                <a:solidFill>
                  <a:srgbClr val="1F52D6"/>
                </a:solidFill>
                <a:latin typeface="Georgia" pitchFamily="34" charset="0"/>
                <a:ea typeface="Georgia" pitchFamily="34" charset="-122"/>
                <a:cs typeface="Georgia" pitchFamily="34" charset="-120"/>
              </a:rPr>
              <a:t>-53.2399</a:t>
            </a:r>
            <a:endParaRPr lang="en-US" sz="1400"/>
          </a:p>
        </p:txBody>
      </p:sp>
      <p:sp>
        <p:nvSpPr>
          <p:cNvPr id="39" name="R4 F1"/>
          <p:cNvSpPr/>
          <p:nvPr/>
        </p:nvSpPr>
        <p:spPr>
          <a:xfrm>
            <a:off x="6300000" y="475488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2.9211</a:t>
            </a:r>
            <a:endParaRPr lang="en-US" sz="1400"/>
          </a:p>
        </p:txBody>
      </p:sp>
      <p:sp>
        <p:nvSpPr>
          <p:cNvPr id="40" name="R4 Precision"/>
          <p:cNvSpPr/>
          <p:nvPr/>
        </p:nvSpPr>
        <p:spPr>
          <a:xfrm>
            <a:off x="9100000" y="4754880"/>
            <a:ext cx="1656000" cy="822960"/>
          </a:xfrm>
          <a:prstGeom prst="rect">
            <a:avLst/>
          </a:prstGeom>
          <a:noFill/>
          <a:ln/>
        </p:spPr>
        <p:txBody>
          <a:bodyPr wrap="square" lIns="0" tIns="0" rIns="0" bIns="0" rtlCol="0" anchor="ctr"/>
          <a:lstStyle/>
          <a:p>
            <a:pPr marL="0" indent="0" algn="ctr">
              <a:buNone/>
            </a:pPr>
            <a:r>
              <a:rPr lang="en-US" sz="1400" b="1">
                <a:solidFill>
                  <a:srgbClr val="16233B"/>
                </a:solidFill>
                <a:latin typeface="Georgia" pitchFamily="34" charset="0"/>
                <a:ea typeface="Georgia" pitchFamily="34" charset="-122"/>
                <a:cs typeface="Georgia" pitchFamily="34" charset="-120"/>
              </a:rPr>
              <a:t>12.3737</a:t>
            </a:r>
            <a:endParaRPr lang="en-US" sz="1400"/>
          </a:p>
        </p:txBody>
      </p:sp>
      <p:sp>
        <p:nvSpPr>
          <p:cNvPr id="43" name="Summary"/>
          <p:cNvSpPr/>
          <p:nvPr/>
        </p:nvSpPr>
        <p:spPr>
          <a:xfrm>
            <a:off x="548640" y="5561408"/>
            <a:ext cx="11091672" cy="760000"/>
          </a:xfrm>
          <a:prstGeom prst="rect">
            <a:avLst/>
          </a:prstGeom>
          <a:noFill/>
          <a:ln/>
        </p:spPr>
        <p:txBody>
          <a:bodyPr wrap="square" lIns="0" tIns="0" rIns="0" bIns="0" rtlCol="0" anchor="ctr"/>
          <a:lstStyle/>
          <a:p>
            <a:pPr marL="0" indent="0" algn="l">
              <a:lnSpc>
                <a:spcPct val="105000"/>
              </a:lnSpc>
              <a:buNone/>
            </a:pPr>
            <a:r>
              <a:rPr lang="en-US" sz="1300" i="1">
                <a:solidFill>
                  <a:srgbClr val="1F52D6"/>
                </a:solidFill>
                <a:latin typeface="Calibri" pitchFamily="34" charset="0"/>
                <a:ea typeface="Calibri" pitchFamily="34" charset="-122"/>
                <a:cs typeface="Calibri" pitchFamily="34" charset="-120"/>
              </a:rPr>
              <a:t>Sorted by mean squared error, no </a:t>
            </a:r>
            <a:r>
              <a:rPr lang="en-US" sz="1300" i="1" dirty="0">
                <a:solidFill>
                  <a:srgbClr val="1F52D6"/>
                </a:solidFill>
                <a:latin typeface="Calibri" pitchFamily="34" charset="0"/>
                <a:ea typeface="Calibri" pitchFamily="34" charset="-122"/>
                <a:cs typeface="Calibri" pitchFamily="34" charset="-120"/>
              </a:rPr>
              <a:t>regression </a:t>
            </a:r>
            <a:r>
              <a:rPr lang="en-US" sz="1300" i="1">
                <a:solidFill>
                  <a:srgbClr val="1F52D6"/>
                </a:solidFill>
                <a:latin typeface="Calibri" pitchFamily="34" charset="0"/>
                <a:ea typeface="Calibri" pitchFamily="34" charset="-122"/>
                <a:cs typeface="Calibri" pitchFamily="34" charset="-120"/>
              </a:rPr>
              <a:t>model beat </a:t>
            </a:r>
            <a:r>
              <a:rPr lang="en-US" sz="1300" i="1" dirty="0">
                <a:solidFill>
                  <a:srgbClr val="1F52D6"/>
                </a:solidFill>
                <a:latin typeface="Calibri" pitchFamily="34" charset="0"/>
                <a:ea typeface="Calibri" pitchFamily="34" charset="-122"/>
                <a:cs typeface="Calibri" pitchFamily="34" charset="-120"/>
              </a:rPr>
              <a:t>the </a:t>
            </a:r>
            <a:r>
              <a:rPr lang="en-US" sz="1300" i="1">
                <a:solidFill>
                  <a:srgbClr val="1F52D6"/>
                </a:solidFill>
                <a:latin typeface="Calibri" pitchFamily="34" charset="0"/>
                <a:ea typeface="Calibri" pitchFamily="34" charset="-122"/>
                <a:cs typeface="Calibri" pitchFamily="34" charset="-120"/>
              </a:rPr>
              <a:t>naive Dummy </a:t>
            </a:r>
            <a:r>
              <a:rPr lang="en-US" sz="1300" i="1" dirty="0">
                <a:solidFill>
                  <a:srgbClr val="1F52D6"/>
                </a:solidFill>
                <a:latin typeface="Calibri" pitchFamily="34" charset="0"/>
                <a:ea typeface="Calibri" pitchFamily="34" charset="-122"/>
                <a:cs typeface="Calibri" pitchFamily="34" charset="-120"/>
              </a:rPr>
              <a:t>baseline. </a:t>
            </a:r>
            <a:r>
              <a:rPr lang="en-US" sz="1300" i="1">
                <a:solidFill>
                  <a:srgbClr val="1F52D6"/>
                </a:solidFill>
                <a:latin typeface="Calibri" pitchFamily="34" charset="0"/>
                <a:ea typeface="Calibri" pitchFamily="34" charset="-122"/>
                <a:cs typeface="Calibri" pitchFamily="34" charset="-120"/>
              </a:rPr>
              <a:t>Every trained regressor posted a </a:t>
            </a:r>
            <a:r>
              <a:rPr lang="en-US" sz="1300" i="1" dirty="0">
                <a:solidFill>
                  <a:srgbClr val="1F52D6"/>
                </a:solidFill>
                <a:latin typeface="Calibri" pitchFamily="34" charset="0"/>
                <a:ea typeface="Calibri" pitchFamily="34" charset="-122"/>
                <a:cs typeface="Calibri" pitchFamily="34" charset="-120"/>
              </a:rPr>
              <a:t>negative R²</a:t>
            </a:r>
            <a:r>
              <a:rPr lang="en-US" sz="1300" i="1">
                <a:solidFill>
                  <a:srgbClr val="1F52D6"/>
                </a:solidFill>
                <a:latin typeface="Calibri" pitchFamily="34" charset="0"/>
                <a:ea typeface="Calibri" pitchFamily="34" charset="-122"/>
                <a:cs typeface="Calibri" pitchFamily="34" charset="-120"/>
              </a:rPr>
              <a:t>, and Linear Regression collapsed entirely on the</a:t>
            </a:r>
            <a:r>
              <a:rPr lang="en-US" sz="1300" i="1" dirty="0">
                <a:solidFill>
                  <a:srgbClr val="1F52D6"/>
                </a:solidFill>
                <a:latin typeface="Calibri" pitchFamily="34" charset="0"/>
                <a:ea typeface="Calibri" pitchFamily="34" charset="-122"/>
                <a:cs typeface="Calibri" pitchFamily="34" charset="-120"/>
              </a:rPr>
              <a:t> binary </a:t>
            </a:r>
            <a:r>
              <a:rPr lang="en-US" sz="1300" i="1">
                <a:solidFill>
                  <a:srgbClr val="1F52D6"/>
                </a:solidFill>
                <a:latin typeface="Calibri" pitchFamily="34" charset="0"/>
                <a:ea typeface="Calibri" pitchFamily="34" charset="-122"/>
                <a:cs typeface="Calibri" pitchFamily="34" charset="-120"/>
              </a:rPr>
              <a:t>target — confirming that </a:t>
            </a:r>
            <a:r>
              <a:rPr lang="en-US" sz="1300" i="1" dirty="0">
                <a:solidFill>
                  <a:srgbClr val="1F52D6"/>
                </a:solidFill>
                <a:latin typeface="Calibri" pitchFamily="34" charset="0"/>
                <a:ea typeface="Calibri" pitchFamily="34" charset="-122"/>
                <a:cs typeface="Calibri" pitchFamily="34" charset="-120"/>
              </a:rPr>
              <a:t>churn is </a:t>
            </a:r>
            <a:r>
              <a:rPr lang="en-US" sz="1300" i="1">
                <a:solidFill>
                  <a:srgbClr val="1F52D6"/>
                </a:solidFill>
                <a:latin typeface="Calibri" pitchFamily="34" charset="0"/>
                <a:ea typeface="Calibri" pitchFamily="34" charset="-122"/>
                <a:cs typeface="Calibri" pitchFamily="34" charset="-120"/>
              </a:rPr>
              <a:t>a </a:t>
            </a:r>
            <a:r>
              <a:rPr lang="en-US" sz="1300" i="1" dirty="0">
                <a:solidFill>
                  <a:srgbClr val="1F52D6"/>
                </a:solidFill>
                <a:latin typeface="Calibri" pitchFamily="34" charset="0"/>
                <a:ea typeface="Calibri" pitchFamily="34" charset="-122"/>
                <a:cs typeface="Calibri" pitchFamily="34" charset="-120"/>
              </a:rPr>
              <a:t>classification problem</a:t>
            </a:r>
            <a:r>
              <a:rPr lang="en-US" sz="1300" i="1">
                <a:solidFill>
                  <a:srgbClr val="1F52D6"/>
                </a:solidFill>
                <a:latin typeface="Calibri" pitchFamily="34" charset="0"/>
                <a:ea typeface="Calibri" pitchFamily="34" charset="-122"/>
                <a:cs typeface="Calibri" pitchFamily="34" charset="-120"/>
              </a:rPr>
              <a:t>, not a regression one</a:t>
            </a:r>
            <a:r>
              <a:rPr lang="en-US" sz="1300" i="1" dirty="0">
                <a:solidFill>
                  <a:srgbClr val="1F52D6"/>
                </a:solidFill>
                <a:latin typeface="Calibri" pitchFamily="34" charset="0"/>
                <a:ea typeface="Calibri" pitchFamily="34" charset="-122"/>
                <a:cs typeface="Calibri" pitchFamily="34" charset="-120"/>
              </a:rPr>
              <a:t>.</a:t>
            </a:r>
            <a:endParaRPr lang="en-US" sz="1300" dirty="0"/>
          </a:p>
        </p:txBody>
      </p:sp>
      <p:sp>
        <p:nvSpPr>
          <p:cNvPr id="44" name="Caption"/>
          <p:cNvSpPr/>
          <p:nvPr/>
        </p:nvSpPr>
        <p:spPr>
          <a:xfrm>
            <a:off x="548640" y="6199632"/>
            <a:ext cx="9601200" cy="256032"/>
          </a:xfrm>
          <a:prstGeom prst="rect">
            <a:avLst/>
          </a:prstGeom>
          <a:noFill/>
          <a:ln/>
        </p:spPr>
        <p:txBody>
          <a:bodyPr wrap="square" lIns="0" tIns="0" rIns="0" bIns="0" rtlCol="0" anchor="ctr"/>
          <a:lstStyle/>
          <a:p>
            <a:pPr marL="0" indent="0">
              <a:buNone/>
            </a:pPr>
            <a:r>
              <a:rPr lang="en-US" sz="950" i="1">
                <a:solidFill>
                  <a:srgbClr val="5C6B85"/>
                </a:solidFill>
                <a:latin typeface="Calibri" pitchFamily="34" charset="0"/>
                <a:ea typeface="Calibri" pitchFamily="34" charset="-122"/>
                <a:cs typeface="Calibri" pitchFamily="34" charset="-120"/>
              </a:rPr>
              <a:t>Regression metrics on the held-out test set, sorted by mean squared error (lower is better).</a:t>
            </a:r>
            <a:endParaRPr lang="en-US" sz="950"/>
          </a:p>
        </p:txBody>
      </p:sp>
      <p:sp>
        <p:nvSpPr>
          <p:cNvPr id="45" name="Footer"/>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Predicting Customer Churn with Regression Models</a:t>
            </a:r>
            <a:endParaRPr lang="en-US" sz="900"/>
          </a:p>
        </p:txBody>
      </p:sp>
      <p:sp>
        <p:nvSpPr>
          <p:cNvPr id="46" name="Page Number"/>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18</a:t>
            </a:r>
            <a:endParaRPr lang="en-US" sz="900"/>
          </a:p>
        </p:txBody>
      </p:sp>
      <p:sp>
        <p:nvSpPr>
          <p:cNvPr id="47" name="Recommended Model Card"/>
          <p:cNvSpPr/>
          <p:nvPr/>
        </p:nvSpPr>
        <p:spPr>
          <a:xfrm>
            <a:off x="8686800" y="300000"/>
            <a:ext cx="2953512" cy="1300000"/>
          </a:xfrm>
          <a:prstGeom prst="rect">
            <a:avLst/>
          </a:prstGeom>
          <a:solidFill>
            <a:srgbClr val="1F52D6"/>
          </a:solidFill>
          <a:ln/>
          <a:effectLst>
            <a:outerShdw blurRad="101600" dist="25400" dir="5400000" algn="bl" rotWithShape="0">
              <a:srgbClr val="8CA0C4">
                <a:alpha val="28000"/>
              </a:srgbClr>
            </a:outerShdw>
          </a:effectLst>
        </p:spPr>
        <p:txBody>
          <a:bodyPr/>
          <a:lstStyle/>
          <a:p>
            <a:endParaRPr lang="en-US"/>
          </a:p>
        </p:txBody>
      </p:sp>
      <p:sp>
        <p:nvSpPr>
          <p:cNvPr id="48" name="Recommended Model Accent"/>
          <p:cNvSpPr/>
          <p:nvPr/>
        </p:nvSpPr>
        <p:spPr>
          <a:xfrm>
            <a:off x="8686800" y="300000"/>
            <a:ext cx="2953512" cy="68580"/>
          </a:xfrm>
          <a:prstGeom prst="rect">
            <a:avLst/>
          </a:prstGeom>
          <a:solidFill>
            <a:srgbClr val="F5A623"/>
          </a:solidFill>
          <a:ln/>
        </p:spPr>
        <p:txBody>
          <a:bodyPr/>
          <a:lstStyle/>
          <a:p>
            <a:endParaRPr lang="en-US"/>
          </a:p>
        </p:txBody>
      </p:sp>
      <p:sp>
        <p:nvSpPr>
          <p:cNvPr id="49" name="Recommended Model Text"/>
          <p:cNvSpPr/>
          <p:nvPr/>
        </p:nvSpPr>
        <p:spPr>
          <a:xfrm>
            <a:off x="8887320" y="405000"/>
            <a:ext cx="2552472" cy="1150000"/>
          </a:xfrm>
          <a:prstGeom prst="rect">
            <a:avLst/>
          </a:prstGeom>
          <a:noFill/>
          <a:ln/>
        </p:spPr>
        <p:txBody>
          <a:bodyPr wrap="square" lIns="0" tIns="0" rIns="0" bIns="0" rtlCol="0" anchor="ctr"/>
          <a:lstStyle/>
          <a:p>
            <a:pPr marL="0" indent="0" algn="l">
              <a:buNone/>
            </a:pPr>
            <a:r>
              <a:rPr lang="en-US" sz="1000" b="1" spc="120">
                <a:solidFill>
                  <a:srgbClr val="F5A623"/>
                </a:solidFill>
                <a:latin typeface="Calibri" pitchFamily="34" charset="0"/>
                <a:ea typeface="Calibri" pitchFamily="34" charset="-122"/>
                <a:cs typeface="Calibri" pitchFamily="34" charset="-120"/>
              </a:rPr>
              <a:t>LOWEST ERROR</a:t>
            </a:r>
            <a:endParaRPr lang="en-US" sz="1000" b="1"/>
          </a:p>
          <a:p>
            <a:pPr marL="0" indent="0" algn="l">
              <a:buNone/>
            </a:pPr>
            <a:r>
              <a:rPr lang="en-US" sz="1800" b="1">
                <a:solidFill>
                  <a:srgbClr val="FFFFFF"/>
                </a:solidFill>
                <a:latin typeface="Georgia" pitchFamily="34" charset="0"/>
                <a:ea typeface="Georgia" pitchFamily="34" charset="-122"/>
                <a:cs typeface="Georgia" pitchFamily="34" charset="-120"/>
              </a:rPr>
              <a:t>Dummy Baseline</a:t>
            </a:r>
            <a:endParaRPr lang="en-US" sz="1800" b="1"/>
          </a:p>
          <a:p>
            <a:pPr marL="0" indent="0" algn="l">
              <a:buNone/>
            </a:pPr>
            <a:r>
              <a:rPr lang="en-US" sz="1000">
                <a:solidFill>
                  <a:srgbClr val="DCE6FB"/>
                </a:solidFill>
                <a:latin typeface="Calibri" pitchFamily="34" charset="0"/>
                <a:ea typeface="Calibri" pitchFamily="34" charset="-122"/>
                <a:cs typeface="Calibri" pitchFamily="34" charset="-120"/>
              </a:rPr>
              <a:t>No regressor beat the naive baseline; its 0.23 MSE was the lowest of all.</a:t>
            </a:r>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THE TAKEAWAY</a:t>
            </a:r>
            <a:endParaRPr lang="en-US" sz="125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Why regression fell short</a:t>
            </a:r>
            <a:endParaRPr lang="en-US" sz="3000"/>
          </a:p>
        </p:txBody>
      </p:sp>
      <p:sp>
        <p:nvSpPr>
          <p:cNvPr id="4" name="Shape 2"/>
          <p:cNvSpPr/>
          <p:nvPr/>
        </p:nvSpPr>
        <p:spPr>
          <a:xfrm>
            <a:off x="54864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3566160" cy="91440"/>
          </a:xfrm>
          <a:prstGeom prst="rect">
            <a:avLst/>
          </a:prstGeom>
          <a:solidFill>
            <a:srgbClr val="1F52D6"/>
          </a:solidFill>
          <a:ln/>
        </p:spPr>
        <p:txBody>
          <a:bodyPr/>
          <a:lstStyle/>
          <a:p>
            <a:endParaRPr lang="en-US"/>
          </a:p>
        </p:txBody>
      </p:sp>
      <p:sp>
        <p:nvSpPr>
          <p:cNvPr id="6" name="Text 4"/>
          <p:cNvSpPr/>
          <p:nvPr/>
        </p:nvSpPr>
        <p:spPr>
          <a:xfrm>
            <a:off x="86868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a:solidFill>
                  <a:srgbClr val="1F52D6"/>
                </a:solidFill>
                <a:latin typeface="Calibri" pitchFamily="34" charset="0"/>
                <a:ea typeface="Calibri" pitchFamily="34" charset="-122"/>
                <a:cs typeface="Calibri" pitchFamily="34" charset="-120"/>
              </a:rPr>
              <a:t>BASELINE TO BEAT</a:t>
            </a:r>
            <a:endParaRPr lang="en-US" sz="1200"/>
          </a:p>
        </p:txBody>
      </p:sp>
      <p:sp>
        <p:nvSpPr>
          <p:cNvPr id="7" name="Text 5"/>
          <p:cNvSpPr/>
          <p:nvPr/>
        </p:nvSpPr>
        <p:spPr>
          <a:xfrm>
            <a:off x="841248" y="2560320"/>
            <a:ext cx="3017520" cy="777240"/>
          </a:xfrm>
          <a:prstGeom prst="rect">
            <a:avLst/>
          </a:prstGeom>
          <a:noFill/>
          <a:ln/>
        </p:spPr>
        <p:txBody>
          <a:bodyPr wrap="square" lIns="0" tIns="0" rIns="0" bIns="0" rtlCol="0" anchor="ctr"/>
          <a:lstStyle/>
          <a:p>
            <a:pPr marL="0" indent="0" algn="l">
              <a:buNone/>
            </a:pPr>
            <a:r>
              <a:rPr lang="en-US" sz="4000" b="1">
                <a:solidFill>
                  <a:srgbClr val="16233B"/>
                </a:solidFill>
                <a:latin typeface="Georgia" pitchFamily="34" charset="0"/>
                <a:ea typeface="Georgia" pitchFamily="34" charset="-122"/>
                <a:cs typeface="Georgia" pitchFamily="34" charset="-120"/>
              </a:rPr>
              <a:t>0.2281</a:t>
            </a:r>
            <a:endParaRPr lang="en-US" sz="4000"/>
          </a:p>
        </p:txBody>
      </p:sp>
      <p:sp>
        <p:nvSpPr>
          <p:cNvPr id="8" name="Text 6"/>
          <p:cNvSpPr/>
          <p:nvPr/>
        </p:nvSpPr>
        <p:spPr>
          <a:xfrm>
            <a:off x="868680" y="3319272"/>
            <a:ext cx="2926080" cy="274320"/>
          </a:xfrm>
          <a:prstGeom prst="rect">
            <a:avLst/>
          </a:prstGeom>
          <a:noFill/>
          <a:ln/>
        </p:spPr>
        <p:txBody>
          <a:bodyPr wrap="square" lIns="0" tIns="0" rIns="0" bIns="0" rtlCol="0" anchor="ctr"/>
          <a:lstStyle/>
          <a:p>
            <a:pPr marL="0" indent="0" algn="l">
              <a:buNone/>
            </a:pPr>
            <a:r>
              <a:rPr lang="en-US" sz="1250" i="1">
                <a:solidFill>
                  <a:srgbClr val="5C6B85"/>
                </a:solidFill>
                <a:latin typeface="Calibri" pitchFamily="34" charset="0"/>
                <a:ea typeface="Calibri" pitchFamily="34" charset="-122"/>
                <a:cs typeface="Calibri" pitchFamily="34" charset="-120"/>
              </a:rPr>
              <a:t>dummy baseline MSE</a:t>
            </a:r>
            <a:endParaRPr lang="en-US" sz="1250"/>
          </a:p>
        </p:txBody>
      </p:sp>
      <p:sp>
        <p:nvSpPr>
          <p:cNvPr id="9" name="Shape 7"/>
          <p:cNvSpPr/>
          <p:nvPr/>
        </p:nvSpPr>
        <p:spPr>
          <a:xfrm>
            <a:off x="868680" y="3685032"/>
            <a:ext cx="2926080" cy="10973"/>
          </a:xfrm>
          <a:prstGeom prst="rect">
            <a:avLst/>
          </a:prstGeom>
          <a:solidFill>
            <a:srgbClr val="D4DCEA"/>
          </a:solidFill>
          <a:ln/>
        </p:spPr>
        <p:txBody>
          <a:bodyPr/>
          <a:lstStyle/>
          <a:p>
            <a:endParaRPr lang="en-US"/>
          </a:p>
        </p:txBody>
      </p:sp>
      <p:sp>
        <p:nvSpPr>
          <p:cNvPr id="10" name="Shape 8"/>
          <p:cNvSpPr/>
          <p:nvPr/>
        </p:nvSpPr>
        <p:spPr>
          <a:xfrm>
            <a:off x="896112" y="3904488"/>
            <a:ext cx="100584" cy="100584"/>
          </a:xfrm>
          <a:prstGeom prst="ellipse">
            <a:avLst/>
          </a:prstGeom>
          <a:solidFill>
            <a:srgbClr val="1F52D6"/>
          </a:solidFill>
          <a:ln/>
        </p:spPr>
        <p:txBody>
          <a:bodyPr/>
          <a:lstStyle/>
          <a:p>
            <a:endParaRPr lang="en-US"/>
          </a:p>
        </p:txBody>
      </p:sp>
      <p:sp>
        <p:nvSpPr>
          <p:cNvPr id="11" name="Text 9"/>
          <p:cNvSpPr/>
          <p:nvPr/>
        </p:nvSpPr>
        <p:spPr>
          <a:xfrm>
            <a:off x="1115568" y="3794760"/>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Predicts the average churn rate</a:t>
            </a:r>
            <a:endParaRPr lang="en-US" sz="1300"/>
          </a:p>
        </p:txBody>
      </p:sp>
      <p:sp>
        <p:nvSpPr>
          <p:cNvPr id="12" name="Shape 10"/>
          <p:cNvSpPr/>
          <p:nvPr/>
        </p:nvSpPr>
        <p:spPr>
          <a:xfrm>
            <a:off x="896112" y="4306824"/>
            <a:ext cx="100584" cy="100584"/>
          </a:xfrm>
          <a:prstGeom prst="ellipse">
            <a:avLst/>
          </a:prstGeom>
          <a:solidFill>
            <a:srgbClr val="1F52D6"/>
          </a:solidFill>
          <a:ln/>
        </p:spPr>
        <p:txBody>
          <a:bodyPr/>
          <a:lstStyle/>
          <a:p>
            <a:endParaRPr lang="en-US"/>
          </a:p>
        </p:txBody>
      </p:sp>
      <p:sp>
        <p:nvSpPr>
          <p:cNvPr id="13" name="Text 11"/>
          <p:cNvSpPr/>
          <p:nvPr/>
        </p:nvSpPr>
        <p:spPr>
          <a:xfrm>
            <a:off x="1115568" y="4197096"/>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R² of exactly 0.0000</a:t>
            </a:r>
            <a:endParaRPr lang="en-US" sz="1300"/>
          </a:p>
        </p:txBody>
      </p:sp>
      <p:sp>
        <p:nvSpPr>
          <p:cNvPr id="14" name="Shape 12"/>
          <p:cNvSpPr/>
          <p:nvPr/>
        </p:nvSpPr>
        <p:spPr>
          <a:xfrm>
            <a:off x="896112" y="4709160"/>
            <a:ext cx="100584" cy="100584"/>
          </a:xfrm>
          <a:prstGeom prst="ellipse">
            <a:avLst/>
          </a:prstGeom>
          <a:solidFill>
            <a:srgbClr val="1F52D6"/>
          </a:solidFill>
          <a:ln/>
        </p:spPr>
        <p:txBody>
          <a:bodyPr/>
          <a:lstStyle/>
          <a:p>
            <a:endParaRPr lang="en-US"/>
          </a:p>
        </p:txBody>
      </p:sp>
      <p:sp>
        <p:nvSpPr>
          <p:cNvPr id="15" name="Text 13"/>
          <p:cNvSpPr/>
          <p:nvPr/>
        </p:nvSpPr>
        <p:spPr>
          <a:xfrm>
            <a:off x="1115568" y="4599432"/>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Lowest error of any model</a:t>
            </a:r>
            <a:endParaRPr lang="en-US" sz="1300"/>
          </a:p>
        </p:txBody>
      </p:sp>
      <p:sp>
        <p:nvSpPr>
          <p:cNvPr id="16" name="Shape 14"/>
          <p:cNvSpPr/>
          <p:nvPr/>
        </p:nvSpPr>
        <p:spPr>
          <a:xfrm>
            <a:off x="896112" y="5111496"/>
            <a:ext cx="100584" cy="100584"/>
          </a:xfrm>
          <a:prstGeom prst="ellipse">
            <a:avLst/>
          </a:prstGeom>
          <a:solidFill>
            <a:srgbClr val="1F52D6"/>
          </a:solidFill>
          <a:ln/>
        </p:spPr>
        <p:txBody>
          <a:bodyPr/>
          <a:lstStyle/>
          <a:p>
            <a:endParaRPr lang="en-US"/>
          </a:p>
        </p:txBody>
      </p:sp>
      <p:sp>
        <p:nvSpPr>
          <p:cNvPr id="17" name="Text 15"/>
          <p:cNvSpPr/>
          <p:nvPr/>
        </p:nvSpPr>
        <p:spPr>
          <a:xfrm>
            <a:off x="1115568" y="5001768"/>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The bar every model must clear</a:t>
            </a:r>
            <a:endParaRPr lang="en-US" sz="1300"/>
          </a:p>
        </p:txBody>
      </p:sp>
      <p:sp>
        <p:nvSpPr>
          <p:cNvPr id="18" name="Shape 16"/>
          <p:cNvSpPr/>
          <p:nvPr/>
        </p:nvSpPr>
        <p:spPr>
          <a:xfrm>
            <a:off x="438912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9" name="Shape 17"/>
          <p:cNvSpPr/>
          <p:nvPr/>
        </p:nvSpPr>
        <p:spPr>
          <a:xfrm>
            <a:off x="4389120" y="1783080"/>
            <a:ext cx="3566160" cy="91440"/>
          </a:xfrm>
          <a:prstGeom prst="rect">
            <a:avLst/>
          </a:prstGeom>
          <a:solidFill>
            <a:srgbClr val="1F52D6"/>
          </a:solidFill>
          <a:ln/>
        </p:spPr>
        <p:txBody>
          <a:bodyPr/>
          <a:lstStyle/>
          <a:p>
            <a:endParaRPr lang="en-US"/>
          </a:p>
        </p:txBody>
      </p:sp>
      <p:sp>
        <p:nvSpPr>
          <p:cNvPr id="20" name="Text 18"/>
          <p:cNvSpPr/>
          <p:nvPr/>
        </p:nvSpPr>
        <p:spPr>
          <a:xfrm>
            <a:off x="470916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a:solidFill>
                  <a:srgbClr val="1F52D6"/>
                </a:solidFill>
                <a:latin typeface="Calibri" pitchFamily="34" charset="0"/>
                <a:ea typeface="Calibri" pitchFamily="34" charset="-122"/>
                <a:cs typeface="Calibri" pitchFamily="34" charset="-120"/>
              </a:rPr>
              <a:t>THE CHALLENGERS</a:t>
            </a:r>
            <a:endParaRPr lang="en-US" sz="1200"/>
          </a:p>
        </p:txBody>
      </p:sp>
      <p:sp>
        <p:nvSpPr>
          <p:cNvPr id="21" name="Text 19"/>
          <p:cNvSpPr/>
          <p:nvPr/>
        </p:nvSpPr>
        <p:spPr>
          <a:xfrm>
            <a:off x="4681728" y="2560320"/>
            <a:ext cx="3017520" cy="777240"/>
          </a:xfrm>
          <a:prstGeom prst="rect">
            <a:avLst/>
          </a:prstGeom>
          <a:noFill/>
          <a:ln/>
        </p:spPr>
        <p:txBody>
          <a:bodyPr wrap="square" lIns="0" tIns="0" rIns="0" bIns="0" rtlCol="0" anchor="ctr"/>
          <a:lstStyle/>
          <a:p>
            <a:pPr marL="0" indent="0" algn="l">
              <a:buNone/>
            </a:pPr>
            <a:r>
              <a:rPr lang="en-US" sz="4000" b="1">
                <a:solidFill>
                  <a:srgbClr val="16233B"/>
                </a:solidFill>
                <a:latin typeface="Georgia" pitchFamily="34" charset="0"/>
                <a:ea typeface="Georgia" pitchFamily="34" charset="-122"/>
                <a:cs typeface="Georgia" pitchFamily="34" charset="-120"/>
              </a:rPr>
              <a:t>0 of 3</a:t>
            </a:r>
            <a:endParaRPr lang="en-US" sz="4000"/>
          </a:p>
        </p:txBody>
      </p:sp>
      <p:sp>
        <p:nvSpPr>
          <p:cNvPr id="22" name="Text 20"/>
          <p:cNvSpPr/>
          <p:nvPr/>
        </p:nvSpPr>
        <p:spPr>
          <a:xfrm>
            <a:off x="4709160" y="3319272"/>
            <a:ext cx="2926080" cy="274320"/>
          </a:xfrm>
          <a:prstGeom prst="rect">
            <a:avLst/>
          </a:prstGeom>
          <a:noFill/>
          <a:ln/>
        </p:spPr>
        <p:txBody>
          <a:bodyPr wrap="square" lIns="0" tIns="0" rIns="0" bIns="0" rtlCol="0" anchor="ctr"/>
          <a:lstStyle/>
          <a:p>
            <a:pPr marL="0" indent="0" algn="l">
              <a:buNone/>
            </a:pPr>
            <a:r>
              <a:rPr lang="en-US" sz="1250" i="1">
                <a:solidFill>
                  <a:srgbClr val="5C6B85"/>
                </a:solidFill>
                <a:latin typeface="Calibri" pitchFamily="34" charset="0"/>
                <a:ea typeface="Calibri" pitchFamily="34" charset="-122"/>
                <a:cs typeface="Calibri" pitchFamily="34" charset="-120"/>
              </a:rPr>
              <a:t>beat the baseline</a:t>
            </a:r>
            <a:endParaRPr lang="en-US" sz="1250"/>
          </a:p>
        </p:txBody>
      </p:sp>
      <p:sp>
        <p:nvSpPr>
          <p:cNvPr id="23" name="Shape 21"/>
          <p:cNvSpPr/>
          <p:nvPr/>
        </p:nvSpPr>
        <p:spPr>
          <a:xfrm>
            <a:off x="4709160" y="3685032"/>
            <a:ext cx="2926080" cy="10973"/>
          </a:xfrm>
          <a:prstGeom prst="rect">
            <a:avLst/>
          </a:prstGeom>
          <a:solidFill>
            <a:srgbClr val="D4DCEA"/>
          </a:solidFill>
          <a:ln/>
        </p:spPr>
        <p:txBody>
          <a:bodyPr/>
          <a:lstStyle/>
          <a:p>
            <a:endParaRPr lang="en-US"/>
          </a:p>
        </p:txBody>
      </p:sp>
      <p:sp>
        <p:nvSpPr>
          <p:cNvPr id="24" name="Shape 22"/>
          <p:cNvSpPr/>
          <p:nvPr/>
        </p:nvSpPr>
        <p:spPr>
          <a:xfrm>
            <a:off x="4736592" y="3904488"/>
            <a:ext cx="100584" cy="100584"/>
          </a:xfrm>
          <a:prstGeom prst="ellipse">
            <a:avLst/>
          </a:prstGeom>
          <a:solidFill>
            <a:srgbClr val="1F52D6"/>
          </a:solidFill>
          <a:ln/>
        </p:spPr>
        <p:txBody>
          <a:bodyPr/>
          <a:lstStyle/>
          <a:p>
            <a:endParaRPr lang="en-US"/>
          </a:p>
        </p:txBody>
      </p:sp>
      <p:sp>
        <p:nvSpPr>
          <p:cNvPr id="25" name="Text 23"/>
          <p:cNvSpPr/>
          <p:nvPr/>
        </p:nvSpPr>
        <p:spPr>
          <a:xfrm>
            <a:off x="4956048" y="3794760"/>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Linear Regression: R² -53.24</a:t>
            </a:r>
            <a:endParaRPr lang="en-US" sz="1300"/>
          </a:p>
        </p:txBody>
      </p:sp>
      <p:sp>
        <p:nvSpPr>
          <p:cNvPr id="26" name="Shape 24"/>
          <p:cNvSpPr/>
          <p:nvPr/>
        </p:nvSpPr>
        <p:spPr>
          <a:xfrm>
            <a:off x="4736592" y="4306824"/>
            <a:ext cx="100584" cy="100584"/>
          </a:xfrm>
          <a:prstGeom prst="ellipse">
            <a:avLst/>
          </a:prstGeom>
          <a:solidFill>
            <a:srgbClr val="1F52D6"/>
          </a:solidFill>
          <a:ln/>
        </p:spPr>
        <p:txBody>
          <a:bodyPr/>
          <a:lstStyle/>
          <a:p>
            <a:endParaRPr lang="en-US"/>
          </a:p>
        </p:txBody>
      </p:sp>
      <p:sp>
        <p:nvSpPr>
          <p:cNvPr id="27" name="Text 25"/>
          <p:cNvSpPr/>
          <p:nvPr/>
        </p:nvSpPr>
        <p:spPr>
          <a:xfrm>
            <a:off x="4956048" y="4197096"/>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Random Forest: MSE 0.2947</a:t>
            </a:r>
            <a:endParaRPr lang="en-US" sz="1300"/>
          </a:p>
        </p:txBody>
      </p:sp>
      <p:sp>
        <p:nvSpPr>
          <p:cNvPr id="28" name="Shape 26"/>
          <p:cNvSpPr/>
          <p:nvPr/>
        </p:nvSpPr>
        <p:spPr>
          <a:xfrm>
            <a:off x="4736592" y="4709160"/>
            <a:ext cx="100584" cy="100584"/>
          </a:xfrm>
          <a:prstGeom prst="ellipse">
            <a:avLst/>
          </a:prstGeom>
          <a:solidFill>
            <a:srgbClr val="1F52D6"/>
          </a:solidFill>
          <a:ln/>
        </p:spPr>
        <p:txBody>
          <a:bodyPr/>
          <a:lstStyle/>
          <a:p>
            <a:endParaRPr lang="en-US"/>
          </a:p>
        </p:txBody>
      </p:sp>
      <p:sp>
        <p:nvSpPr>
          <p:cNvPr id="29" name="Text 27"/>
          <p:cNvSpPr/>
          <p:nvPr/>
        </p:nvSpPr>
        <p:spPr>
          <a:xfrm>
            <a:off x="4956048" y="4599432"/>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XGBoost: MSE 0.3020</a:t>
            </a:r>
            <a:endParaRPr lang="en-US" sz="1300"/>
          </a:p>
        </p:txBody>
      </p:sp>
      <p:sp>
        <p:nvSpPr>
          <p:cNvPr id="30" name="Shape 28"/>
          <p:cNvSpPr/>
          <p:nvPr/>
        </p:nvSpPr>
        <p:spPr>
          <a:xfrm>
            <a:off x="4736592" y="5111496"/>
            <a:ext cx="100584" cy="100584"/>
          </a:xfrm>
          <a:prstGeom prst="ellipse">
            <a:avLst/>
          </a:prstGeom>
          <a:solidFill>
            <a:srgbClr val="1F52D6"/>
          </a:solidFill>
          <a:ln/>
        </p:spPr>
        <p:txBody>
          <a:bodyPr/>
          <a:lstStyle/>
          <a:p>
            <a:endParaRPr lang="en-US"/>
          </a:p>
        </p:txBody>
      </p:sp>
      <p:sp>
        <p:nvSpPr>
          <p:cNvPr id="31" name="Text 29"/>
          <p:cNvSpPr/>
          <p:nvPr/>
        </p:nvSpPr>
        <p:spPr>
          <a:xfrm>
            <a:off x="4956048" y="5001768"/>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All posted a negative R²</a:t>
            </a:r>
            <a:endParaRPr lang="en-US" sz="1300"/>
          </a:p>
        </p:txBody>
      </p:sp>
      <p:sp>
        <p:nvSpPr>
          <p:cNvPr id="32" name="Shape 30"/>
          <p:cNvSpPr/>
          <p:nvPr/>
        </p:nvSpPr>
        <p:spPr>
          <a:xfrm>
            <a:off x="8229600" y="1783080"/>
            <a:ext cx="3566160" cy="4206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33" name="Shape 31"/>
          <p:cNvSpPr/>
          <p:nvPr/>
        </p:nvSpPr>
        <p:spPr>
          <a:xfrm>
            <a:off x="8229600" y="1783080"/>
            <a:ext cx="3566160" cy="91440"/>
          </a:xfrm>
          <a:prstGeom prst="rect">
            <a:avLst/>
          </a:prstGeom>
          <a:solidFill>
            <a:srgbClr val="1F52D6"/>
          </a:solidFill>
          <a:ln/>
        </p:spPr>
        <p:txBody>
          <a:bodyPr/>
          <a:lstStyle/>
          <a:p>
            <a:endParaRPr lang="en-US"/>
          </a:p>
        </p:txBody>
      </p:sp>
      <p:sp>
        <p:nvSpPr>
          <p:cNvPr id="34" name="Text 32"/>
          <p:cNvSpPr/>
          <p:nvPr/>
        </p:nvSpPr>
        <p:spPr>
          <a:xfrm>
            <a:off x="8549640" y="2075688"/>
            <a:ext cx="2926080" cy="457200"/>
          </a:xfrm>
          <a:prstGeom prst="rect">
            <a:avLst/>
          </a:prstGeom>
          <a:noFill/>
          <a:ln/>
        </p:spPr>
        <p:txBody>
          <a:bodyPr wrap="square" lIns="0" tIns="0" rIns="0" bIns="0" rtlCol="0" anchor="t"/>
          <a:lstStyle/>
          <a:p>
            <a:pPr marL="0" indent="0" algn="l">
              <a:lnSpc>
                <a:spcPct val="100000"/>
              </a:lnSpc>
              <a:buNone/>
            </a:pPr>
            <a:r>
              <a:rPr lang="en-US" sz="1200" b="1" kern="0" spc="150">
                <a:solidFill>
                  <a:srgbClr val="1F52D6"/>
                </a:solidFill>
                <a:latin typeface="Calibri" pitchFamily="34" charset="0"/>
                <a:ea typeface="Calibri" pitchFamily="34" charset="-122"/>
                <a:cs typeface="Calibri" pitchFamily="34" charset="-120"/>
              </a:rPr>
              <a:t>THE VERDICT</a:t>
            </a:r>
            <a:endParaRPr lang="en-US" sz="1200"/>
          </a:p>
        </p:txBody>
      </p:sp>
      <p:sp>
        <p:nvSpPr>
          <p:cNvPr id="35" name="Text 33"/>
          <p:cNvSpPr/>
          <p:nvPr/>
        </p:nvSpPr>
        <p:spPr>
          <a:xfrm>
            <a:off x="8522208" y="2560320"/>
            <a:ext cx="3017520" cy="777240"/>
          </a:xfrm>
          <a:prstGeom prst="rect">
            <a:avLst/>
          </a:prstGeom>
          <a:noFill/>
          <a:ln/>
        </p:spPr>
        <p:txBody>
          <a:bodyPr wrap="square" lIns="0" tIns="0" rIns="0" bIns="0" rtlCol="0" anchor="ctr"/>
          <a:lstStyle/>
          <a:p>
            <a:pPr marL="0" indent="0" algn="l">
              <a:buNone/>
            </a:pPr>
            <a:r>
              <a:rPr lang="en-US" sz="4000" b="1">
                <a:solidFill>
                  <a:srgbClr val="16233B"/>
                </a:solidFill>
                <a:latin typeface="Georgia" pitchFamily="34" charset="0"/>
                <a:ea typeface="Georgia" pitchFamily="34" charset="-122"/>
                <a:cs typeface="Georgia" pitchFamily="34" charset="-120"/>
              </a:rPr>
              <a:t>≤ 0</a:t>
            </a:r>
            <a:endParaRPr lang="en-US" sz="4000"/>
          </a:p>
        </p:txBody>
      </p:sp>
      <p:sp>
        <p:nvSpPr>
          <p:cNvPr id="36" name="Text 34"/>
          <p:cNvSpPr/>
          <p:nvPr/>
        </p:nvSpPr>
        <p:spPr>
          <a:xfrm>
            <a:off x="8549640" y="3319272"/>
            <a:ext cx="2926080" cy="274320"/>
          </a:xfrm>
          <a:prstGeom prst="rect">
            <a:avLst/>
          </a:prstGeom>
          <a:noFill/>
          <a:ln/>
        </p:spPr>
        <p:txBody>
          <a:bodyPr wrap="square" lIns="0" tIns="0" rIns="0" bIns="0" rtlCol="0" anchor="ctr"/>
          <a:lstStyle/>
          <a:p>
            <a:pPr marL="0" indent="0" algn="l">
              <a:buNone/>
            </a:pPr>
            <a:r>
              <a:rPr lang="en-US" sz="1250" i="1">
                <a:solidFill>
                  <a:srgbClr val="5C6B85"/>
                </a:solidFill>
                <a:latin typeface="Calibri" pitchFamily="34" charset="0"/>
                <a:ea typeface="Calibri" pitchFamily="34" charset="-122"/>
                <a:cs typeface="Calibri" pitchFamily="34" charset="-120"/>
              </a:rPr>
              <a:t>R² for every model</a:t>
            </a:r>
            <a:endParaRPr lang="en-US" sz="1250"/>
          </a:p>
        </p:txBody>
      </p:sp>
      <p:sp>
        <p:nvSpPr>
          <p:cNvPr id="37" name="Shape 35"/>
          <p:cNvSpPr/>
          <p:nvPr/>
        </p:nvSpPr>
        <p:spPr>
          <a:xfrm>
            <a:off x="8549640" y="3685032"/>
            <a:ext cx="2926080" cy="10973"/>
          </a:xfrm>
          <a:prstGeom prst="rect">
            <a:avLst/>
          </a:prstGeom>
          <a:solidFill>
            <a:srgbClr val="D4DCEA"/>
          </a:solidFill>
          <a:ln/>
        </p:spPr>
        <p:txBody>
          <a:bodyPr/>
          <a:lstStyle/>
          <a:p>
            <a:endParaRPr lang="en-US"/>
          </a:p>
        </p:txBody>
      </p:sp>
      <p:sp>
        <p:nvSpPr>
          <p:cNvPr id="38" name="Shape 36"/>
          <p:cNvSpPr/>
          <p:nvPr/>
        </p:nvSpPr>
        <p:spPr>
          <a:xfrm>
            <a:off x="8577072" y="3904488"/>
            <a:ext cx="100584" cy="100584"/>
          </a:xfrm>
          <a:prstGeom prst="ellipse">
            <a:avLst/>
          </a:prstGeom>
          <a:solidFill>
            <a:srgbClr val="1F52D6"/>
          </a:solidFill>
          <a:ln/>
        </p:spPr>
        <p:txBody>
          <a:bodyPr/>
          <a:lstStyle/>
          <a:p>
            <a:endParaRPr lang="en-US"/>
          </a:p>
        </p:txBody>
      </p:sp>
      <p:sp>
        <p:nvSpPr>
          <p:cNvPr id="39" name="Text 37"/>
          <p:cNvSpPr/>
          <p:nvPr/>
        </p:nvSpPr>
        <p:spPr>
          <a:xfrm>
            <a:off x="8796528" y="3794760"/>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Churn is binary, not continuous</a:t>
            </a:r>
            <a:endParaRPr lang="en-US" sz="1300"/>
          </a:p>
        </p:txBody>
      </p:sp>
      <p:sp>
        <p:nvSpPr>
          <p:cNvPr id="40" name="Shape 38"/>
          <p:cNvSpPr/>
          <p:nvPr/>
        </p:nvSpPr>
        <p:spPr>
          <a:xfrm>
            <a:off x="8577072" y="4306824"/>
            <a:ext cx="100584" cy="100584"/>
          </a:xfrm>
          <a:prstGeom prst="ellipse">
            <a:avLst/>
          </a:prstGeom>
          <a:solidFill>
            <a:srgbClr val="1F52D6"/>
          </a:solidFill>
          <a:ln/>
        </p:spPr>
        <p:txBody>
          <a:bodyPr/>
          <a:lstStyle/>
          <a:p>
            <a:endParaRPr lang="en-US"/>
          </a:p>
        </p:txBody>
      </p:sp>
      <p:sp>
        <p:nvSpPr>
          <p:cNvPr id="41" name="Text 39"/>
          <p:cNvSpPr/>
          <p:nvPr/>
        </p:nvSpPr>
        <p:spPr>
          <a:xfrm>
            <a:off x="8796528" y="4197096"/>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Regression is the wrong tool</a:t>
            </a:r>
            <a:endParaRPr lang="en-US" sz="1300"/>
          </a:p>
        </p:txBody>
      </p:sp>
      <p:sp>
        <p:nvSpPr>
          <p:cNvPr id="42" name="Shape 40"/>
          <p:cNvSpPr/>
          <p:nvPr/>
        </p:nvSpPr>
        <p:spPr>
          <a:xfrm>
            <a:off x="8577072" y="4709160"/>
            <a:ext cx="100584" cy="100584"/>
          </a:xfrm>
          <a:prstGeom prst="ellipse">
            <a:avLst/>
          </a:prstGeom>
          <a:solidFill>
            <a:srgbClr val="1F52D6"/>
          </a:solidFill>
          <a:ln/>
        </p:spPr>
        <p:txBody>
          <a:bodyPr/>
          <a:lstStyle/>
          <a:p>
            <a:endParaRPr lang="en-US"/>
          </a:p>
        </p:txBody>
      </p:sp>
      <p:sp>
        <p:nvSpPr>
          <p:cNvPr id="43" name="Text 41"/>
          <p:cNvSpPr/>
          <p:nvPr/>
        </p:nvSpPr>
        <p:spPr>
          <a:xfrm>
            <a:off x="8796528" y="4599432"/>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Classification fits the target</a:t>
            </a:r>
            <a:endParaRPr lang="en-US" sz="1300"/>
          </a:p>
        </p:txBody>
      </p:sp>
      <p:sp>
        <p:nvSpPr>
          <p:cNvPr id="44" name="Shape 42"/>
          <p:cNvSpPr/>
          <p:nvPr/>
        </p:nvSpPr>
        <p:spPr>
          <a:xfrm>
            <a:off x="8577072" y="5111496"/>
            <a:ext cx="100584" cy="100584"/>
          </a:xfrm>
          <a:prstGeom prst="ellipse">
            <a:avLst/>
          </a:prstGeom>
          <a:solidFill>
            <a:srgbClr val="1F52D6"/>
          </a:solidFill>
          <a:ln/>
        </p:spPr>
        <p:txBody>
          <a:bodyPr/>
          <a:lstStyle/>
          <a:p>
            <a:endParaRPr lang="en-US"/>
          </a:p>
        </p:txBody>
      </p:sp>
      <p:sp>
        <p:nvSpPr>
          <p:cNvPr id="45" name="Text 43"/>
          <p:cNvSpPr/>
          <p:nvPr/>
        </p:nvSpPr>
        <p:spPr>
          <a:xfrm>
            <a:off x="8796528" y="5001768"/>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A classifier catches at-risk buyers</a:t>
            </a:r>
            <a:endParaRPr lang="en-US" sz="1300"/>
          </a:p>
        </p:txBody>
      </p:sp>
      <p:sp>
        <p:nvSpPr>
          <p:cNvPr id="46" name="Shape 44"/>
          <p:cNvSpPr/>
          <p:nvPr/>
        </p:nvSpPr>
        <p:spPr>
          <a:xfrm>
            <a:off x="8577072" y="5513832"/>
            <a:ext cx="100584" cy="100584"/>
          </a:xfrm>
          <a:prstGeom prst="ellipse">
            <a:avLst/>
          </a:prstGeom>
          <a:solidFill>
            <a:srgbClr val="1F52D6"/>
          </a:solidFill>
          <a:ln/>
        </p:spPr>
        <p:txBody>
          <a:bodyPr/>
          <a:lstStyle/>
          <a:p>
            <a:endParaRPr lang="en-US"/>
          </a:p>
        </p:txBody>
      </p:sp>
      <p:sp>
        <p:nvSpPr>
          <p:cNvPr id="47" name="Text 45"/>
          <p:cNvSpPr/>
          <p:nvPr/>
        </p:nvSpPr>
        <p:spPr>
          <a:xfrm>
            <a:off x="8796528" y="5404104"/>
            <a:ext cx="2697480" cy="301752"/>
          </a:xfrm>
          <a:prstGeom prst="rect">
            <a:avLst/>
          </a:prstGeom>
          <a:noFill/>
          <a:ln/>
        </p:spPr>
        <p:txBody>
          <a:bodyPr wrap="square" lIns="0" tIns="0" rIns="0" bIns="0" rtlCol="0" anchor="ctr"/>
          <a:lstStyle/>
          <a:p>
            <a:pPr marL="0" indent="0" algn="l">
              <a:buNone/>
            </a:pPr>
            <a:r>
              <a:rPr lang="en-US" sz="1300">
                <a:solidFill>
                  <a:srgbClr val="16233B"/>
                </a:solidFill>
                <a:latin typeface="Calibri" pitchFamily="34" charset="0"/>
                <a:ea typeface="Calibri" pitchFamily="34" charset="-122"/>
                <a:cs typeface="Calibri" pitchFamily="34" charset="-120"/>
              </a:rPr>
              <a:t>Reframe as churn classification</a:t>
            </a:r>
            <a:endParaRPr lang="en-US" sz="1300"/>
          </a:p>
        </p:txBody>
      </p:sp>
      <p:sp>
        <p:nvSpPr>
          <p:cNvPr id="48" name="Text 46"/>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Predicting Customer Churn with Regression Models</a:t>
            </a:r>
            <a:endParaRPr lang="en-US" sz="900"/>
          </a:p>
        </p:txBody>
      </p:sp>
      <p:sp>
        <p:nvSpPr>
          <p:cNvPr id="49" name="Text 47"/>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19</a:t>
            </a:r>
            <a:endParaRPr lang="en-US"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Estimated Business Impact">
    <p:spTree>
      <p:nvGrpSpPr>
        <p:cNvPr id="1" name=""/>
        <p:cNvGrpSpPr/>
        <p:nvPr/>
      </p:nvGrpSpPr>
      <p:grpSpPr>
        <a:xfrm>
          <a:off x="0" y="0"/>
          <a:ext cx="0" cy="0"/>
          <a:chOff x="0" y="0"/>
          <a:chExt cx="0" cy="0"/>
        </a:xfrm>
      </p:grpSpPr>
      <p:sp>
        <p:nvSpPr>
          <p:cNvPr id="2" name="Eyebrow"/>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ESTIMATED BUSINESS IMPACT</a:t>
            </a:r>
            <a:endParaRPr lang="en-US" sz="1250"/>
          </a:p>
        </p:txBody>
      </p:sp>
      <p:sp>
        <p:nvSpPr>
          <p:cNvPr id="3" name="Title"/>
          <p:cNvSpPr/>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What better retention could be worth</a:t>
            </a:r>
            <a:endParaRPr lang="en-US" sz="3000"/>
          </a:p>
        </p:txBody>
      </p:sp>
      <p:sp>
        <p:nvSpPr>
          <p:cNvPr id="4" name="Card 1"/>
          <p:cNvSpPr/>
          <p:nvPr/>
        </p:nvSpPr>
        <p:spPr>
          <a:xfrm>
            <a:off x="548640" y="1737360"/>
            <a:ext cx="3514344" cy="15087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Card 1 accent"/>
          <p:cNvSpPr/>
          <p:nvPr/>
        </p:nvSpPr>
        <p:spPr>
          <a:xfrm>
            <a:off x="548640" y="1737360"/>
            <a:ext cx="3514344" cy="91440"/>
          </a:xfrm>
          <a:prstGeom prst="rect">
            <a:avLst/>
          </a:prstGeom>
          <a:solidFill>
            <a:srgbClr val="1F52D6"/>
          </a:solidFill>
          <a:ln/>
        </p:spPr>
        <p:txBody>
          <a:bodyPr/>
          <a:lstStyle/>
          <a:p>
            <a:endParaRPr lang="en-US"/>
          </a:p>
        </p:txBody>
      </p:sp>
      <p:sp>
        <p:nvSpPr>
          <p:cNvPr id="6" name="Card 1 value"/>
          <p:cNvSpPr/>
          <p:nvPr/>
        </p:nvSpPr>
        <p:spPr>
          <a:xfrm>
            <a:off x="822960" y="2011680"/>
            <a:ext cx="2965704" cy="777240"/>
          </a:xfrm>
          <a:prstGeom prst="rect">
            <a:avLst/>
          </a:prstGeom>
          <a:noFill/>
          <a:ln/>
        </p:spPr>
        <p:txBody>
          <a:bodyPr wrap="square" lIns="0" tIns="0" rIns="0" bIns="0" rtlCol="0" anchor="ctr"/>
          <a:lstStyle/>
          <a:p>
            <a:pPr marL="0" indent="0" algn="l">
              <a:buNone/>
            </a:pPr>
            <a:r>
              <a:rPr lang="en-US" sz="3800" b="1">
                <a:solidFill>
                  <a:srgbClr val="16233B"/>
                </a:solidFill>
                <a:latin typeface="Georgia" pitchFamily="34" charset="0"/>
                <a:ea typeface="Georgia" pitchFamily="34" charset="-122"/>
                <a:cs typeface="Georgia" pitchFamily="34" charset="-120"/>
              </a:rPr>
              <a:t>~5 pts</a:t>
            </a:r>
            <a:endParaRPr lang="en-US" sz="3800"/>
          </a:p>
        </p:txBody>
      </p:sp>
      <p:sp>
        <p:nvSpPr>
          <p:cNvPr id="7" name="Card 1 label"/>
          <p:cNvSpPr/>
          <p:nvPr/>
        </p:nvSpPr>
        <p:spPr>
          <a:xfrm>
            <a:off x="841248" y="2761488"/>
            <a:ext cx="2965704" cy="320040"/>
          </a:xfrm>
          <a:prstGeom prst="rect">
            <a:avLst/>
          </a:prstGeom>
          <a:noFill/>
          <a:ln/>
        </p:spPr>
        <p:txBody>
          <a:bodyPr wrap="square" lIns="0" tIns="0" rIns="0" bIns="0" rtlCol="0" anchor="ctr"/>
          <a:lstStyle/>
          <a:p>
            <a:pPr marL="0" indent="0" algn="l">
              <a:buNone/>
            </a:pPr>
            <a:r>
              <a:rPr lang="en-US" sz="1350">
                <a:solidFill>
                  <a:srgbClr val="5C6B85"/>
                </a:solidFill>
                <a:latin typeface="Calibri" pitchFamily="34" charset="0"/>
                <a:ea typeface="Calibri" pitchFamily="34" charset="-122"/>
                <a:cs typeface="Calibri" pitchFamily="34" charset="-120"/>
              </a:rPr>
              <a:t>targeted churn reduction</a:t>
            </a:r>
            <a:endParaRPr lang="en-US" sz="1350"/>
          </a:p>
        </p:txBody>
      </p:sp>
      <p:sp>
        <p:nvSpPr>
          <p:cNvPr id="8" name="Card 2"/>
          <p:cNvSpPr/>
          <p:nvPr/>
        </p:nvSpPr>
        <p:spPr>
          <a:xfrm>
            <a:off x="4337304" y="1737360"/>
            <a:ext cx="3514344" cy="15087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9" name="Card 2 accent"/>
          <p:cNvSpPr/>
          <p:nvPr/>
        </p:nvSpPr>
        <p:spPr>
          <a:xfrm>
            <a:off x="4337304" y="1737360"/>
            <a:ext cx="3514344" cy="91440"/>
          </a:xfrm>
          <a:prstGeom prst="rect">
            <a:avLst/>
          </a:prstGeom>
          <a:solidFill>
            <a:srgbClr val="F5A623"/>
          </a:solidFill>
          <a:ln/>
        </p:spPr>
        <p:txBody>
          <a:bodyPr/>
          <a:lstStyle/>
          <a:p>
            <a:endParaRPr lang="en-US"/>
          </a:p>
        </p:txBody>
      </p:sp>
      <p:sp>
        <p:nvSpPr>
          <p:cNvPr id="10" name="Card 2 value"/>
          <p:cNvSpPr/>
          <p:nvPr/>
        </p:nvSpPr>
        <p:spPr>
          <a:xfrm>
            <a:off x="4611624" y="2011680"/>
            <a:ext cx="2965704" cy="777240"/>
          </a:xfrm>
          <a:prstGeom prst="rect">
            <a:avLst/>
          </a:prstGeom>
          <a:noFill/>
          <a:ln/>
        </p:spPr>
        <p:txBody>
          <a:bodyPr wrap="square" lIns="0" tIns="0" rIns="0" bIns="0" rtlCol="0" anchor="ctr"/>
          <a:lstStyle/>
          <a:p>
            <a:pPr marL="0" indent="0" algn="l">
              <a:buNone/>
            </a:pPr>
            <a:r>
              <a:rPr lang="en-US" sz="3800" b="1">
                <a:solidFill>
                  <a:srgbClr val="16233B"/>
                </a:solidFill>
                <a:latin typeface="Georgia" pitchFamily="34" charset="0"/>
                <a:ea typeface="Georgia" pitchFamily="34" charset="-122"/>
                <a:cs typeface="Georgia" pitchFamily="34" charset="-120"/>
              </a:rPr>
              <a:t>~100</a:t>
            </a:r>
            <a:endParaRPr lang="en-US" sz="3800"/>
          </a:p>
        </p:txBody>
      </p:sp>
      <p:sp>
        <p:nvSpPr>
          <p:cNvPr id="11" name="Card 2 label"/>
          <p:cNvSpPr/>
          <p:nvPr/>
        </p:nvSpPr>
        <p:spPr>
          <a:xfrm>
            <a:off x="4629912" y="2761488"/>
            <a:ext cx="2965704" cy="320040"/>
          </a:xfrm>
          <a:prstGeom prst="rect">
            <a:avLst/>
          </a:prstGeom>
          <a:noFill/>
          <a:ln/>
        </p:spPr>
        <p:txBody>
          <a:bodyPr wrap="square" lIns="0" tIns="0" rIns="0" bIns="0" rtlCol="0" anchor="ctr"/>
          <a:lstStyle/>
          <a:p>
            <a:pPr marL="0" indent="0" algn="l">
              <a:buNone/>
            </a:pPr>
            <a:r>
              <a:rPr lang="en-US" sz="1350">
                <a:solidFill>
                  <a:srgbClr val="5C6B85"/>
                </a:solidFill>
                <a:latin typeface="Calibri" pitchFamily="34" charset="0"/>
                <a:ea typeface="Calibri" pitchFamily="34" charset="-122"/>
                <a:cs typeface="Calibri" pitchFamily="34" charset="-120"/>
              </a:rPr>
              <a:t>customers retained per year</a:t>
            </a:r>
            <a:endParaRPr lang="en-US" sz="1350"/>
          </a:p>
        </p:txBody>
      </p:sp>
      <p:sp>
        <p:nvSpPr>
          <p:cNvPr id="12" name="Card 3"/>
          <p:cNvSpPr/>
          <p:nvPr/>
        </p:nvSpPr>
        <p:spPr>
          <a:xfrm>
            <a:off x="8125968" y="1737360"/>
            <a:ext cx="3514344" cy="15087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3" name="Card 3 accent"/>
          <p:cNvSpPr/>
          <p:nvPr/>
        </p:nvSpPr>
        <p:spPr>
          <a:xfrm>
            <a:off x="8125968" y="1737360"/>
            <a:ext cx="3514344" cy="91440"/>
          </a:xfrm>
          <a:prstGeom prst="rect">
            <a:avLst/>
          </a:prstGeom>
          <a:solidFill>
            <a:srgbClr val="1F52D6"/>
          </a:solidFill>
          <a:ln/>
        </p:spPr>
        <p:txBody>
          <a:bodyPr/>
          <a:lstStyle/>
          <a:p>
            <a:endParaRPr lang="en-US"/>
          </a:p>
        </p:txBody>
      </p:sp>
      <p:sp>
        <p:nvSpPr>
          <p:cNvPr id="14" name="Card 3 value"/>
          <p:cNvSpPr/>
          <p:nvPr/>
        </p:nvSpPr>
        <p:spPr>
          <a:xfrm>
            <a:off x="8400288" y="2011680"/>
            <a:ext cx="2965704" cy="777240"/>
          </a:xfrm>
          <a:prstGeom prst="rect">
            <a:avLst/>
          </a:prstGeom>
          <a:noFill/>
          <a:ln/>
        </p:spPr>
        <p:txBody>
          <a:bodyPr wrap="square" lIns="0" tIns="0" rIns="0" bIns="0" rtlCol="0" anchor="ctr"/>
          <a:lstStyle/>
          <a:p>
            <a:pPr marL="0" indent="0" algn="l">
              <a:buNone/>
            </a:pPr>
            <a:r>
              <a:rPr lang="en-US" sz="3800" b="1">
                <a:solidFill>
                  <a:srgbClr val="16233B"/>
                </a:solidFill>
                <a:latin typeface="Georgia" pitchFamily="34" charset="0"/>
                <a:ea typeface="Georgia" pitchFamily="34" charset="-122"/>
                <a:cs typeface="Georgia" pitchFamily="34" charset="-120"/>
              </a:rPr>
              <a:t>3×</a:t>
            </a:r>
            <a:endParaRPr lang="en-US" sz="3800"/>
          </a:p>
        </p:txBody>
      </p:sp>
      <p:sp>
        <p:nvSpPr>
          <p:cNvPr id="15" name="Card 3 label"/>
          <p:cNvSpPr/>
          <p:nvPr/>
        </p:nvSpPr>
        <p:spPr>
          <a:xfrm>
            <a:off x="8418576" y="2761488"/>
            <a:ext cx="2965704" cy="320040"/>
          </a:xfrm>
          <a:prstGeom prst="rect">
            <a:avLst/>
          </a:prstGeom>
          <a:noFill/>
          <a:ln/>
        </p:spPr>
        <p:txBody>
          <a:bodyPr wrap="square" lIns="0" tIns="0" rIns="0" bIns="0" rtlCol="0" anchor="ctr"/>
          <a:lstStyle/>
          <a:p>
            <a:pPr marL="0" indent="0" algn="l">
              <a:buNone/>
            </a:pPr>
            <a:r>
              <a:rPr lang="en-US" sz="1350">
                <a:solidFill>
                  <a:srgbClr val="5C6B85"/>
                </a:solidFill>
                <a:latin typeface="Calibri" pitchFamily="34" charset="0"/>
                <a:ea typeface="Calibri" pitchFamily="34" charset="-122"/>
                <a:cs typeface="Calibri" pitchFamily="34" charset="-120"/>
              </a:rPr>
              <a:t>more churners caught early</a:t>
            </a:r>
            <a:endParaRPr lang="en-US" sz="1350"/>
          </a:p>
        </p:txBody>
      </p:sp>
      <p:sp>
        <p:nvSpPr>
          <p:cNvPr id="16" name="Impact band"/>
          <p:cNvSpPr/>
          <p:nvPr/>
        </p:nvSpPr>
        <p:spPr>
          <a:xfrm>
            <a:off x="548640" y="3520440"/>
            <a:ext cx="11091672" cy="2080000"/>
          </a:xfrm>
          <a:prstGeom prst="rect">
            <a:avLst/>
          </a:prstGeom>
          <a:solidFill>
            <a:srgbClr val="E7EE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7" name="Impact band accent"/>
          <p:cNvSpPr/>
          <p:nvPr/>
        </p:nvSpPr>
        <p:spPr>
          <a:xfrm>
            <a:off x="548640" y="3520440"/>
            <a:ext cx="11091672" cy="91440"/>
          </a:xfrm>
          <a:prstGeom prst="rect">
            <a:avLst/>
          </a:prstGeom>
          <a:solidFill>
            <a:srgbClr val="1F52D6"/>
          </a:solidFill>
          <a:ln/>
        </p:spPr>
        <p:txBody>
          <a:bodyPr/>
          <a:lstStyle/>
          <a:p>
            <a:endParaRPr lang="en-US"/>
          </a:p>
        </p:txBody>
      </p:sp>
      <p:sp>
        <p:nvSpPr>
          <p:cNvPr id="18" name="Impact heading"/>
          <p:cNvSpPr/>
          <p:nvPr/>
        </p:nvSpPr>
        <p:spPr>
          <a:xfrm>
            <a:off x="868680" y="3776472"/>
            <a:ext cx="10058400" cy="274320"/>
          </a:xfrm>
          <a:prstGeom prst="rect">
            <a:avLst/>
          </a:prstGeom>
          <a:noFill/>
          <a:ln/>
        </p:spPr>
        <p:txBody>
          <a:bodyPr wrap="square" lIns="0" tIns="0" rIns="0" bIns="0" rtlCol="0" anchor="ctr"/>
          <a:lstStyle/>
          <a:p>
            <a:pPr marL="0" indent="0">
              <a:buNone/>
            </a:pPr>
            <a:r>
              <a:rPr lang="en-US" sz="1200" b="1" kern="0" spc="200">
                <a:solidFill>
                  <a:srgbClr val="1F52D6"/>
                </a:solidFill>
                <a:latin typeface="Calibri" pitchFamily="34" charset="0"/>
                <a:ea typeface="Calibri" pitchFamily="34" charset="-122"/>
                <a:cs typeface="Calibri" pitchFamily="34" charset="-120"/>
              </a:rPr>
              <a:t>HOW THE MODEL PAYS OFF</a:t>
            </a:r>
            <a:endParaRPr lang="en-US" sz="1200"/>
          </a:p>
        </p:txBody>
      </p:sp>
      <p:sp>
        <p:nvSpPr>
          <p:cNvPr id="19" name="Impact bullets"/>
          <p:cNvSpPr/>
          <p:nvPr/>
        </p:nvSpPr>
        <p:spPr>
          <a:xfrm>
            <a:off x="868680" y="4178808"/>
            <a:ext cx="10424160" cy="1250000"/>
          </a:xfrm>
          <a:prstGeom prst="rect">
            <a:avLst/>
          </a:prstGeom>
          <a:noFill/>
          <a:ln/>
        </p:spPr>
        <p:txBody>
          <a:bodyPr wrap="square" lIns="0" tIns="0" rIns="0" bIns="0" rtlCol="0" anchor="ctr"/>
          <a:lstStyle/>
          <a:p>
            <a:pPr marL="203200" indent="-203200" algn="l">
              <a:lnSpc>
                <a:spcPct val="110000"/>
              </a:lnSpc>
              <a:spcAft>
                <a:spcPts val="900"/>
              </a:spcAft>
              <a:buSzPct val="100000"/>
              <a:buChar char="•"/>
            </a:pPr>
            <a:r>
              <a:rPr lang="en-US" sz="1400">
                <a:solidFill>
                  <a:srgbClr val="16233B"/>
                </a:solidFill>
                <a:latin typeface="Calibri" pitchFamily="34" charset="0"/>
                <a:ea typeface="Calibri" pitchFamily="34" charset="-122"/>
                <a:cs typeface="Calibri" pitchFamily="34" charset="-120"/>
              </a:rPr>
              <a:t>Recall-first targeting flags nearly three times as many at-risk customers, so far fewer slip away unnoticed.</a:t>
            </a:r>
            <a:endParaRPr lang="en-US" sz="1400"/>
          </a:p>
          <a:p>
            <a:pPr marL="203200" indent="-203200" algn="l">
              <a:lnSpc>
                <a:spcPct val="110000"/>
              </a:lnSpc>
              <a:spcAft>
                <a:spcPts val="900"/>
              </a:spcAft>
              <a:buSzPct val="100000"/>
              <a:buChar char="•"/>
            </a:pPr>
            <a:r>
              <a:rPr lang="en-US" sz="1400">
                <a:solidFill>
                  <a:srgbClr val="16233B"/>
                </a:solidFill>
                <a:latin typeface="Calibri" pitchFamily="34" charset="0"/>
                <a:ea typeface="Calibri" pitchFamily="34" charset="-122"/>
                <a:cs typeface="Calibri" pitchFamily="34" charset="-120"/>
              </a:rPr>
              <a:t>Trimming annual churn by about five percentage points across 2,130 customers keeps roughly 100 relationships alive.</a:t>
            </a:r>
            <a:endParaRPr lang="en-US" sz="1400"/>
          </a:p>
          <a:p>
            <a:pPr marL="203200" indent="-203200" algn="l">
              <a:lnSpc>
                <a:spcPct val="110000"/>
              </a:lnSpc>
              <a:spcAft>
                <a:spcPts val="0"/>
              </a:spcAft>
              <a:buSzPct val="100000"/>
              <a:buChar char="•"/>
            </a:pPr>
            <a:r>
              <a:rPr lang="en-US" sz="1400">
                <a:solidFill>
                  <a:srgbClr val="16233B"/>
                </a:solidFill>
                <a:latin typeface="Calibri" pitchFamily="34" charset="0"/>
                <a:ea typeface="Calibri" pitchFamily="34" charset="-122"/>
                <a:cs typeface="Calibri" pitchFamily="34" charset="-120"/>
              </a:rPr>
              <a:t>Every customer kept preserves future spend and avoids the higher cost of acquiring a replacement.</a:t>
            </a:r>
            <a:endParaRPr lang="en-US" sz="1400"/>
          </a:p>
        </p:txBody>
      </p:sp>
      <p:sp>
        <p:nvSpPr>
          <p:cNvPr id="20" name="Disclaimer"/>
          <p:cNvSpPr/>
          <p:nvPr/>
        </p:nvSpPr>
        <p:spPr>
          <a:xfrm>
            <a:off x="548640" y="5710000"/>
            <a:ext cx="11091672" cy="280000"/>
          </a:xfrm>
          <a:prstGeom prst="rect">
            <a:avLst/>
          </a:prstGeom>
          <a:noFill/>
          <a:ln/>
        </p:spPr>
        <p:txBody>
          <a:bodyPr wrap="square" lIns="0" tIns="0" rIns="0" bIns="0" rtlCol="0" anchor="ctr"/>
          <a:lstStyle/>
          <a:p>
            <a:pPr marL="0" indent="0" algn="l">
              <a:buNone/>
            </a:pPr>
            <a:r>
              <a:rPr lang="en-US" sz="900" i="1">
                <a:solidFill>
                  <a:srgbClr val="5C6B85"/>
                </a:solidFill>
                <a:latin typeface="Calibri" pitchFamily="34" charset="0"/>
                <a:ea typeface="Calibri" pitchFamily="34" charset="-122"/>
                <a:cs typeface="Calibri" pitchFamily="34" charset="-120"/>
              </a:rPr>
              <a:t>Illustrative estimate — hypothetical figures based on the modeled customer base, not booked financial results.</a:t>
            </a:r>
            <a:endParaRPr lang="en-US" sz="900"/>
          </a:p>
        </p:txBody>
      </p:sp>
      <p:sp>
        <p:nvSpPr>
          <p:cNvPr id="21" name="Footer"/>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22" name="Page number"/>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20</a:t>
            </a:r>
            <a:endParaRPr lang="en-US" sz="9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RECOMMENDATIONS</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What the retailer should do</a:t>
            </a:r>
            <a:endParaRPr lang="en-US" sz="3000" dirty="0"/>
          </a:p>
        </p:txBody>
      </p:sp>
      <p:pic>
        <p:nvPicPr>
          <p:cNvPr id="4" name="Image 0" descr="Customer receiving a personalized retention offer while shopping"/>
          <p:cNvPicPr>
            <a:picLocks noChangeAspect="1"/>
          </p:cNvPicPr>
          <p:nvPr/>
        </p:nvPicPr>
        <p:blipFill>
          <a:blip r:embed="rId3"/>
          <a:srcRect l="20370" r="20370"/>
          <a:stretch/>
        </p:blipFill>
        <p:spPr>
          <a:xfrm>
            <a:off x="7635240" y="1600200"/>
            <a:ext cx="4023360" cy="4526280"/>
          </a:xfrm>
          <a:prstGeom prst="rect">
            <a:avLst/>
          </a:prstGeom>
        </p:spPr>
      </p:pic>
      <p:sp>
        <p:nvSpPr>
          <p:cNvPr id="5" name="Shape 2"/>
          <p:cNvSpPr/>
          <p:nvPr/>
        </p:nvSpPr>
        <p:spPr>
          <a:xfrm>
            <a:off x="7635240" y="1600200"/>
            <a:ext cx="4023360" cy="4526280"/>
          </a:xfrm>
          <a:prstGeom prst="rect">
            <a:avLst/>
          </a:prstGeom>
          <a:ln w="12700">
            <a:solidFill>
              <a:srgbClr val="D4DCEA"/>
            </a:solidFill>
            <a:prstDash val="solid"/>
          </a:ln>
        </p:spPr>
        <p:txBody>
          <a:bodyPr/>
          <a:lstStyle/>
          <a:p>
            <a:endParaRPr lang="en-US"/>
          </a:p>
        </p:txBody>
      </p:sp>
      <p:sp>
        <p:nvSpPr>
          <p:cNvPr id="6" name="Shape 3"/>
          <p:cNvSpPr/>
          <p:nvPr/>
        </p:nvSpPr>
        <p:spPr>
          <a:xfrm>
            <a:off x="548640" y="1783080"/>
            <a:ext cx="6766560" cy="749808"/>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7" name="Shape 4"/>
          <p:cNvSpPr/>
          <p:nvPr/>
        </p:nvSpPr>
        <p:spPr>
          <a:xfrm>
            <a:off x="749808" y="1975104"/>
            <a:ext cx="365760" cy="365760"/>
          </a:xfrm>
          <a:prstGeom prst="ellipse">
            <a:avLst/>
          </a:prstGeom>
          <a:solidFill>
            <a:srgbClr val="1F52D6"/>
          </a:solidFill>
          <a:ln/>
        </p:spPr>
        <p:txBody>
          <a:bodyPr/>
          <a:lstStyle/>
          <a:p>
            <a:endParaRPr lang="en-US"/>
          </a:p>
        </p:txBody>
      </p:sp>
      <p:sp>
        <p:nvSpPr>
          <p:cNvPr id="8" name="Text 5"/>
          <p:cNvSpPr/>
          <p:nvPr/>
        </p:nvSpPr>
        <p:spPr>
          <a:xfrm>
            <a:off x="749808" y="197510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6"/>
          <p:cNvSpPr/>
          <p:nvPr/>
        </p:nvSpPr>
        <p:spPr>
          <a:xfrm>
            <a:off x="1325880" y="1783080"/>
            <a:ext cx="5852160" cy="749808"/>
          </a:xfrm>
          <a:prstGeom prst="rect">
            <a:avLst/>
          </a:prstGeom>
          <a:noFill/>
          <a:ln/>
        </p:spPr>
        <p:txBody>
          <a:bodyPr wrap="square" lIns="0" tIns="0" rIns="0" bIns="0" rtlCol="0" anchor="ctr"/>
          <a:lstStyle/>
          <a:p>
            <a:pPr marL="0" indent="0" algn="l">
              <a:lnSpc>
                <a:spcPct val="100000"/>
              </a:lnSpc>
              <a:buNone/>
            </a:pPr>
            <a:r>
              <a:rPr lang="en-US" sz="1450">
                <a:solidFill>
                  <a:srgbClr val="16233B"/>
                </a:solidFill>
                <a:latin typeface="Calibri" pitchFamily="34" charset="0"/>
                <a:ea typeface="Calibri" pitchFamily="34" charset="-122"/>
                <a:cs typeface="Calibri" pitchFamily="34" charset="-120"/>
              </a:rPr>
              <a:t>Trigger win-back offers to Dormant and at-risk </a:t>
            </a:r>
            <a:r>
              <a:rPr lang="en-US" sz="1450" dirty="0">
                <a:solidFill>
                  <a:srgbClr val="16233B"/>
                </a:solidFill>
                <a:latin typeface="Calibri" pitchFamily="34" charset="0"/>
                <a:ea typeface="Calibri" pitchFamily="34" charset="-122"/>
                <a:cs typeface="Calibri" pitchFamily="34" charset="-120"/>
              </a:rPr>
              <a:t>customers</a:t>
            </a:r>
            <a:r>
              <a:rPr lang="en-US" sz="1450">
                <a:solidFill>
                  <a:srgbClr val="16233B"/>
                </a:solidFill>
                <a:latin typeface="Calibri" pitchFamily="34" charset="0"/>
                <a:ea typeface="Calibri" pitchFamily="34" charset="-122"/>
                <a:cs typeface="Calibri" pitchFamily="34" charset="-120"/>
              </a:rPr>
              <a:t> within 30 days of a churn flag.</a:t>
            </a:r>
            <a:endParaRPr lang="en-US" sz="1450" dirty="0"/>
          </a:p>
        </p:txBody>
      </p:sp>
      <p:sp>
        <p:nvSpPr>
          <p:cNvPr id="10" name="Shape 7"/>
          <p:cNvSpPr/>
          <p:nvPr/>
        </p:nvSpPr>
        <p:spPr>
          <a:xfrm>
            <a:off x="548640" y="2660904"/>
            <a:ext cx="6766560" cy="749808"/>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1" name="Shape 8"/>
          <p:cNvSpPr/>
          <p:nvPr/>
        </p:nvSpPr>
        <p:spPr>
          <a:xfrm>
            <a:off x="749808" y="2852928"/>
            <a:ext cx="365760" cy="365760"/>
          </a:xfrm>
          <a:prstGeom prst="ellipse">
            <a:avLst/>
          </a:prstGeom>
          <a:solidFill>
            <a:srgbClr val="1F52D6"/>
          </a:solidFill>
          <a:ln/>
        </p:spPr>
        <p:txBody>
          <a:bodyPr/>
          <a:lstStyle/>
          <a:p>
            <a:endParaRPr lang="en-US"/>
          </a:p>
        </p:txBody>
      </p:sp>
      <p:sp>
        <p:nvSpPr>
          <p:cNvPr id="12" name="Text 9"/>
          <p:cNvSpPr/>
          <p:nvPr/>
        </p:nvSpPr>
        <p:spPr>
          <a:xfrm>
            <a:off x="749808" y="285292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0"/>
          <p:cNvSpPr/>
          <p:nvPr/>
        </p:nvSpPr>
        <p:spPr>
          <a:xfrm>
            <a:off x="1325880" y="2660904"/>
            <a:ext cx="5852160" cy="749808"/>
          </a:xfrm>
          <a:prstGeom prst="rect">
            <a:avLst/>
          </a:prstGeom>
          <a:noFill/>
          <a:ln/>
        </p:spPr>
        <p:txBody>
          <a:bodyPr wrap="square" lIns="0" tIns="0" rIns="0" bIns="0" rtlCol="0" anchor="ctr"/>
          <a:lstStyle/>
          <a:p>
            <a:pPr marL="0" indent="0" algn="l">
              <a:lnSpc>
                <a:spcPct val="100000"/>
              </a:lnSpc>
              <a:buNone/>
            </a:pPr>
            <a:r>
              <a:rPr lang="en-US" sz="1450" dirty="0">
                <a:solidFill>
                  <a:srgbClr val="16233B"/>
                </a:solidFill>
                <a:latin typeface="Calibri" pitchFamily="34" charset="0"/>
                <a:ea typeface="Calibri" pitchFamily="34" charset="-122"/>
                <a:cs typeface="Calibri" pitchFamily="34" charset="-120"/>
              </a:rPr>
              <a:t>Personalize promotions </a:t>
            </a:r>
            <a:r>
              <a:rPr lang="en-US" sz="1450">
                <a:solidFill>
                  <a:srgbClr val="16233B"/>
                </a:solidFill>
                <a:latin typeface="Calibri" pitchFamily="34" charset="0"/>
                <a:ea typeface="Calibri" pitchFamily="34" charset="-122"/>
                <a:cs typeface="Calibri" pitchFamily="34" charset="-120"/>
              </a:rPr>
              <a:t>by segment, using recency, frequency, and spend to tailor each offer.</a:t>
            </a:r>
            <a:endParaRPr lang="en-US" sz="1450" dirty="0"/>
          </a:p>
        </p:txBody>
      </p:sp>
      <p:sp>
        <p:nvSpPr>
          <p:cNvPr id="14" name="Shape 11"/>
          <p:cNvSpPr/>
          <p:nvPr/>
        </p:nvSpPr>
        <p:spPr>
          <a:xfrm>
            <a:off x="548640" y="3538728"/>
            <a:ext cx="6766560" cy="749808"/>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5" name="Shape 12"/>
          <p:cNvSpPr/>
          <p:nvPr/>
        </p:nvSpPr>
        <p:spPr>
          <a:xfrm>
            <a:off x="749808" y="3730752"/>
            <a:ext cx="365760" cy="365760"/>
          </a:xfrm>
          <a:prstGeom prst="ellipse">
            <a:avLst/>
          </a:prstGeom>
          <a:solidFill>
            <a:srgbClr val="1F52D6"/>
          </a:solidFill>
          <a:ln/>
        </p:spPr>
        <p:txBody>
          <a:bodyPr/>
          <a:lstStyle/>
          <a:p>
            <a:endParaRPr lang="en-US"/>
          </a:p>
        </p:txBody>
      </p:sp>
      <p:sp>
        <p:nvSpPr>
          <p:cNvPr id="16" name="Text 13"/>
          <p:cNvSpPr/>
          <p:nvPr/>
        </p:nvSpPr>
        <p:spPr>
          <a:xfrm>
            <a:off x="749808" y="373075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4"/>
          <p:cNvSpPr/>
          <p:nvPr/>
        </p:nvSpPr>
        <p:spPr>
          <a:xfrm>
            <a:off x="1325880" y="3538728"/>
            <a:ext cx="5852160" cy="749808"/>
          </a:xfrm>
          <a:prstGeom prst="rect">
            <a:avLst/>
          </a:prstGeom>
          <a:noFill/>
          <a:ln/>
        </p:spPr>
        <p:txBody>
          <a:bodyPr wrap="square" lIns="0" tIns="0" rIns="0" bIns="0" rtlCol="0" anchor="ctr"/>
          <a:lstStyle/>
          <a:p>
            <a:pPr marL="0" indent="0" algn="l">
              <a:lnSpc>
                <a:spcPct val="100000"/>
              </a:lnSpc>
              <a:buNone/>
            </a:pPr>
            <a:r>
              <a:rPr lang="en-US" sz="1450">
                <a:solidFill>
                  <a:srgbClr val="16233B"/>
                </a:solidFill>
                <a:latin typeface="Calibri" pitchFamily="34" charset="0"/>
                <a:ea typeface="Calibri" pitchFamily="34" charset="-122"/>
                <a:cs typeface="Calibri" pitchFamily="34" charset="-120"/>
              </a:rPr>
              <a:t>Expand loyalty and rewards for High-Value Actives to protect the revenue base.</a:t>
            </a:r>
            <a:endParaRPr lang="en-US" sz="1450" dirty="0"/>
          </a:p>
        </p:txBody>
      </p:sp>
      <p:sp>
        <p:nvSpPr>
          <p:cNvPr id="18" name="Shape 15"/>
          <p:cNvSpPr/>
          <p:nvPr/>
        </p:nvSpPr>
        <p:spPr>
          <a:xfrm>
            <a:off x="548640" y="4416552"/>
            <a:ext cx="6766560" cy="749808"/>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9" name="Shape 16"/>
          <p:cNvSpPr/>
          <p:nvPr/>
        </p:nvSpPr>
        <p:spPr>
          <a:xfrm>
            <a:off x="749808" y="4608576"/>
            <a:ext cx="365760" cy="365760"/>
          </a:xfrm>
          <a:prstGeom prst="ellipse">
            <a:avLst/>
          </a:prstGeom>
          <a:solidFill>
            <a:srgbClr val="1F52D6"/>
          </a:solidFill>
          <a:ln/>
        </p:spPr>
        <p:txBody>
          <a:bodyPr/>
          <a:lstStyle/>
          <a:p>
            <a:endParaRPr lang="en-US"/>
          </a:p>
        </p:txBody>
      </p:sp>
      <p:sp>
        <p:nvSpPr>
          <p:cNvPr id="20" name="Text 17"/>
          <p:cNvSpPr/>
          <p:nvPr/>
        </p:nvSpPr>
        <p:spPr>
          <a:xfrm>
            <a:off x="749808" y="460857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8"/>
          <p:cNvSpPr/>
          <p:nvPr/>
        </p:nvSpPr>
        <p:spPr>
          <a:xfrm>
            <a:off x="1325880" y="4416552"/>
            <a:ext cx="5852160" cy="749808"/>
          </a:xfrm>
          <a:prstGeom prst="rect">
            <a:avLst/>
          </a:prstGeom>
          <a:noFill/>
          <a:ln/>
        </p:spPr>
        <p:txBody>
          <a:bodyPr wrap="square" lIns="0" tIns="0" rIns="0" bIns="0" rtlCol="0" anchor="ctr"/>
          <a:lstStyle/>
          <a:p>
            <a:pPr marL="0" indent="0" algn="l">
              <a:lnSpc>
                <a:spcPct val="100000"/>
              </a:lnSpc>
              <a:buNone/>
            </a:pPr>
            <a:r>
              <a:rPr lang="en-US" sz="1450">
                <a:solidFill>
                  <a:srgbClr val="16233B"/>
                </a:solidFill>
                <a:latin typeface="Calibri" pitchFamily="34" charset="0"/>
                <a:ea typeface="Calibri" pitchFamily="34" charset="-122"/>
                <a:cs typeface="Calibri" pitchFamily="34" charset="-120"/>
              </a:rPr>
              <a:t>Score churn predictions weekly and route flagged customers into retention automatically.</a:t>
            </a:r>
            <a:endParaRPr lang="en-US" sz="1450" dirty="0"/>
          </a:p>
        </p:txBody>
      </p:sp>
      <p:sp>
        <p:nvSpPr>
          <p:cNvPr id="22" name="Shape 19"/>
          <p:cNvSpPr/>
          <p:nvPr/>
        </p:nvSpPr>
        <p:spPr>
          <a:xfrm>
            <a:off x="548640" y="5294376"/>
            <a:ext cx="6766560" cy="749808"/>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3" name="Shape 20"/>
          <p:cNvSpPr/>
          <p:nvPr/>
        </p:nvSpPr>
        <p:spPr>
          <a:xfrm>
            <a:off x="749808" y="5486400"/>
            <a:ext cx="365760" cy="365760"/>
          </a:xfrm>
          <a:prstGeom prst="ellipse">
            <a:avLst/>
          </a:prstGeom>
          <a:solidFill>
            <a:srgbClr val="1F52D6"/>
          </a:solidFill>
          <a:ln/>
        </p:spPr>
        <p:txBody>
          <a:bodyPr/>
          <a:lstStyle/>
          <a:p>
            <a:endParaRPr lang="en-US"/>
          </a:p>
        </p:txBody>
      </p:sp>
      <p:sp>
        <p:nvSpPr>
          <p:cNvPr id="24" name="Text 21"/>
          <p:cNvSpPr/>
          <p:nvPr/>
        </p:nvSpPr>
        <p:spPr>
          <a:xfrm>
            <a:off x="749808" y="54864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2"/>
          <p:cNvSpPr/>
          <p:nvPr/>
        </p:nvSpPr>
        <p:spPr>
          <a:xfrm>
            <a:off x="1325880" y="5294376"/>
            <a:ext cx="5852160" cy="749808"/>
          </a:xfrm>
          <a:prstGeom prst="rect">
            <a:avLst/>
          </a:prstGeom>
          <a:noFill/>
          <a:ln/>
        </p:spPr>
        <p:txBody>
          <a:bodyPr wrap="square" lIns="0" tIns="0" rIns="0" bIns="0" rtlCol="0" anchor="ctr"/>
          <a:lstStyle/>
          <a:p>
            <a:pPr marL="0" indent="0" algn="l">
              <a:lnSpc>
                <a:spcPct val="100000"/>
              </a:lnSpc>
              <a:buNone/>
            </a:pPr>
            <a:r>
              <a:rPr lang="en-US" sz="1450" dirty="0">
                <a:solidFill>
                  <a:srgbClr val="16233B"/>
                </a:solidFill>
                <a:latin typeface="Calibri" pitchFamily="34" charset="0"/>
                <a:ea typeface="Calibri" pitchFamily="34" charset="-122"/>
                <a:cs typeface="Calibri" pitchFamily="34" charset="-120"/>
              </a:rPr>
              <a:t>Retrain </a:t>
            </a:r>
            <a:r>
              <a:rPr lang="en-US" sz="1450">
                <a:solidFill>
                  <a:srgbClr val="16233B"/>
                </a:solidFill>
                <a:latin typeface="Calibri" pitchFamily="34" charset="0"/>
                <a:ea typeface="Calibri" pitchFamily="34" charset="-122"/>
                <a:cs typeface="Calibri" pitchFamily="34" charset="-120"/>
              </a:rPr>
              <a:t>the model quarterly on fresh </a:t>
            </a:r>
            <a:r>
              <a:rPr lang="en-US" sz="1450" dirty="0">
                <a:solidFill>
                  <a:srgbClr val="16233B"/>
                </a:solidFill>
                <a:latin typeface="Calibri" pitchFamily="34" charset="0"/>
                <a:ea typeface="Calibri" pitchFamily="34" charset="-122"/>
                <a:cs typeface="Calibri" pitchFamily="34" charset="-120"/>
              </a:rPr>
              <a:t>data </a:t>
            </a:r>
            <a:r>
              <a:rPr lang="en-US" sz="1450">
                <a:solidFill>
                  <a:srgbClr val="16233B"/>
                </a:solidFill>
                <a:latin typeface="Calibri" pitchFamily="34" charset="0"/>
                <a:ea typeface="Calibri" pitchFamily="34" charset="-122"/>
                <a:cs typeface="Calibri" pitchFamily="34" charset="-120"/>
              </a:rPr>
              <a:t>to keep recall high as behavior shifts.</a:t>
            </a:r>
            <a:endParaRPr lang="en-US" sz="1450" dirty="0"/>
          </a:p>
        </p:txBody>
      </p:sp>
      <p:sp>
        <p:nvSpPr>
          <p:cNvPr id="26" name="Text 23"/>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27" name="Text 24"/>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21</a:t>
            </a:r>
            <a:endParaRPr lang="en-US" sz="900" dirty="0"/>
          </a:p>
        </p:txBody>
      </p:sp>
      <p:sp>
        <p:nvSpPr>
          <p:cNvPr id="28" name="Recall Framing Banner"/>
          <p:cNvSpPr/>
          <p:nvPr/>
        </p:nvSpPr>
        <p:spPr>
          <a:xfrm>
            <a:off x="548640" y="1420000"/>
            <a:ext cx="6766560" cy="300000"/>
          </a:xfrm>
          <a:prstGeom prst="rect">
            <a:avLst/>
          </a:prstGeom>
          <a:solidFill>
            <a:srgbClr val="E7EEFB"/>
          </a:solidFill>
          <a:ln/>
        </p:spPr>
        <p:txBody>
          <a:bodyPr/>
          <a:lstStyle/>
          <a:p>
            <a:endParaRPr lang="en-US"/>
          </a:p>
        </p:txBody>
      </p:sp>
      <p:sp>
        <p:nvSpPr>
          <p:cNvPr id="29" name="Recall Framing Accent"/>
          <p:cNvSpPr/>
          <p:nvPr/>
        </p:nvSpPr>
        <p:spPr>
          <a:xfrm>
            <a:off x="548640" y="1420000"/>
            <a:ext cx="68580" cy="300000"/>
          </a:xfrm>
          <a:prstGeom prst="rect">
            <a:avLst/>
          </a:prstGeom>
          <a:solidFill>
            <a:srgbClr val="F5A623"/>
          </a:solidFill>
          <a:ln/>
        </p:spPr>
        <p:txBody>
          <a:bodyPr/>
          <a:lstStyle/>
          <a:p>
            <a:endParaRPr lang="en-US"/>
          </a:p>
        </p:txBody>
      </p:sp>
      <p:sp>
        <p:nvSpPr>
          <p:cNvPr id="30" name="Recall Framing Text"/>
          <p:cNvSpPr/>
          <p:nvPr/>
        </p:nvSpPr>
        <p:spPr>
          <a:xfrm>
            <a:off x="822960" y="1420000"/>
            <a:ext cx="6355080" cy="300000"/>
          </a:xfrm>
          <a:prstGeom prst="rect">
            <a:avLst/>
          </a:prstGeom>
          <a:noFill/>
          <a:ln/>
        </p:spPr>
        <p:txBody>
          <a:bodyPr wrap="square" lIns="0" tIns="0" rIns="0" bIns="0" rtlCol="0" anchor="ctr"/>
          <a:lstStyle/>
          <a:p>
            <a:pPr marL="0" indent="0" algn="l">
              <a:buNone/>
            </a:pPr>
            <a:r>
              <a:rPr lang="en-US" sz="1050" b="1" spc="60">
                <a:solidFill>
                  <a:srgbClr val="1F52D6"/>
                </a:solidFill>
                <a:latin typeface="Calibri" pitchFamily="34" charset="0"/>
                <a:ea typeface="Calibri" pitchFamily="34" charset="-122"/>
                <a:cs typeface="Calibri" pitchFamily="34" charset="-120"/>
              </a:rPr>
              <a:t>Recall-first: </a:t>
            </a:r>
            <a:r>
              <a:rPr lang="en-US" sz="1050">
                <a:solidFill>
                  <a:srgbClr val="16233B"/>
                </a:solidFill>
                <a:latin typeface="Calibri" pitchFamily="34" charset="0"/>
                <a:ea typeface="Calibri" pitchFamily="34" charset="-122"/>
                <a:cs typeface="Calibri" pitchFamily="34" charset="-120"/>
              </a:rPr>
              <a:t>catching at-risk customers matters more than raw accuracy.</a:t>
            </a:r>
            <a:endParaRPr lang="en-US" sz="1050"/>
          </a:p>
        </p:txBody>
      </p:sp>
      <p:sp>
        <p:nvSpPr>
          <p:cNvPr id="31" name="Recommended Model Card"/>
          <p:cNvSpPr/>
          <p:nvPr/>
        </p:nvSpPr>
        <p:spPr>
          <a:xfrm>
            <a:off x="8686800" y="300000"/>
            <a:ext cx="2953512" cy="1300000"/>
          </a:xfrm>
          <a:prstGeom prst="rect">
            <a:avLst/>
          </a:prstGeom>
          <a:solidFill>
            <a:srgbClr val="1F52D6"/>
          </a:solidFill>
          <a:ln/>
          <a:effectLst>
            <a:outerShdw blurRad="101600" dist="25400" dir="5400000" algn="bl" rotWithShape="0">
              <a:srgbClr val="8CA0C4">
                <a:alpha val="28000"/>
              </a:srgbClr>
            </a:outerShdw>
          </a:effectLst>
        </p:spPr>
        <p:txBody>
          <a:bodyPr/>
          <a:lstStyle/>
          <a:p>
            <a:endParaRPr lang="en-US"/>
          </a:p>
        </p:txBody>
      </p:sp>
      <p:sp>
        <p:nvSpPr>
          <p:cNvPr id="32" name="Recommended Model Accent"/>
          <p:cNvSpPr/>
          <p:nvPr/>
        </p:nvSpPr>
        <p:spPr>
          <a:xfrm>
            <a:off x="8686800" y="300000"/>
            <a:ext cx="2953512" cy="68580"/>
          </a:xfrm>
          <a:prstGeom prst="rect">
            <a:avLst/>
          </a:prstGeom>
          <a:solidFill>
            <a:srgbClr val="F5A623"/>
          </a:solidFill>
          <a:ln/>
        </p:spPr>
        <p:txBody>
          <a:bodyPr/>
          <a:lstStyle/>
          <a:p>
            <a:endParaRPr lang="en-US"/>
          </a:p>
        </p:txBody>
      </p:sp>
      <p:sp>
        <p:nvSpPr>
          <p:cNvPr id="33" name="Recommended Model Text"/>
          <p:cNvSpPr/>
          <p:nvPr/>
        </p:nvSpPr>
        <p:spPr>
          <a:xfrm>
            <a:off x="8887320" y="405000"/>
            <a:ext cx="2552472" cy="1150000"/>
          </a:xfrm>
          <a:prstGeom prst="rect">
            <a:avLst/>
          </a:prstGeom>
          <a:noFill/>
          <a:ln/>
        </p:spPr>
        <p:txBody>
          <a:bodyPr wrap="square" lIns="0" tIns="0" rIns="0" bIns="0" rtlCol="0" anchor="ctr"/>
          <a:lstStyle/>
          <a:p>
            <a:pPr marL="0" indent="0" algn="l">
              <a:buNone/>
            </a:pPr>
            <a:r>
              <a:rPr lang="en-US" sz="1000" b="1" spc="120">
                <a:solidFill>
                  <a:srgbClr val="F5A623"/>
                </a:solidFill>
                <a:latin typeface="Calibri" pitchFamily="34" charset="0"/>
                <a:ea typeface="Calibri" pitchFamily="34" charset="-122"/>
                <a:cs typeface="Calibri" pitchFamily="34" charset="-120"/>
              </a:rPr>
              <a:t>RECOMMENDED MODEL</a:t>
            </a:r>
            <a:endParaRPr lang="en-US" sz="1000" b="1"/>
          </a:p>
          <a:p>
            <a:pPr marL="0" indent="0" algn="l">
              <a:buNone/>
            </a:pPr>
            <a:r>
              <a:rPr lang="en-US" sz="1800" b="1">
                <a:solidFill>
                  <a:srgbClr val="FFFFFF"/>
                </a:solidFill>
                <a:latin typeface="Georgia" pitchFamily="34" charset="0"/>
                <a:ea typeface="Georgia" pitchFamily="34" charset="-122"/>
                <a:cs typeface="Georgia" pitchFamily="34" charset="-120"/>
              </a:rPr>
              <a:t>Logistic Regression</a:t>
            </a:r>
            <a:endParaRPr lang="en-US" sz="1800" b="1"/>
          </a:p>
          <a:p>
            <a:pPr marL="0" indent="0" algn="l">
              <a:buNone/>
            </a:pPr>
            <a:r>
              <a:rPr lang="en-US" sz="1000">
                <a:solidFill>
                  <a:srgbClr val="DCE6FB"/>
                </a:solidFill>
                <a:latin typeface="Calibri" pitchFamily="34" charset="0"/>
                <a:ea typeface="Calibri" pitchFamily="34" charset="-122"/>
                <a:cs typeface="Calibri" pitchFamily="34" charset="-120"/>
              </a:rPr>
              <a:t>Every missed churner is lost revenue — best recall (0.67) catches the most.</a:t>
            </a:r>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BUSINESS IMPACT</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Expected benefits</a:t>
            </a:r>
            <a:endParaRPr lang="en-US" sz="3000" dirty="0"/>
          </a:p>
        </p:txBody>
      </p:sp>
      <p:sp>
        <p:nvSpPr>
          <p:cNvPr id="4" name="Shape 2"/>
          <p:cNvSpPr/>
          <p:nvPr/>
        </p:nvSpPr>
        <p:spPr>
          <a:xfrm>
            <a:off x="548640" y="178308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Shape 3"/>
          <p:cNvSpPr/>
          <p:nvPr/>
        </p:nvSpPr>
        <p:spPr>
          <a:xfrm>
            <a:off x="548640" y="1783080"/>
            <a:ext cx="3566160" cy="91440"/>
          </a:xfrm>
          <a:prstGeom prst="rect">
            <a:avLst/>
          </a:prstGeom>
          <a:solidFill>
            <a:srgbClr val="1F52D6"/>
          </a:solidFill>
          <a:ln/>
        </p:spPr>
        <p:txBody>
          <a:bodyPr/>
          <a:lstStyle/>
          <a:p>
            <a:endParaRPr lang="en-US"/>
          </a:p>
        </p:txBody>
      </p:sp>
      <p:sp>
        <p:nvSpPr>
          <p:cNvPr id="6" name="Shape 4"/>
          <p:cNvSpPr/>
          <p:nvPr/>
        </p:nvSpPr>
        <p:spPr>
          <a:xfrm>
            <a:off x="868680" y="2130552"/>
            <a:ext cx="457200" cy="457200"/>
          </a:xfrm>
          <a:prstGeom prst="ellipse">
            <a:avLst/>
          </a:prstGeom>
          <a:solidFill>
            <a:srgbClr val="1F52D6"/>
          </a:solidFill>
          <a:ln/>
        </p:spPr>
        <p:txBody>
          <a:bodyPr/>
          <a:lstStyle/>
          <a:p>
            <a:endParaRPr lang="en-US"/>
          </a:p>
        </p:txBody>
      </p:sp>
      <p:sp>
        <p:nvSpPr>
          <p:cNvPr id="7" name="Text 5"/>
          <p:cNvSpPr/>
          <p:nvPr/>
        </p:nvSpPr>
        <p:spPr>
          <a:xfrm>
            <a:off x="86868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481328" y="211226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Increase Revenue</a:t>
            </a:r>
            <a:endParaRPr lang="en-US" sz="1600" dirty="0"/>
          </a:p>
        </p:txBody>
      </p:sp>
      <p:sp>
        <p:nvSpPr>
          <p:cNvPr id="9" name="Text 7"/>
          <p:cNvSpPr/>
          <p:nvPr/>
        </p:nvSpPr>
        <p:spPr>
          <a:xfrm>
            <a:off x="868680" y="274320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Improve </a:t>
            </a:r>
            <a:r>
              <a:rPr lang="en-US" sz="1250" dirty="0">
                <a:solidFill>
                  <a:srgbClr val="5C6B85"/>
                </a:solidFill>
                <a:latin typeface="Calibri" pitchFamily="34" charset="0"/>
                <a:ea typeface="Calibri" pitchFamily="34" charset="-122"/>
                <a:cs typeface="Calibri" pitchFamily="34" charset="-120"/>
              </a:rPr>
              <a:t>repeat </a:t>
            </a:r>
            <a:r>
              <a:rPr lang="en-US" sz="1250">
                <a:solidFill>
                  <a:srgbClr val="5C6B85"/>
                </a:solidFill>
                <a:latin typeface="Calibri" pitchFamily="34" charset="0"/>
                <a:ea typeface="Calibri" pitchFamily="34" charset="-122"/>
                <a:cs typeface="Calibri" pitchFamily="34" charset="-120"/>
              </a:rPr>
              <a:t>purchases through proactive customer retention</a:t>
            </a:r>
            <a:r>
              <a:rPr lang="en-US" sz="1250" dirty="0">
                <a:solidFill>
                  <a:srgbClr val="5C6B85"/>
                </a:solidFill>
                <a:latin typeface="Calibri" pitchFamily="34" charset="0"/>
                <a:ea typeface="Calibri" pitchFamily="34" charset="-122"/>
                <a:cs typeface="Calibri" pitchFamily="34" charset="-120"/>
              </a:rPr>
              <a:t>.</a:t>
            </a:r>
            <a:endParaRPr lang="en-US" sz="1250" dirty="0"/>
          </a:p>
        </p:txBody>
      </p:sp>
      <p:sp>
        <p:nvSpPr>
          <p:cNvPr id="10" name="Shape 8"/>
          <p:cNvSpPr/>
          <p:nvPr/>
        </p:nvSpPr>
        <p:spPr>
          <a:xfrm>
            <a:off x="4389120" y="178308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1" name="Shape 9"/>
          <p:cNvSpPr/>
          <p:nvPr/>
        </p:nvSpPr>
        <p:spPr>
          <a:xfrm>
            <a:off x="4389120" y="1783080"/>
            <a:ext cx="3566160" cy="91440"/>
          </a:xfrm>
          <a:prstGeom prst="rect">
            <a:avLst/>
          </a:prstGeom>
          <a:solidFill>
            <a:srgbClr val="1F52D6"/>
          </a:solidFill>
          <a:ln/>
        </p:spPr>
        <p:txBody>
          <a:bodyPr/>
          <a:lstStyle/>
          <a:p>
            <a:endParaRPr lang="en-US"/>
          </a:p>
        </p:txBody>
      </p:sp>
      <p:sp>
        <p:nvSpPr>
          <p:cNvPr id="12" name="Shape 10"/>
          <p:cNvSpPr/>
          <p:nvPr/>
        </p:nvSpPr>
        <p:spPr>
          <a:xfrm>
            <a:off x="4709160" y="2130552"/>
            <a:ext cx="457200" cy="457200"/>
          </a:xfrm>
          <a:prstGeom prst="ellipse">
            <a:avLst/>
          </a:prstGeom>
          <a:solidFill>
            <a:srgbClr val="1F52D6"/>
          </a:solidFill>
          <a:ln/>
        </p:spPr>
        <p:txBody>
          <a:bodyPr/>
          <a:lstStyle/>
          <a:p>
            <a:endParaRPr lang="en-US"/>
          </a:p>
        </p:txBody>
      </p:sp>
      <p:sp>
        <p:nvSpPr>
          <p:cNvPr id="13" name="Text 11"/>
          <p:cNvSpPr/>
          <p:nvPr/>
        </p:nvSpPr>
        <p:spPr>
          <a:xfrm>
            <a:off x="470916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5321808" y="211226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Reduce Customer Churn</a:t>
            </a:r>
            <a:endParaRPr lang="en-US" sz="1600" dirty="0"/>
          </a:p>
        </p:txBody>
      </p:sp>
      <p:sp>
        <p:nvSpPr>
          <p:cNvPr id="15" name="Text 13"/>
          <p:cNvSpPr/>
          <p:nvPr/>
        </p:nvSpPr>
        <p:spPr>
          <a:xfrm>
            <a:off x="4709160" y="274320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Identify at-risk customers </a:t>
            </a:r>
            <a:r>
              <a:rPr lang="en-US" sz="1250" dirty="0">
                <a:solidFill>
                  <a:srgbClr val="5C6B85"/>
                </a:solidFill>
                <a:latin typeface="Calibri" pitchFamily="34" charset="0"/>
                <a:ea typeface="Calibri" pitchFamily="34" charset="-122"/>
                <a:cs typeface="Calibri" pitchFamily="34" charset="-120"/>
              </a:rPr>
              <a:t>before </a:t>
            </a:r>
            <a:r>
              <a:rPr lang="en-US" sz="1250">
                <a:solidFill>
                  <a:srgbClr val="5C6B85"/>
                </a:solidFill>
                <a:latin typeface="Calibri" pitchFamily="34" charset="0"/>
                <a:ea typeface="Calibri" pitchFamily="34" charset="-122"/>
                <a:cs typeface="Calibri" pitchFamily="34" charset="-120"/>
              </a:rPr>
              <a:t>they</a:t>
            </a:r>
            <a:r>
              <a:rPr lang="en-US" sz="1250" dirty="0">
                <a:solidFill>
                  <a:srgbClr val="5C6B85"/>
                </a:solidFill>
                <a:latin typeface="Calibri" pitchFamily="34" charset="0"/>
                <a:ea typeface="Calibri" pitchFamily="34" charset="-122"/>
                <a:cs typeface="Calibri" pitchFamily="34" charset="-120"/>
              </a:rPr>
              <a:t> leave.</a:t>
            </a:r>
            <a:endParaRPr lang="en-US" sz="1250" dirty="0"/>
          </a:p>
        </p:txBody>
      </p:sp>
      <p:sp>
        <p:nvSpPr>
          <p:cNvPr id="16" name="Shape 14"/>
          <p:cNvSpPr/>
          <p:nvPr/>
        </p:nvSpPr>
        <p:spPr>
          <a:xfrm>
            <a:off x="8229600" y="178308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7" name="Shape 15"/>
          <p:cNvSpPr/>
          <p:nvPr/>
        </p:nvSpPr>
        <p:spPr>
          <a:xfrm>
            <a:off x="8229600" y="1783080"/>
            <a:ext cx="3566160" cy="91440"/>
          </a:xfrm>
          <a:prstGeom prst="rect">
            <a:avLst/>
          </a:prstGeom>
          <a:solidFill>
            <a:srgbClr val="1F52D6"/>
          </a:solidFill>
          <a:ln/>
        </p:spPr>
        <p:txBody>
          <a:bodyPr/>
          <a:lstStyle/>
          <a:p>
            <a:endParaRPr lang="en-US"/>
          </a:p>
        </p:txBody>
      </p:sp>
      <p:sp>
        <p:nvSpPr>
          <p:cNvPr id="18" name="Shape 16"/>
          <p:cNvSpPr/>
          <p:nvPr/>
        </p:nvSpPr>
        <p:spPr>
          <a:xfrm>
            <a:off x="8549640" y="2130552"/>
            <a:ext cx="457200" cy="457200"/>
          </a:xfrm>
          <a:prstGeom prst="ellipse">
            <a:avLst/>
          </a:prstGeom>
          <a:solidFill>
            <a:srgbClr val="1F52D6"/>
          </a:solidFill>
          <a:ln/>
        </p:spPr>
        <p:txBody>
          <a:bodyPr/>
          <a:lstStyle/>
          <a:p>
            <a:endParaRPr lang="en-US"/>
          </a:p>
        </p:txBody>
      </p:sp>
      <p:sp>
        <p:nvSpPr>
          <p:cNvPr id="19" name="Text 17"/>
          <p:cNvSpPr/>
          <p:nvPr/>
        </p:nvSpPr>
        <p:spPr>
          <a:xfrm>
            <a:off x="85496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0" name="Text 18"/>
          <p:cNvSpPr/>
          <p:nvPr/>
        </p:nvSpPr>
        <p:spPr>
          <a:xfrm>
            <a:off x="9162288" y="211226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Improve Customer Engagement</a:t>
            </a:r>
            <a:endParaRPr lang="en-US" sz="1600" dirty="0"/>
          </a:p>
        </p:txBody>
      </p:sp>
      <p:sp>
        <p:nvSpPr>
          <p:cNvPr id="21" name="Text 19"/>
          <p:cNvSpPr/>
          <p:nvPr/>
        </p:nvSpPr>
        <p:spPr>
          <a:xfrm>
            <a:off x="8549640" y="274320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Deliver personalized offers that encourage continued purchasing</a:t>
            </a:r>
            <a:r>
              <a:rPr lang="en-US" sz="1250" dirty="0">
                <a:solidFill>
                  <a:srgbClr val="5C6B85"/>
                </a:solidFill>
                <a:latin typeface="Calibri" pitchFamily="34" charset="0"/>
                <a:ea typeface="Calibri" pitchFamily="34" charset="-122"/>
                <a:cs typeface="Calibri" pitchFamily="34" charset="-120"/>
              </a:rPr>
              <a:t>.</a:t>
            </a:r>
            <a:endParaRPr lang="en-US" sz="1250" dirty="0"/>
          </a:p>
        </p:txBody>
      </p:sp>
      <p:sp>
        <p:nvSpPr>
          <p:cNvPr id="22" name="Shape 20"/>
          <p:cNvSpPr/>
          <p:nvPr/>
        </p:nvSpPr>
        <p:spPr>
          <a:xfrm>
            <a:off x="548640" y="397764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3" name="Shape 21"/>
          <p:cNvSpPr/>
          <p:nvPr/>
        </p:nvSpPr>
        <p:spPr>
          <a:xfrm>
            <a:off x="548640" y="3977640"/>
            <a:ext cx="3566160" cy="91440"/>
          </a:xfrm>
          <a:prstGeom prst="rect">
            <a:avLst/>
          </a:prstGeom>
          <a:solidFill>
            <a:srgbClr val="1F52D6"/>
          </a:solidFill>
          <a:ln/>
        </p:spPr>
        <p:txBody>
          <a:bodyPr/>
          <a:lstStyle/>
          <a:p>
            <a:endParaRPr lang="en-US"/>
          </a:p>
        </p:txBody>
      </p:sp>
      <p:sp>
        <p:nvSpPr>
          <p:cNvPr id="24" name="Shape 22"/>
          <p:cNvSpPr/>
          <p:nvPr/>
        </p:nvSpPr>
        <p:spPr>
          <a:xfrm>
            <a:off x="868680" y="4325112"/>
            <a:ext cx="457200" cy="457200"/>
          </a:xfrm>
          <a:prstGeom prst="ellipse">
            <a:avLst/>
          </a:prstGeom>
          <a:solidFill>
            <a:srgbClr val="1F52D6"/>
          </a:solidFill>
          <a:ln/>
        </p:spPr>
        <p:txBody>
          <a:bodyPr/>
          <a:lstStyle/>
          <a:p>
            <a:endParaRPr lang="en-US"/>
          </a:p>
        </p:txBody>
      </p:sp>
      <p:sp>
        <p:nvSpPr>
          <p:cNvPr id="25" name="Text 23"/>
          <p:cNvSpPr/>
          <p:nvPr/>
        </p:nvSpPr>
        <p:spPr>
          <a:xfrm>
            <a:off x="868680" y="43251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6" name="Text 24"/>
          <p:cNvSpPr/>
          <p:nvPr/>
        </p:nvSpPr>
        <p:spPr>
          <a:xfrm>
            <a:off x="1481328" y="430682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Optimize Marketing Investments</a:t>
            </a:r>
            <a:endParaRPr lang="en-US" sz="1600" dirty="0"/>
          </a:p>
        </p:txBody>
      </p:sp>
      <p:sp>
        <p:nvSpPr>
          <p:cNvPr id="27" name="Text 25"/>
          <p:cNvSpPr/>
          <p:nvPr/>
        </p:nvSpPr>
        <p:spPr>
          <a:xfrm>
            <a:off x="868680" y="4937760"/>
            <a:ext cx="2926080" cy="777240"/>
          </a:xfrm>
          <a:prstGeom prst="rect">
            <a:avLst/>
          </a:prstGeom>
          <a:noFill/>
          <a:ln/>
        </p:spPr>
        <p:txBody>
          <a:bodyPr wrap="square" lIns="0" tIns="0" rIns="0" bIns="0" rtlCol="0" anchor="ctr"/>
          <a:lstStyle/>
          <a:p>
            <a:pPr marL="0" indent="0" algn="l">
              <a:lnSpc>
                <a:spcPct val="110000"/>
              </a:lnSpc>
              <a:buNone/>
            </a:pPr>
            <a:r>
              <a:rPr lang="en-US" sz="1250" dirty="0">
                <a:solidFill>
                  <a:srgbClr val="5C6B85"/>
                </a:solidFill>
                <a:latin typeface="Calibri" pitchFamily="34" charset="0"/>
                <a:ea typeface="Calibri" pitchFamily="34" charset="-122"/>
                <a:cs typeface="Calibri" pitchFamily="34" charset="-120"/>
              </a:rPr>
              <a:t>Focus </a:t>
            </a:r>
            <a:r>
              <a:rPr lang="en-US" sz="1250">
                <a:solidFill>
                  <a:srgbClr val="5C6B85"/>
                </a:solidFill>
                <a:latin typeface="Calibri" pitchFamily="34" charset="0"/>
                <a:ea typeface="Calibri" pitchFamily="34" charset="-122"/>
                <a:cs typeface="Calibri" pitchFamily="34" charset="-120"/>
              </a:rPr>
              <a:t>marketing resources </a:t>
            </a:r>
            <a:r>
              <a:rPr lang="en-US" sz="1250" dirty="0">
                <a:solidFill>
                  <a:srgbClr val="5C6B85"/>
                </a:solidFill>
                <a:latin typeface="Calibri" pitchFamily="34" charset="0"/>
                <a:ea typeface="Calibri" pitchFamily="34" charset="-122"/>
                <a:cs typeface="Calibri" pitchFamily="34" charset="-120"/>
              </a:rPr>
              <a:t>on </a:t>
            </a:r>
            <a:r>
              <a:rPr lang="en-US" sz="1250">
                <a:solidFill>
                  <a:srgbClr val="5C6B85"/>
                </a:solidFill>
                <a:latin typeface="Calibri" pitchFamily="34" charset="0"/>
                <a:ea typeface="Calibri" pitchFamily="34" charset="-122"/>
                <a:cs typeface="Calibri" pitchFamily="34" charset="-120"/>
              </a:rPr>
              <a:t>customers with </a:t>
            </a:r>
            <a:r>
              <a:rPr lang="en-US" sz="1250" dirty="0">
                <a:solidFill>
                  <a:srgbClr val="5C6B85"/>
                </a:solidFill>
                <a:latin typeface="Calibri" pitchFamily="34" charset="0"/>
                <a:ea typeface="Calibri" pitchFamily="34" charset="-122"/>
                <a:cs typeface="Calibri" pitchFamily="34" charset="-120"/>
              </a:rPr>
              <a:t>the </a:t>
            </a:r>
            <a:r>
              <a:rPr lang="en-US" sz="1250">
                <a:solidFill>
                  <a:srgbClr val="5C6B85"/>
                </a:solidFill>
                <a:latin typeface="Calibri" pitchFamily="34" charset="0"/>
                <a:ea typeface="Calibri" pitchFamily="34" charset="-122"/>
                <a:cs typeface="Calibri" pitchFamily="34" charset="-120"/>
              </a:rPr>
              <a:t>greatest retention potential</a:t>
            </a:r>
            <a:r>
              <a:rPr lang="en-US" sz="1250" dirty="0">
                <a:solidFill>
                  <a:srgbClr val="5C6B85"/>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389120" y="397764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29" name="Shape 27"/>
          <p:cNvSpPr/>
          <p:nvPr/>
        </p:nvSpPr>
        <p:spPr>
          <a:xfrm>
            <a:off x="4389120" y="3977640"/>
            <a:ext cx="3566160" cy="91440"/>
          </a:xfrm>
          <a:prstGeom prst="rect">
            <a:avLst/>
          </a:prstGeom>
          <a:solidFill>
            <a:srgbClr val="1F52D6"/>
          </a:solidFill>
          <a:ln/>
        </p:spPr>
        <p:txBody>
          <a:bodyPr/>
          <a:lstStyle/>
          <a:p>
            <a:endParaRPr lang="en-US"/>
          </a:p>
        </p:txBody>
      </p:sp>
      <p:sp>
        <p:nvSpPr>
          <p:cNvPr id="30" name="Shape 28"/>
          <p:cNvSpPr/>
          <p:nvPr/>
        </p:nvSpPr>
        <p:spPr>
          <a:xfrm>
            <a:off x="4709160" y="4325112"/>
            <a:ext cx="457200" cy="457200"/>
          </a:xfrm>
          <a:prstGeom prst="ellipse">
            <a:avLst/>
          </a:prstGeom>
          <a:solidFill>
            <a:srgbClr val="1F52D6"/>
          </a:solidFill>
          <a:ln/>
        </p:spPr>
        <p:txBody>
          <a:bodyPr/>
          <a:lstStyle/>
          <a:p>
            <a:endParaRPr lang="en-US"/>
          </a:p>
        </p:txBody>
      </p:sp>
      <p:sp>
        <p:nvSpPr>
          <p:cNvPr id="31" name="Text 29"/>
          <p:cNvSpPr/>
          <p:nvPr/>
        </p:nvSpPr>
        <p:spPr>
          <a:xfrm>
            <a:off x="4709160" y="43251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2" name="Text 30"/>
          <p:cNvSpPr/>
          <p:nvPr/>
        </p:nvSpPr>
        <p:spPr>
          <a:xfrm>
            <a:off x="5321808" y="430682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Improve Inventory Planning</a:t>
            </a:r>
            <a:endParaRPr lang="en-US" sz="1600" dirty="0"/>
          </a:p>
        </p:txBody>
      </p:sp>
      <p:sp>
        <p:nvSpPr>
          <p:cNvPr id="33" name="Text 31"/>
          <p:cNvSpPr/>
          <p:nvPr/>
        </p:nvSpPr>
        <p:spPr>
          <a:xfrm>
            <a:off x="4709160" y="493776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Better anticipate future purchasing </a:t>
            </a:r>
            <a:r>
              <a:rPr lang="en-US" sz="1250" dirty="0">
                <a:solidFill>
                  <a:srgbClr val="5C6B85"/>
                </a:solidFill>
                <a:latin typeface="Calibri" pitchFamily="34" charset="0"/>
                <a:ea typeface="Calibri" pitchFamily="34" charset="-122"/>
                <a:cs typeface="Calibri" pitchFamily="34" charset="-120"/>
              </a:rPr>
              <a:t>demand</a:t>
            </a:r>
            <a:r>
              <a:rPr lang="en-US" sz="1250">
                <a:solidFill>
                  <a:srgbClr val="5C6B85"/>
                </a:solidFill>
                <a:latin typeface="Calibri" pitchFamily="34" charset="0"/>
                <a:ea typeface="Calibri" pitchFamily="34" charset="-122"/>
                <a:cs typeface="Calibri" pitchFamily="34" charset="-120"/>
              </a:rPr>
              <a:t> through predictive analytics</a:t>
            </a:r>
            <a:r>
              <a:rPr lang="en-US" sz="1250" dirty="0">
                <a:solidFill>
                  <a:srgbClr val="5C6B85"/>
                </a:solidFill>
                <a:latin typeface="Calibri" pitchFamily="34" charset="0"/>
                <a:ea typeface="Calibri" pitchFamily="34" charset="-122"/>
                <a:cs typeface="Calibri" pitchFamily="34" charset="-120"/>
              </a:rPr>
              <a:t>.</a:t>
            </a:r>
            <a:endParaRPr lang="en-US" sz="1250" dirty="0"/>
          </a:p>
        </p:txBody>
      </p:sp>
      <p:sp>
        <p:nvSpPr>
          <p:cNvPr id="34" name="Shape 32"/>
          <p:cNvSpPr/>
          <p:nvPr/>
        </p:nvSpPr>
        <p:spPr>
          <a:xfrm>
            <a:off x="8229600" y="3977640"/>
            <a:ext cx="3566160" cy="192024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35" name="Shape 33"/>
          <p:cNvSpPr/>
          <p:nvPr/>
        </p:nvSpPr>
        <p:spPr>
          <a:xfrm>
            <a:off x="8229600" y="3977640"/>
            <a:ext cx="3566160" cy="91440"/>
          </a:xfrm>
          <a:prstGeom prst="rect">
            <a:avLst/>
          </a:prstGeom>
          <a:solidFill>
            <a:srgbClr val="1F52D6"/>
          </a:solidFill>
          <a:ln/>
        </p:spPr>
        <p:txBody>
          <a:bodyPr/>
          <a:lstStyle/>
          <a:p>
            <a:endParaRPr lang="en-US"/>
          </a:p>
        </p:txBody>
      </p:sp>
      <p:sp>
        <p:nvSpPr>
          <p:cNvPr id="36" name="Shape 34"/>
          <p:cNvSpPr/>
          <p:nvPr/>
        </p:nvSpPr>
        <p:spPr>
          <a:xfrm>
            <a:off x="8549640" y="4325112"/>
            <a:ext cx="457200" cy="457200"/>
          </a:xfrm>
          <a:prstGeom prst="ellipse">
            <a:avLst/>
          </a:prstGeom>
          <a:solidFill>
            <a:srgbClr val="1F52D6"/>
          </a:solidFill>
          <a:ln/>
        </p:spPr>
        <p:txBody>
          <a:bodyPr/>
          <a:lstStyle/>
          <a:p>
            <a:endParaRPr lang="en-US"/>
          </a:p>
        </p:txBody>
      </p:sp>
      <p:sp>
        <p:nvSpPr>
          <p:cNvPr id="37" name="Text 35"/>
          <p:cNvSpPr/>
          <p:nvPr/>
        </p:nvSpPr>
        <p:spPr>
          <a:xfrm>
            <a:off x="8549640" y="43251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38" name="Text 36"/>
          <p:cNvSpPr/>
          <p:nvPr/>
        </p:nvSpPr>
        <p:spPr>
          <a:xfrm>
            <a:off x="9162288" y="4306824"/>
            <a:ext cx="2331720" cy="502920"/>
          </a:xfrm>
          <a:prstGeom prst="rect">
            <a:avLst/>
          </a:prstGeom>
          <a:noFill/>
          <a:ln/>
        </p:spPr>
        <p:txBody>
          <a:bodyPr wrap="square" lIns="0" tIns="0" rIns="0" bIns="0" rtlCol="0" anchor="ctr"/>
          <a:lstStyle/>
          <a:p>
            <a:pPr marL="0" indent="0" algn="l">
              <a:lnSpc>
                <a:spcPct val="98000"/>
              </a:lnSpc>
              <a:buNone/>
            </a:pPr>
            <a:r>
              <a:rPr lang="en-US" sz="1600" b="1">
                <a:solidFill>
                  <a:srgbClr val="16233B"/>
                </a:solidFill>
                <a:latin typeface="Georgia" pitchFamily="34" charset="0"/>
                <a:ea typeface="Georgia" pitchFamily="34" charset="-122"/>
                <a:cs typeface="Georgia" pitchFamily="34" charset="-120"/>
              </a:rPr>
              <a:t>Support Data-Driven Decision Making</a:t>
            </a:r>
            <a:endParaRPr lang="en-US" sz="1600" dirty="0"/>
          </a:p>
        </p:txBody>
      </p:sp>
      <p:sp>
        <p:nvSpPr>
          <p:cNvPr id="39" name="Text 37"/>
          <p:cNvSpPr/>
          <p:nvPr/>
        </p:nvSpPr>
        <p:spPr>
          <a:xfrm>
            <a:off x="8549640" y="4937760"/>
            <a:ext cx="2926080" cy="777240"/>
          </a:xfrm>
          <a:prstGeom prst="rect">
            <a:avLst/>
          </a:prstGeom>
          <a:noFill/>
          <a:ln/>
        </p:spPr>
        <p:txBody>
          <a:bodyPr wrap="square" lIns="0" tIns="0" rIns="0" bIns="0" rtlCol="0" anchor="ctr"/>
          <a:lstStyle/>
          <a:p>
            <a:pPr marL="0" indent="0" algn="l">
              <a:lnSpc>
                <a:spcPct val="110000"/>
              </a:lnSpc>
              <a:buNone/>
            </a:pPr>
            <a:r>
              <a:rPr lang="en-US" sz="1250">
                <a:solidFill>
                  <a:srgbClr val="5C6B85"/>
                </a:solidFill>
                <a:latin typeface="Calibri" pitchFamily="34" charset="0"/>
                <a:ea typeface="Calibri" pitchFamily="34" charset="-122"/>
                <a:cs typeface="Calibri" pitchFamily="34" charset="-120"/>
              </a:rPr>
              <a:t>Provide leadership with actionable insights that improve strategic planning</a:t>
            </a:r>
            <a:r>
              <a:rPr lang="en-US" sz="1250" dirty="0">
                <a:solidFill>
                  <a:srgbClr val="5C6B85"/>
                </a:solidFill>
                <a:latin typeface="Calibri" pitchFamily="34" charset="0"/>
                <a:ea typeface="Calibri" pitchFamily="34" charset="-122"/>
                <a:cs typeface="Calibri" pitchFamily="34" charset="-120"/>
              </a:rPr>
              <a:t>.</a:t>
            </a:r>
            <a:endParaRPr lang="en-US" sz="1250" dirty="0"/>
          </a:p>
        </p:txBody>
      </p:sp>
      <p:sp>
        <p:nvSpPr>
          <p:cNvPr id="40" name="Text 38"/>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dirty="0">
                <a:solidFill>
                  <a:srgbClr val="5C6B85"/>
                </a:solidFill>
                <a:latin typeface="Calibri" pitchFamily="34" charset="0"/>
                <a:ea typeface="Calibri" pitchFamily="34" charset="-122"/>
                <a:cs typeface="Calibri" pitchFamily="34" charset="-120"/>
              </a:rPr>
              <a:t>Using ML to Improve Customer Purchasing Decisions</a:t>
            </a:r>
            <a:endParaRPr lang="en-US" sz="900" dirty="0"/>
          </a:p>
        </p:txBody>
      </p:sp>
      <p:sp>
        <p:nvSpPr>
          <p:cNvPr id="41" name="Text 39"/>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dirty="0">
                <a:solidFill>
                  <a:srgbClr val="1F52D6"/>
                </a:solidFill>
                <a:latin typeface="Calibri" pitchFamily="34" charset="0"/>
                <a:ea typeface="Calibri" pitchFamily="34" charset="-122"/>
                <a:cs typeface="Calibri" pitchFamily="34" charset="-120"/>
              </a:rPr>
              <a:t>FUTURE ENHANCEMENTS</a:t>
            </a:r>
            <a:endParaRPr lang="en-US" sz="1250" dirty="0"/>
          </a:p>
        </p:txBody>
      </p:sp>
      <p:sp>
        <p:nvSpPr>
          <p:cNvPr id="3" name="Text 0"/>
          <p:cNvSpPr>
            <a:spLocks noGrp="1"/>
          </p:cNvSpPr>
          <p:nvPr>
            <p:ph type="title" idx="100" hasCustomPrompt="1"/>
          </p:nvPr>
        </p:nvSpPr>
        <p:spPr>
          <a:xfrm>
            <a:off x="548640" y="566928"/>
            <a:ext cx="11064240" cy="822960"/>
          </a:xfrm>
          <a:prstGeom prst="rect">
            <a:avLst/>
          </a:prstGeom>
          <a:noFill/>
          <a:ln/>
        </p:spPr>
        <p:txBody>
          <a:bodyPr wrap="square" lIns="0" tIns="0" rIns="0" bIns="0" rtlCol="0"/>
          <a:lstStyle/>
          <a:p>
            <a:pPr marL="0" indent="0" algn="l">
              <a:buNone/>
            </a:pPr>
            <a:r>
              <a:rPr lang="en-US" sz="3000" b="1" dirty="0">
                <a:solidFill>
                  <a:srgbClr val="16233B"/>
                </a:solidFill>
                <a:latin typeface="Georgia" pitchFamily="34" charset="0"/>
                <a:ea typeface="Georgia" pitchFamily="34" charset="-122"/>
                <a:cs typeface="Georgia" pitchFamily="34" charset="-120"/>
              </a:rPr>
              <a:t>Where this can go next</a:t>
            </a:r>
            <a:endParaRPr lang="en-US" sz="3000" dirty="0"/>
          </a:p>
        </p:txBody>
      </p:sp>
      <p:sp>
        <p:nvSpPr>
          <p:cNvPr id="4" name="Shape"/>
          <p:cNvSpPr/>
          <p:nvPr/>
        </p:nvSpPr>
        <p:spPr>
          <a:xfrm>
            <a:off x="548640" y="1783080"/>
            <a:ext cx="11091672" cy="690000"/>
          </a:xfrm>
          <a:prstGeom prst="rect">
            <a:avLst/>
          </a:prstGeom>
          <a:solidFill>
            <a:srgbClr val="E7EEFB"/>
          </a:solidFill>
          <a:ln w="12700">
            <a:solidFill>
              <a:srgbClr val="D4DCEA"/>
            </a:solidFill>
            <a:prstDash val="solid"/>
          </a:ln>
        </p:spPr>
        <p:txBody>
          <a:bodyPr/>
          <a:lstStyle/>
          <a:p>
            <a:endParaRPr lang="en-US"/>
          </a:p>
        </p:txBody>
      </p:sp>
      <p:sp>
        <p:nvSpPr>
          <p:cNvPr id="5" name="Bar"/>
          <p:cNvSpPr/>
          <p:nvPr/>
        </p:nvSpPr>
        <p:spPr>
          <a:xfrm>
            <a:off x="548640" y="1783080"/>
            <a:ext cx="73152" cy="690000"/>
          </a:xfrm>
          <a:prstGeom prst="rect">
            <a:avLst/>
          </a:prstGeom>
          <a:solidFill>
            <a:srgbClr val="1F52D6"/>
          </a:solidFill>
          <a:ln/>
        </p:spPr>
        <p:txBody>
          <a:bodyPr/>
          <a:lstStyle/>
          <a:p>
            <a:endParaRPr lang="en-US"/>
          </a:p>
        </p:txBody>
      </p:sp>
      <p:sp>
        <p:nvSpPr>
          <p:cNvPr id="6" name="Num"/>
          <p:cNvSpPr/>
          <p:nvPr/>
        </p:nvSpPr>
        <p:spPr>
          <a:xfrm>
            <a:off x="777240" y="1783080"/>
            <a:ext cx="914400" cy="69000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01</a:t>
            </a:r>
            <a:endParaRPr lang="en-US" sz="3000" dirty="0"/>
          </a:p>
        </p:txBody>
      </p:sp>
      <p:sp>
        <p:nvSpPr>
          <p:cNvPr id="7" name="Title"/>
          <p:cNvSpPr/>
          <p:nvPr/>
        </p:nvSpPr>
        <p:spPr>
          <a:xfrm>
            <a:off x="1828800" y="1783080"/>
            <a:ext cx="4023360" cy="690000"/>
          </a:xfrm>
          <a:prstGeom prst="rect">
            <a:avLst/>
          </a:prstGeom>
          <a:noFill/>
          <a:ln/>
        </p:spPr>
        <p:txBody>
          <a:bodyPr wrap="square" lIns="0" tIns="0" rIns="0" bIns="0" rtlCol="0" anchor="ctr"/>
          <a:lstStyle/>
          <a:p>
            <a:pPr marL="0" indent="0" algn="l">
              <a:buNone/>
            </a:pPr>
            <a:r>
              <a:rPr lang="en-US" sz="1700" b="1" dirty="0">
                <a:solidFill>
                  <a:srgbClr val="16233B"/>
                </a:solidFill>
                <a:latin typeface="Georgia" pitchFamily="34" charset="0"/>
                <a:ea typeface="Georgia" pitchFamily="34" charset="-122"/>
                <a:cs typeface="Georgia" pitchFamily="34" charset="-120"/>
              </a:rPr>
              <a:t>Add customer demographics</a:t>
            </a:r>
            <a:endParaRPr lang="en-US" sz="1700" dirty="0"/>
          </a:p>
        </p:txBody>
      </p:sp>
      <p:sp>
        <p:nvSpPr>
          <p:cNvPr id="8" name="Desc"/>
          <p:cNvSpPr/>
          <p:nvPr/>
        </p:nvSpPr>
        <p:spPr>
          <a:xfrm>
            <a:off x="5943600" y="1783080"/>
            <a:ext cx="5532120" cy="6900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Incorporate customer demographic information </a:t>
            </a:r>
            <a:r>
              <a:rPr lang="en-US" sz="1300" dirty="0">
                <a:solidFill>
                  <a:srgbClr val="5C6B85"/>
                </a:solidFill>
                <a:latin typeface="Calibri" pitchFamily="34" charset="0"/>
                <a:ea typeface="Calibri" pitchFamily="34" charset="-122"/>
                <a:cs typeface="Calibri" pitchFamily="34" charset="-120"/>
              </a:rPr>
              <a:t>to </a:t>
            </a:r>
            <a:r>
              <a:rPr lang="en-US" sz="1300">
                <a:solidFill>
                  <a:srgbClr val="5C6B85"/>
                </a:solidFill>
                <a:latin typeface="Calibri" pitchFamily="34" charset="0"/>
                <a:ea typeface="Calibri" pitchFamily="34" charset="-122"/>
                <a:cs typeface="Calibri" pitchFamily="34" charset="-120"/>
              </a:rPr>
              <a:t>improve predictive accuracy</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9" name="Shape"/>
          <p:cNvSpPr/>
          <p:nvPr/>
        </p:nvSpPr>
        <p:spPr>
          <a:xfrm>
            <a:off x="548640" y="2543080"/>
            <a:ext cx="11091672" cy="690000"/>
          </a:xfrm>
          <a:prstGeom prst="rect">
            <a:avLst/>
          </a:prstGeom>
          <a:solidFill>
            <a:srgbClr val="F2F5FB"/>
          </a:solidFill>
          <a:ln w="12700">
            <a:solidFill>
              <a:srgbClr val="D4DCEA"/>
            </a:solidFill>
            <a:prstDash val="solid"/>
          </a:ln>
        </p:spPr>
        <p:txBody>
          <a:bodyPr/>
          <a:lstStyle/>
          <a:p>
            <a:endParaRPr lang="en-US"/>
          </a:p>
        </p:txBody>
      </p:sp>
      <p:sp>
        <p:nvSpPr>
          <p:cNvPr id="10" name="Bar"/>
          <p:cNvSpPr/>
          <p:nvPr/>
        </p:nvSpPr>
        <p:spPr>
          <a:xfrm>
            <a:off x="548640" y="2543080"/>
            <a:ext cx="73152" cy="690000"/>
          </a:xfrm>
          <a:prstGeom prst="rect">
            <a:avLst/>
          </a:prstGeom>
          <a:solidFill>
            <a:srgbClr val="1F52D6"/>
          </a:solidFill>
          <a:ln/>
        </p:spPr>
        <p:txBody>
          <a:bodyPr/>
          <a:lstStyle/>
          <a:p>
            <a:endParaRPr lang="en-US"/>
          </a:p>
        </p:txBody>
      </p:sp>
      <p:sp>
        <p:nvSpPr>
          <p:cNvPr id="11" name="Num"/>
          <p:cNvSpPr/>
          <p:nvPr/>
        </p:nvSpPr>
        <p:spPr>
          <a:xfrm>
            <a:off x="777240" y="2543080"/>
            <a:ext cx="914400" cy="69000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02</a:t>
            </a:r>
            <a:endParaRPr lang="en-US" sz="3000" dirty="0"/>
          </a:p>
        </p:txBody>
      </p:sp>
      <p:sp>
        <p:nvSpPr>
          <p:cNvPr id="12" name="Title"/>
          <p:cNvSpPr/>
          <p:nvPr/>
        </p:nvSpPr>
        <p:spPr>
          <a:xfrm>
            <a:off x="1828800" y="2543080"/>
            <a:ext cx="4023360" cy="690000"/>
          </a:xfrm>
          <a:prstGeom prst="rect">
            <a:avLst/>
          </a:prstGeom>
          <a:noFill/>
          <a:ln/>
        </p:spPr>
        <p:txBody>
          <a:bodyPr wrap="square" lIns="0" tIns="0" rIns="0" bIns="0" rtlCol="0" anchor="ctr"/>
          <a:lstStyle/>
          <a:p>
            <a:pPr marL="0" indent="0" algn="l">
              <a:buNone/>
            </a:pPr>
            <a:r>
              <a:rPr lang="en-US" sz="1700" b="1">
                <a:solidFill>
                  <a:srgbClr val="16233B"/>
                </a:solidFill>
                <a:latin typeface="Georgia" pitchFamily="34" charset="0"/>
                <a:ea typeface="Georgia" pitchFamily="34" charset="-122"/>
                <a:cs typeface="Georgia" pitchFamily="34" charset="-120"/>
              </a:rPr>
              <a:t>Integrate engagement data</a:t>
            </a:r>
            <a:endParaRPr lang="en-US" sz="1700" dirty="0"/>
          </a:p>
        </p:txBody>
      </p:sp>
      <p:sp>
        <p:nvSpPr>
          <p:cNvPr id="13" name="Desc"/>
          <p:cNvSpPr/>
          <p:nvPr/>
        </p:nvSpPr>
        <p:spPr>
          <a:xfrm>
            <a:off x="5943600" y="2543080"/>
            <a:ext cx="5532120" cy="6900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Integrate </a:t>
            </a:r>
            <a:r>
              <a:rPr lang="en-US" sz="1300" dirty="0">
                <a:solidFill>
                  <a:srgbClr val="5C6B85"/>
                </a:solidFill>
                <a:latin typeface="Calibri" pitchFamily="34" charset="0"/>
                <a:ea typeface="Calibri" pitchFamily="34" charset="-122"/>
                <a:cs typeface="Calibri" pitchFamily="34" charset="-120"/>
              </a:rPr>
              <a:t>website </a:t>
            </a:r>
            <a:r>
              <a:rPr lang="en-US" sz="1300">
                <a:solidFill>
                  <a:srgbClr val="5C6B85"/>
                </a:solidFill>
                <a:latin typeface="Calibri" pitchFamily="34" charset="0"/>
                <a:ea typeface="Calibri" pitchFamily="34" charset="-122"/>
                <a:cs typeface="Calibri" pitchFamily="34" charset="-120"/>
              </a:rPr>
              <a:t>browsing and customer engagement data</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14" name="Shape"/>
          <p:cNvSpPr/>
          <p:nvPr/>
        </p:nvSpPr>
        <p:spPr>
          <a:xfrm>
            <a:off x="548640" y="3303080"/>
            <a:ext cx="11091672" cy="690000"/>
          </a:xfrm>
          <a:prstGeom prst="rect">
            <a:avLst/>
          </a:prstGeom>
          <a:solidFill>
            <a:srgbClr val="E7EEFB"/>
          </a:solidFill>
          <a:ln w="12700">
            <a:solidFill>
              <a:srgbClr val="D4DCEA"/>
            </a:solidFill>
            <a:prstDash val="solid"/>
          </a:ln>
        </p:spPr>
        <p:txBody>
          <a:bodyPr/>
          <a:lstStyle/>
          <a:p>
            <a:endParaRPr lang="en-US"/>
          </a:p>
        </p:txBody>
      </p:sp>
      <p:sp>
        <p:nvSpPr>
          <p:cNvPr id="15" name="Bar"/>
          <p:cNvSpPr/>
          <p:nvPr/>
        </p:nvSpPr>
        <p:spPr>
          <a:xfrm>
            <a:off x="548640" y="3303080"/>
            <a:ext cx="73152" cy="690000"/>
          </a:xfrm>
          <a:prstGeom prst="rect">
            <a:avLst/>
          </a:prstGeom>
          <a:solidFill>
            <a:srgbClr val="1F52D6"/>
          </a:solidFill>
          <a:ln/>
        </p:spPr>
        <p:txBody>
          <a:bodyPr/>
          <a:lstStyle/>
          <a:p>
            <a:endParaRPr lang="en-US"/>
          </a:p>
        </p:txBody>
      </p:sp>
      <p:sp>
        <p:nvSpPr>
          <p:cNvPr id="16" name="Num"/>
          <p:cNvSpPr/>
          <p:nvPr/>
        </p:nvSpPr>
        <p:spPr>
          <a:xfrm>
            <a:off x="777240" y="3303080"/>
            <a:ext cx="914400" cy="69000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03</a:t>
            </a:r>
            <a:endParaRPr lang="en-US" sz="3000" dirty="0"/>
          </a:p>
        </p:txBody>
      </p:sp>
      <p:sp>
        <p:nvSpPr>
          <p:cNvPr id="17" name="Title"/>
          <p:cNvSpPr/>
          <p:nvPr/>
        </p:nvSpPr>
        <p:spPr>
          <a:xfrm>
            <a:off x="1828800" y="3303080"/>
            <a:ext cx="4023360" cy="690000"/>
          </a:xfrm>
          <a:prstGeom prst="rect">
            <a:avLst/>
          </a:prstGeom>
          <a:noFill/>
          <a:ln/>
        </p:spPr>
        <p:txBody>
          <a:bodyPr wrap="square" lIns="0" tIns="0" rIns="0" bIns="0" rtlCol="0" anchor="ctr"/>
          <a:lstStyle/>
          <a:p>
            <a:pPr marL="0" indent="0" algn="l">
              <a:buNone/>
            </a:pPr>
            <a:r>
              <a:rPr lang="en-US" sz="1700" b="1">
                <a:solidFill>
                  <a:srgbClr val="16233B"/>
                </a:solidFill>
                <a:latin typeface="Georgia" pitchFamily="34" charset="0"/>
                <a:ea typeface="Georgia" pitchFamily="34" charset="-122"/>
                <a:cs typeface="Georgia" pitchFamily="34" charset="-120"/>
              </a:rPr>
              <a:t>Enable </a:t>
            </a:r>
            <a:r>
              <a:rPr lang="en-US" sz="1700" b="1" dirty="0">
                <a:solidFill>
                  <a:srgbClr val="16233B"/>
                </a:solidFill>
                <a:latin typeface="Georgia" pitchFamily="34" charset="0"/>
                <a:ea typeface="Georgia" pitchFamily="34" charset="-122"/>
                <a:cs typeface="Georgia" pitchFamily="34" charset="-120"/>
              </a:rPr>
              <a:t>real-time </a:t>
            </a:r>
            <a:r>
              <a:rPr lang="en-US" sz="1700" b="1">
                <a:solidFill>
                  <a:srgbClr val="16233B"/>
                </a:solidFill>
                <a:latin typeface="Georgia" pitchFamily="34" charset="0"/>
                <a:ea typeface="Georgia" pitchFamily="34" charset="-122"/>
                <a:cs typeface="Georgia" pitchFamily="34" charset="-120"/>
              </a:rPr>
              <a:t>predictions</a:t>
            </a:r>
            <a:endParaRPr lang="en-US" sz="1700" dirty="0"/>
          </a:p>
        </p:txBody>
      </p:sp>
      <p:sp>
        <p:nvSpPr>
          <p:cNvPr id="18" name="Desc"/>
          <p:cNvSpPr/>
          <p:nvPr/>
        </p:nvSpPr>
        <p:spPr>
          <a:xfrm>
            <a:off x="5943600" y="3303080"/>
            <a:ext cx="5532120" cy="6900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Deploy the model to generate real-time churn predictions</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19" name="Shape"/>
          <p:cNvSpPr/>
          <p:nvPr/>
        </p:nvSpPr>
        <p:spPr>
          <a:xfrm>
            <a:off x="548640" y="4063080"/>
            <a:ext cx="11091672" cy="690000"/>
          </a:xfrm>
          <a:prstGeom prst="rect">
            <a:avLst/>
          </a:prstGeom>
          <a:solidFill>
            <a:srgbClr val="F2F5FB"/>
          </a:solidFill>
          <a:ln w="12700">
            <a:solidFill>
              <a:srgbClr val="D4DCEA"/>
            </a:solidFill>
            <a:prstDash val="solid"/>
          </a:ln>
        </p:spPr>
        <p:txBody>
          <a:bodyPr/>
          <a:lstStyle/>
          <a:p>
            <a:endParaRPr lang="en-US"/>
          </a:p>
        </p:txBody>
      </p:sp>
      <p:sp>
        <p:nvSpPr>
          <p:cNvPr id="20" name="Bar"/>
          <p:cNvSpPr/>
          <p:nvPr/>
        </p:nvSpPr>
        <p:spPr>
          <a:xfrm>
            <a:off x="548640" y="4063080"/>
            <a:ext cx="73152" cy="690000"/>
          </a:xfrm>
          <a:prstGeom prst="rect">
            <a:avLst/>
          </a:prstGeom>
          <a:solidFill>
            <a:srgbClr val="1F52D6"/>
          </a:solidFill>
          <a:ln/>
        </p:spPr>
        <p:txBody>
          <a:bodyPr/>
          <a:lstStyle/>
          <a:p>
            <a:endParaRPr lang="en-US"/>
          </a:p>
        </p:txBody>
      </p:sp>
      <p:sp>
        <p:nvSpPr>
          <p:cNvPr id="21" name="Num"/>
          <p:cNvSpPr/>
          <p:nvPr/>
        </p:nvSpPr>
        <p:spPr>
          <a:xfrm>
            <a:off x="777240" y="4063080"/>
            <a:ext cx="914400" cy="69000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04</a:t>
            </a:r>
            <a:endParaRPr lang="en-US" sz="3000" dirty="0"/>
          </a:p>
        </p:txBody>
      </p:sp>
      <p:sp>
        <p:nvSpPr>
          <p:cNvPr id="22" name="Title"/>
          <p:cNvSpPr/>
          <p:nvPr/>
        </p:nvSpPr>
        <p:spPr>
          <a:xfrm>
            <a:off x="1828800" y="4063080"/>
            <a:ext cx="4023360" cy="690000"/>
          </a:xfrm>
          <a:prstGeom prst="rect">
            <a:avLst/>
          </a:prstGeom>
          <a:noFill/>
          <a:ln/>
        </p:spPr>
        <p:txBody>
          <a:bodyPr wrap="square" lIns="0" tIns="0" rIns="0" bIns="0" rtlCol="0" anchor="ctr"/>
          <a:lstStyle/>
          <a:p>
            <a:pPr marL="0" indent="0" algn="l">
              <a:buNone/>
            </a:pPr>
            <a:r>
              <a:rPr lang="en-US" sz="1700" b="1" dirty="0">
                <a:solidFill>
                  <a:srgbClr val="16233B"/>
                </a:solidFill>
                <a:latin typeface="Georgia" pitchFamily="34" charset="0"/>
                <a:ea typeface="Georgia" pitchFamily="34" charset="-122"/>
                <a:cs typeface="Georgia" pitchFamily="34" charset="-120"/>
              </a:rPr>
              <a:t>Explore </a:t>
            </a:r>
            <a:r>
              <a:rPr lang="en-US" sz="1700" b="1">
                <a:solidFill>
                  <a:srgbClr val="16233B"/>
                </a:solidFill>
                <a:latin typeface="Georgia" pitchFamily="34" charset="0"/>
                <a:ea typeface="Georgia" pitchFamily="34" charset="-122"/>
                <a:cs typeface="Georgia" pitchFamily="34" charset="-120"/>
              </a:rPr>
              <a:t>advanced ML</a:t>
            </a:r>
            <a:endParaRPr lang="en-US" sz="1700" dirty="0"/>
          </a:p>
        </p:txBody>
      </p:sp>
      <p:sp>
        <p:nvSpPr>
          <p:cNvPr id="23" name="Desc"/>
          <p:cNvSpPr/>
          <p:nvPr/>
        </p:nvSpPr>
        <p:spPr>
          <a:xfrm>
            <a:off x="5943600" y="4063080"/>
            <a:ext cx="5532120" cy="6900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Evaluate advanced machine learning techniques, including deep learning</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24" name="Shape"/>
          <p:cNvSpPr/>
          <p:nvPr/>
        </p:nvSpPr>
        <p:spPr>
          <a:xfrm>
            <a:off x="548640" y="4823080"/>
            <a:ext cx="11091672" cy="690000"/>
          </a:xfrm>
          <a:prstGeom prst="rect">
            <a:avLst/>
          </a:prstGeom>
          <a:solidFill>
            <a:srgbClr val="E7EEFB"/>
          </a:solidFill>
          <a:ln w="12700">
            <a:solidFill>
              <a:srgbClr val="D4DCEA"/>
            </a:solidFill>
            <a:prstDash val="solid"/>
          </a:ln>
        </p:spPr>
        <p:txBody>
          <a:bodyPr/>
          <a:lstStyle/>
          <a:p>
            <a:endParaRPr lang="en-US"/>
          </a:p>
        </p:txBody>
      </p:sp>
      <p:sp>
        <p:nvSpPr>
          <p:cNvPr id="25" name="Bar"/>
          <p:cNvSpPr/>
          <p:nvPr/>
        </p:nvSpPr>
        <p:spPr>
          <a:xfrm>
            <a:off x="548640" y="4823080"/>
            <a:ext cx="73152" cy="690000"/>
          </a:xfrm>
          <a:prstGeom prst="rect">
            <a:avLst/>
          </a:prstGeom>
          <a:solidFill>
            <a:srgbClr val="1F52D6"/>
          </a:solidFill>
          <a:ln/>
        </p:spPr>
        <p:txBody>
          <a:bodyPr/>
          <a:lstStyle/>
          <a:p>
            <a:endParaRPr lang="en-US"/>
          </a:p>
        </p:txBody>
      </p:sp>
      <p:sp>
        <p:nvSpPr>
          <p:cNvPr id="26" name="Num"/>
          <p:cNvSpPr/>
          <p:nvPr/>
        </p:nvSpPr>
        <p:spPr>
          <a:xfrm>
            <a:off x="777240" y="4823080"/>
            <a:ext cx="914400" cy="690000"/>
          </a:xfrm>
          <a:prstGeom prst="rect">
            <a:avLst/>
          </a:prstGeom>
          <a:noFill/>
          <a:ln/>
        </p:spPr>
        <p:txBody>
          <a:bodyPr wrap="square" lIns="0" tIns="0" rIns="0" bIns="0" rtlCol="0" anchor="ctr"/>
          <a:lstStyle/>
          <a:p>
            <a:pPr marL="0" indent="0" algn="l">
              <a:buNone/>
            </a:pPr>
            <a:r>
              <a:rPr lang="en-US" sz="3000" b="1" dirty="0">
                <a:solidFill>
                  <a:srgbClr val="1F52D6"/>
                </a:solidFill>
                <a:latin typeface="Georgia" pitchFamily="34" charset="0"/>
                <a:ea typeface="Georgia" pitchFamily="34" charset="-122"/>
                <a:cs typeface="Georgia" pitchFamily="34" charset="-120"/>
              </a:rPr>
              <a:t>05</a:t>
            </a:r>
            <a:endParaRPr lang="en-US" sz="3000" dirty="0"/>
          </a:p>
        </p:txBody>
      </p:sp>
      <p:sp>
        <p:nvSpPr>
          <p:cNvPr id="27" name="Title"/>
          <p:cNvSpPr/>
          <p:nvPr/>
        </p:nvSpPr>
        <p:spPr>
          <a:xfrm>
            <a:off x="1828800" y="4823080"/>
            <a:ext cx="4023360" cy="690000"/>
          </a:xfrm>
          <a:prstGeom prst="rect">
            <a:avLst/>
          </a:prstGeom>
          <a:noFill/>
          <a:ln/>
        </p:spPr>
        <p:txBody>
          <a:bodyPr wrap="square" lIns="0" tIns="0" rIns="0" bIns="0" rtlCol="0" anchor="ctr"/>
          <a:lstStyle/>
          <a:p>
            <a:pPr marL="0" indent="0" algn="l">
              <a:buNone/>
            </a:pPr>
            <a:r>
              <a:rPr lang="en-US" sz="1700" b="1">
                <a:solidFill>
                  <a:srgbClr val="16233B"/>
                </a:solidFill>
                <a:latin typeface="Georgia" pitchFamily="34" charset="0"/>
                <a:ea typeface="Georgia" pitchFamily="34" charset="-122"/>
                <a:cs typeface="Georgia" pitchFamily="34" charset="-120"/>
              </a:rPr>
              <a:t>Build </a:t>
            </a:r>
            <a:r>
              <a:rPr lang="en-US" sz="1700" b="1" dirty="0">
                <a:solidFill>
                  <a:srgbClr val="16233B"/>
                </a:solidFill>
                <a:latin typeface="Georgia" pitchFamily="34" charset="0"/>
                <a:ea typeface="Georgia" pitchFamily="34" charset="-122"/>
                <a:cs typeface="Georgia" pitchFamily="34" charset="-120"/>
              </a:rPr>
              <a:t>a </a:t>
            </a:r>
            <a:r>
              <a:rPr lang="en-US" sz="1700" b="1">
                <a:solidFill>
                  <a:srgbClr val="16233B"/>
                </a:solidFill>
                <a:latin typeface="Georgia" pitchFamily="34" charset="0"/>
                <a:ea typeface="Georgia" pitchFamily="34" charset="-122"/>
                <a:cs typeface="Georgia" pitchFamily="34" charset="-120"/>
              </a:rPr>
              <a:t>leadership</a:t>
            </a:r>
            <a:r>
              <a:rPr lang="en-US" sz="1700" b="1" dirty="0">
                <a:solidFill>
                  <a:srgbClr val="16233B"/>
                </a:solidFill>
                <a:latin typeface="Georgia" pitchFamily="34" charset="0"/>
                <a:ea typeface="Georgia" pitchFamily="34" charset="-122"/>
                <a:cs typeface="Georgia" pitchFamily="34" charset="-120"/>
              </a:rPr>
              <a:t> dashboard</a:t>
            </a:r>
            <a:endParaRPr lang="en-US" sz="1700" dirty="0"/>
          </a:p>
        </p:txBody>
      </p:sp>
      <p:sp>
        <p:nvSpPr>
          <p:cNvPr id="28" name="Desc"/>
          <p:cNvSpPr/>
          <p:nvPr/>
        </p:nvSpPr>
        <p:spPr>
          <a:xfrm>
            <a:off x="5943600" y="4823080"/>
            <a:ext cx="5532120" cy="6900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Build an interactive </a:t>
            </a:r>
            <a:r>
              <a:rPr lang="en-US" sz="1300" dirty="0">
                <a:solidFill>
                  <a:srgbClr val="5C6B85"/>
                </a:solidFill>
                <a:latin typeface="Calibri" pitchFamily="34" charset="0"/>
                <a:ea typeface="Calibri" pitchFamily="34" charset="-122"/>
                <a:cs typeface="Calibri" pitchFamily="34" charset="-120"/>
              </a:rPr>
              <a:t>business </a:t>
            </a:r>
            <a:r>
              <a:rPr lang="en-US" sz="1300">
                <a:solidFill>
                  <a:srgbClr val="5C6B85"/>
                </a:solidFill>
                <a:latin typeface="Calibri" pitchFamily="34" charset="0"/>
                <a:ea typeface="Calibri" pitchFamily="34" charset="-122"/>
                <a:cs typeface="Calibri" pitchFamily="34" charset="-120"/>
              </a:rPr>
              <a:t>dashboard for leadership</a:t>
            </a:r>
            <a:r>
              <a:rPr lang="en-US" sz="1300" dirty="0">
                <a:solidFill>
                  <a:srgbClr val="5C6B85"/>
                </a:solidFill>
                <a:latin typeface="Calibri" pitchFamily="34" charset="0"/>
                <a:ea typeface="Calibri" pitchFamily="34" charset="-122"/>
                <a:cs typeface="Calibri" pitchFamily="34" charset="-120"/>
              </a:rPr>
              <a:t>.</a:t>
            </a:r>
            <a:endParaRPr lang="en-US" sz="1300" dirty="0"/>
          </a:p>
        </p:txBody>
      </p:sp>
      <p:sp>
        <p:nvSpPr>
          <p:cNvPr id="29" name="Shape"/>
          <p:cNvSpPr/>
          <p:nvPr/>
        </p:nvSpPr>
        <p:spPr>
          <a:xfrm>
            <a:off x="548640" y="5583080"/>
            <a:ext cx="11091672" cy="690000"/>
          </a:xfrm>
          <a:prstGeom prst="rect">
            <a:avLst/>
          </a:prstGeom>
          <a:solidFill>
            <a:srgbClr val="F2F5FB"/>
          </a:solidFill>
          <a:ln w="12700">
            <a:solidFill>
              <a:srgbClr val="D4DCEA"/>
            </a:solidFill>
            <a:prstDash val="solid"/>
          </a:ln>
        </p:spPr>
        <p:txBody>
          <a:bodyPr/>
          <a:lstStyle/>
          <a:p>
            <a:endParaRPr lang="en-US"/>
          </a:p>
        </p:txBody>
      </p:sp>
      <p:sp>
        <p:nvSpPr>
          <p:cNvPr id="30" name="Bar"/>
          <p:cNvSpPr/>
          <p:nvPr/>
        </p:nvSpPr>
        <p:spPr>
          <a:xfrm>
            <a:off x="548640" y="5583080"/>
            <a:ext cx="73152" cy="690000"/>
          </a:xfrm>
          <a:prstGeom prst="rect">
            <a:avLst/>
          </a:prstGeom>
          <a:solidFill>
            <a:srgbClr val="1F52D6"/>
          </a:solidFill>
          <a:ln/>
        </p:spPr>
        <p:txBody>
          <a:bodyPr/>
          <a:lstStyle/>
          <a:p>
            <a:endParaRPr lang="en-US"/>
          </a:p>
        </p:txBody>
      </p:sp>
      <p:sp>
        <p:nvSpPr>
          <p:cNvPr id="31" name="Num"/>
          <p:cNvSpPr/>
          <p:nvPr/>
        </p:nvSpPr>
        <p:spPr>
          <a:xfrm>
            <a:off x="777240" y="5583080"/>
            <a:ext cx="914400" cy="690000"/>
          </a:xfrm>
          <a:prstGeom prst="rect">
            <a:avLst/>
          </a:prstGeom>
          <a:noFill/>
          <a:ln/>
        </p:spPr>
        <p:txBody>
          <a:bodyPr wrap="square" lIns="0" tIns="0" rIns="0" bIns="0" rtlCol="0" anchor="ctr"/>
          <a:lstStyle/>
          <a:p>
            <a:pPr marL="0" indent="0" algn="l">
              <a:buNone/>
            </a:pPr>
            <a:r>
              <a:rPr lang="en-US" sz="3000" b="1">
                <a:solidFill>
                  <a:srgbClr val="1F52D6"/>
                </a:solidFill>
                <a:latin typeface="Georgia" pitchFamily="34" charset="0"/>
                <a:ea typeface="Georgia" pitchFamily="34" charset="-122"/>
                <a:cs typeface="Georgia" pitchFamily="34" charset="-120"/>
              </a:rPr>
              <a:t>06</a:t>
            </a:r>
            <a:endParaRPr lang="en-US" sz="3000"/>
          </a:p>
        </p:txBody>
      </p:sp>
      <p:sp>
        <p:nvSpPr>
          <p:cNvPr id="32" name="Title"/>
          <p:cNvSpPr/>
          <p:nvPr/>
        </p:nvSpPr>
        <p:spPr>
          <a:xfrm>
            <a:off x="1828800" y="5583080"/>
            <a:ext cx="4023360" cy="690000"/>
          </a:xfrm>
          <a:prstGeom prst="rect">
            <a:avLst/>
          </a:prstGeom>
          <a:noFill/>
          <a:ln/>
        </p:spPr>
        <p:txBody>
          <a:bodyPr wrap="square" lIns="0" tIns="0" rIns="0" bIns="0" rtlCol="0" anchor="ctr"/>
          <a:lstStyle/>
          <a:p>
            <a:pPr marL="0" indent="0" algn="l">
              <a:buNone/>
            </a:pPr>
            <a:r>
              <a:rPr lang="en-US" sz="1700" b="1">
                <a:solidFill>
                  <a:srgbClr val="16233B"/>
                </a:solidFill>
                <a:latin typeface="Georgia" pitchFamily="34" charset="0"/>
                <a:ea typeface="Georgia" pitchFamily="34" charset="-122"/>
                <a:cs typeface="Georgia" pitchFamily="34" charset="-120"/>
              </a:rPr>
              <a:t>Schedule model retraining</a:t>
            </a:r>
            <a:endParaRPr lang="en-US" sz="1700"/>
          </a:p>
        </p:txBody>
      </p:sp>
      <p:sp>
        <p:nvSpPr>
          <p:cNvPr id="33" name="Desc"/>
          <p:cNvSpPr/>
          <p:nvPr/>
        </p:nvSpPr>
        <p:spPr>
          <a:xfrm>
            <a:off x="5943600" y="5583080"/>
            <a:ext cx="5532120" cy="690000"/>
          </a:xfrm>
          <a:prstGeom prst="rect">
            <a:avLst/>
          </a:prstGeom>
          <a:noFill/>
          <a:ln/>
        </p:spPr>
        <p:txBody>
          <a:bodyPr wrap="square" lIns="0" tIns="0" rIns="0" bIns="0" rtlCol="0" anchor="ctr"/>
          <a:lstStyle/>
          <a:p>
            <a:pPr marL="0" indent="0" algn="l">
              <a:lnSpc>
                <a:spcPct val="105000"/>
              </a:lnSpc>
              <a:buNone/>
            </a:pPr>
            <a:r>
              <a:rPr lang="en-US" sz="1300">
                <a:solidFill>
                  <a:srgbClr val="5C6B85"/>
                </a:solidFill>
                <a:latin typeface="Calibri" pitchFamily="34" charset="0"/>
                <a:ea typeface="Calibri" pitchFamily="34" charset="-122"/>
                <a:cs typeface="Calibri" pitchFamily="34" charset="-120"/>
              </a:rPr>
              <a:t>Establish a scheduled retraining process so performance holds as customer behavior evolves.</a:t>
            </a:r>
            <a:endParaRPr lang="en-US" sz="1300"/>
          </a:p>
        </p:txBody>
      </p:sp>
      <p:sp>
        <p:nvSpPr>
          <p:cNvPr id="34" name="Text 27"/>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35" name="Text 28"/>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23</a:t>
            </a:r>
            <a:endParaRPr 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p:nvPr/>
        </p:nvSpPr>
        <p:spPr>
          <a:xfrm>
            <a:off x="548640" y="320040"/>
            <a:ext cx="10058400" cy="292608"/>
          </a:xfrm>
          <a:prstGeom prst="rect">
            <a:avLst/>
          </a:prstGeom>
          <a:noFill/>
          <a:ln/>
        </p:spPr>
        <p:txBody>
          <a:bodyPr wrap="square" lIns="0" tIns="0" rIns="0" bIns="0" rtlCol="0" anchor="ctr"/>
          <a:lstStyle/>
          <a:p>
            <a:pPr marL="0" indent="0" algn="l">
              <a:buNone/>
            </a:pPr>
            <a:r>
              <a:rPr lang="en-US" sz="1250" b="1" kern="0" spc="300">
                <a:solidFill>
                  <a:srgbClr val="1F52D6"/>
                </a:solidFill>
                <a:latin typeface="Calibri" pitchFamily="34" charset="0"/>
                <a:ea typeface="Calibri" pitchFamily="34" charset="-122"/>
                <a:cs typeface="Calibri" pitchFamily="34" charset="-120"/>
              </a:rPr>
              <a:t>ANTICIPATED QUESTIONS</a:t>
            </a:r>
            <a:endParaRPr lang="en-US" sz="1250"/>
          </a:p>
        </p:txBody>
      </p:sp>
      <p:sp>
        <p:nvSpPr>
          <p:cNvPr id="3" name="Title"/>
          <p:cNvSpPr/>
          <p:nvPr/>
        </p:nvSpPr>
        <p:spPr>
          <a:xfrm>
            <a:off x="548640" y="566928"/>
            <a:ext cx="11064240" cy="822960"/>
          </a:xfrm>
          <a:prstGeom prst="rect">
            <a:avLst/>
          </a:prstGeom>
          <a:noFill/>
          <a:ln/>
        </p:spPr>
        <p:txBody>
          <a:bodyPr wrap="square" lIns="0" tIns="0" rIns="0" bIns="0" rtlCol="0"/>
          <a:lstStyle/>
          <a:p>
            <a:pPr marL="0" indent="0" algn="l">
              <a:buNone/>
            </a:pPr>
            <a:r>
              <a:rPr lang="en-US" sz="3000" b="1">
                <a:solidFill>
                  <a:srgbClr val="16233B"/>
                </a:solidFill>
                <a:latin typeface="Georgia" pitchFamily="34" charset="0"/>
                <a:ea typeface="Georgia" pitchFamily="34" charset="-122"/>
                <a:cs typeface="Georgia" pitchFamily="34" charset="-120"/>
              </a:rPr>
              <a:t>Questions we anticipate</a:t>
            </a:r>
            <a:endParaRPr lang="en-US" sz="3000"/>
          </a:p>
        </p:txBody>
      </p:sp>
      <p:sp>
        <p:nvSpPr>
          <p:cNvPr id="4" name="Card1 BG"/>
          <p:cNvSpPr/>
          <p:nvPr/>
        </p:nvSpPr>
        <p:spPr>
          <a:xfrm>
            <a:off x="54864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5" name="Card1 Accent"/>
          <p:cNvSpPr/>
          <p:nvPr/>
        </p:nvSpPr>
        <p:spPr>
          <a:xfrm>
            <a:off x="548640" y="1783080"/>
            <a:ext cx="91440" cy="1965960"/>
          </a:xfrm>
          <a:prstGeom prst="rect">
            <a:avLst/>
          </a:prstGeom>
          <a:solidFill>
            <a:srgbClr val="1F52D6"/>
          </a:solidFill>
          <a:ln/>
        </p:spPr>
        <p:txBody>
          <a:bodyPr/>
          <a:lstStyle/>
          <a:p>
            <a:endParaRPr lang="en-US"/>
          </a:p>
        </p:txBody>
      </p:sp>
      <p:sp>
        <p:nvSpPr>
          <p:cNvPr id="6" name="Card1 Q"/>
          <p:cNvSpPr/>
          <p:nvPr/>
        </p:nvSpPr>
        <p:spPr>
          <a:xfrm>
            <a:off x="868680" y="1965960"/>
            <a:ext cx="4800600" cy="502920"/>
          </a:xfrm>
          <a:prstGeom prst="rect">
            <a:avLst/>
          </a:prstGeom>
          <a:noFill/>
          <a:ln/>
        </p:spPr>
        <p:txBody>
          <a:bodyPr wrap="square" lIns="0" tIns="0" rIns="0" bIns="0" rtlCol="0" anchor="t"/>
          <a:lstStyle/>
          <a:p>
            <a:pPr marL="0" indent="0" algn="l">
              <a:buNone/>
            </a:pPr>
            <a:r>
              <a:rPr lang="en-US" sz="1500" b="1">
                <a:solidFill>
                  <a:srgbClr val="16233B"/>
                </a:solidFill>
                <a:latin typeface="Georgia" pitchFamily="34" charset="0"/>
                <a:ea typeface="Georgia" pitchFamily="34" charset="-122"/>
                <a:cs typeface="Georgia" pitchFamily="34" charset="-120"/>
              </a:rPr>
              <a:t>Why wasn’t the model with the highest accuracy selected?</a:t>
            </a:r>
            <a:endParaRPr lang="en-US" sz="1500"/>
          </a:p>
        </p:txBody>
      </p:sp>
      <p:sp>
        <p:nvSpPr>
          <p:cNvPr id="7" name="Card1 A"/>
          <p:cNvSpPr/>
          <p:nvPr/>
        </p:nvSpPr>
        <p:spPr>
          <a:xfrm>
            <a:off x="868680" y="2697480"/>
            <a:ext cx="4800600" cy="960120"/>
          </a:xfrm>
          <a:prstGeom prst="rect">
            <a:avLst/>
          </a:prstGeom>
          <a:noFill/>
          <a:ln/>
        </p:spPr>
        <p:txBody>
          <a:bodyPr wrap="square" lIns="0" tIns="0" rIns="0" bIns="0" rtlCol="0" anchor="t"/>
          <a:lstStyle/>
          <a:p>
            <a:pPr marL="0" indent="0" algn="l">
              <a:lnSpc>
                <a:spcPct val="104000"/>
              </a:lnSpc>
              <a:buNone/>
            </a:pPr>
            <a:r>
              <a:rPr lang="en-US" sz="1200">
                <a:solidFill>
                  <a:srgbClr val="5C6B85"/>
                </a:solidFill>
                <a:latin typeface="Calibri" pitchFamily="34" charset="0"/>
                <a:ea typeface="Calibri" pitchFamily="34" charset="-122"/>
                <a:cs typeface="Calibri" pitchFamily="34" charset="-120"/>
              </a:rPr>
              <a:t>Because retaining customers is the primary business objective. Recall was prioritized to identify as many at-risk customers as possible, even if overall accuracy was lower.</a:t>
            </a:r>
            <a:endParaRPr lang="en-US" sz="1200"/>
          </a:p>
        </p:txBody>
      </p:sp>
      <p:sp>
        <p:nvSpPr>
          <p:cNvPr id="8" name="Card2 BG"/>
          <p:cNvSpPr/>
          <p:nvPr/>
        </p:nvSpPr>
        <p:spPr>
          <a:xfrm>
            <a:off x="6309360" y="1783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9" name="Card2 Accent"/>
          <p:cNvSpPr/>
          <p:nvPr/>
        </p:nvSpPr>
        <p:spPr>
          <a:xfrm>
            <a:off x="6309360" y="1783080"/>
            <a:ext cx="91440" cy="1965960"/>
          </a:xfrm>
          <a:prstGeom prst="rect">
            <a:avLst/>
          </a:prstGeom>
          <a:solidFill>
            <a:srgbClr val="1F52D6"/>
          </a:solidFill>
          <a:ln/>
        </p:spPr>
        <p:txBody>
          <a:bodyPr/>
          <a:lstStyle/>
          <a:p>
            <a:endParaRPr lang="en-US"/>
          </a:p>
        </p:txBody>
      </p:sp>
      <p:sp>
        <p:nvSpPr>
          <p:cNvPr id="10" name="Card2 Q"/>
          <p:cNvSpPr/>
          <p:nvPr/>
        </p:nvSpPr>
        <p:spPr>
          <a:xfrm>
            <a:off x="6629400" y="1965960"/>
            <a:ext cx="4800600" cy="502920"/>
          </a:xfrm>
          <a:prstGeom prst="rect">
            <a:avLst/>
          </a:prstGeom>
          <a:noFill/>
          <a:ln/>
        </p:spPr>
        <p:txBody>
          <a:bodyPr wrap="square" lIns="0" tIns="0" rIns="0" bIns="0" rtlCol="0" anchor="t"/>
          <a:lstStyle/>
          <a:p>
            <a:pPr marL="0" indent="0" algn="l">
              <a:buNone/>
            </a:pPr>
            <a:r>
              <a:rPr lang="en-US" sz="1500" b="1">
                <a:solidFill>
                  <a:srgbClr val="16233B"/>
                </a:solidFill>
                <a:latin typeface="Georgia" pitchFamily="34" charset="0"/>
                <a:ea typeface="Georgia" pitchFamily="34" charset="-122"/>
                <a:cs typeface="Georgia" pitchFamily="34" charset="-120"/>
              </a:rPr>
              <a:t>How often should the model be retrained?</a:t>
            </a:r>
            <a:endParaRPr lang="en-US" sz="1500"/>
          </a:p>
        </p:txBody>
      </p:sp>
      <p:sp>
        <p:nvSpPr>
          <p:cNvPr id="11" name="Card2 A"/>
          <p:cNvSpPr/>
          <p:nvPr/>
        </p:nvSpPr>
        <p:spPr>
          <a:xfrm>
            <a:off x="6629400" y="2697480"/>
            <a:ext cx="4800600" cy="960120"/>
          </a:xfrm>
          <a:prstGeom prst="rect">
            <a:avLst/>
          </a:prstGeom>
          <a:noFill/>
          <a:ln/>
        </p:spPr>
        <p:txBody>
          <a:bodyPr wrap="square" lIns="0" tIns="0" rIns="0" bIns="0" rtlCol="0" anchor="t"/>
          <a:lstStyle/>
          <a:p>
            <a:pPr marL="0" indent="0" algn="l">
              <a:lnSpc>
                <a:spcPct val="104000"/>
              </a:lnSpc>
              <a:buNone/>
            </a:pPr>
            <a:r>
              <a:rPr lang="en-US" sz="1200">
                <a:solidFill>
                  <a:srgbClr val="5C6B85"/>
                </a:solidFill>
                <a:latin typeface="Calibri" pitchFamily="34" charset="0"/>
                <a:ea typeface="Calibri" pitchFamily="34" charset="-122"/>
                <a:cs typeface="Calibri" pitchFamily="34" charset="-120"/>
              </a:rPr>
              <a:t>The model should be retrained quarterly or whenever significant changes in customer purchasing behavior are observed.</a:t>
            </a:r>
            <a:endParaRPr lang="en-US" sz="1200"/>
          </a:p>
        </p:txBody>
      </p:sp>
      <p:sp>
        <p:nvSpPr>
          <p:cNvPr id="12" name="Card3 BG"/>
          <p:cNvSpPr/>
          <p:nvPr/>
        </p:nvSpPr>
        <p:spPr>
          <a:xfrm>
            <a:off x="54864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3" name="Card3 Accent"/>
          <p:cNvSpPr/>
          <p:nvPr/>
        </p:nvSpPr>
        <p:spPr>
          <a:xfrm>
            <a:off x="548640" y="4069080"/>
            <a:ext cx="91440" cy="1965960"/>
          </a:xfrm>
          <a:prstGeom prst="rect">
            <a:avLst/>
          </a:prstGeom>
          <a:solidFill>
            <a:srgbClr val="1F52D6"/>
          </a:solidFill>
          <a:ln/>
        </p:spPr>
        <p:txBody>
          <a:bodyPr/>
          <a:lstStyle/>
          <a:p>
            <a:endParaRPr lang="en-US"/>
          </a:p>
        </p:txBody>
      </p:sp>
      <p:sp>
        <p:nvSpPr>
          <p:cNvPr id="14" name="Card3 Q"/>
          <p:cNvSpPr/>
          <p:nvPr/>
        </p:nvSpPr>
        <p:spPr>
          <a:xfrm>
            <a:off x="868680" y="4251960"/>
            <a:ext cx="4800600" cy="502920"/>
          </a:xfrm>
          <a:prstGeom prst="rect">
            <a:avLst/>
          </a:prstGeom>
          <a:noFill/>
          <a:ln/>
        </p:spPr>
        <p:txBody>
          <a:bodyPr wrap="square" lIns="0" tIns="0" rIns="0" bIns="0" rtlCol="0" anchor="t"/>
          <a:lstStyle/>
          <a:p>
            <a:pPr marL="0" indent="0" algn="l">
              <a:buNone/>
            </a:pPr>
            <a:r>
              <a:rPr lang="en-US" sz="1500" b="1">
                <a:solidFill>
                  <a:srgbClr val="16233B"/>
                </a:solidFill>
                <a:latin typeface="Georgia" pitchFamily="34" charset="0"/>
                <a:ea typeface="Georgia" pitchFamily="34" charset="-122"/>
                <a:cs typeface="Georgia" pitchFamily="34" charset="-120"/>
              </a:rPr>
              <a:t>How can this model support business decisions?</a:t>
            </a:r>
            <a:endParaRPr lang="en-US" sz="1500"/>
          </a:p>
        </p:txBody>
      </p:sp>
      <p:sp>
        <p:nvSpPr>
          <p:cNvPr id="15" name="Card3 A"/>
          <p:cNvSpPr/>
          <p:nvPr/>
        </p:nvSpPr>
        <p:spPr>
          <a:xfrm>
            <a:off x="868680" y="4983480"/>
            <a:ext cx="4800600" cy="960120"/>
          </a:xfrm>
          <a:prstGeom prst="rect">
            <a:avLst/>
          </a:prstGeom>
          <a:noFill/>
          <a:ln/>
        </p:spPr>
        <p:txBody>
          <a:bodyPr wrap="square" lIns="0" tIns="0" rIns="0" bIns="0" rtlCol="0" anchor="t"/>
          <a:lstStyle/>
          <a:p>
            <a:pPr marL="0" indent="0" algn="l">
              <a:lnSpc>
                <a:spcPct val="104000"/>
              </a:lnSpc>
              <a:buNone/>
            </a:pPr>
            <a:r>
              <a:rPr lang="en-US" sz="1200">
                <a:solidFill>
                  <a:srgbClr val="5C6B85"/>
                </a:solidFill>
                <a:latin typeface="Calibri" pitchFamily="34" charset="0"/>
                <a:ea typeface="Calibri" pitchFamily="34" charset="-122"/>
                <a:cs typeface="Calibri" pitchFamily="34" charset="-120"/>
              </a:rPr>
              <a:t>The predictions can help marketing teams prioritize retention campaigns, personalize promotions, improve customer engagement, and allocate resources more effectively.</a:t>
            </a:r>
            <a:endParaRPr lang="en-US" sz="1200"/>
          </a:p>
        </p:txBody>
      </p:sp>
      <p:sp>
        <p:nvSpPr>
          <p:cNvPr id="16" name="Card4 BG"/>
          <p:cNvSpPr/>
          <p:nvPr/>
        </p:nvSpPr>
        <p:spPr>
          <a:xfrm>
            <a:off x="6309360" y="4069080"/>
            <a:ext cx="5440680" cy="1965960"/>
          </a:xfrm>
          <a:prstGeom prst="rect">
            <a:avLst/>
          </a:prstGeom>
          <a:solidFill>
            <a:srgbClr val="F2F5FB"/>
          </a:solidFill>
          <a:ln w="12700">
            <a:solidFill>
              <a:srgbClr val="D4DCEA"/>
            </a:solidFill>
            <a:prstDash val="solid"/>
          </a:ln>
          <a:effectLst>
            <a:outerShdw blurRad="101600" dist="25400" dir="5400000" algn="bl" rotWithShape="0">
              <a:srgbClr val="8CA0C4">
                <a:alpha val="28000"/>
              </a:srgbClr>
            </a:outerShdw>
          </a:effectLst>
        </p:spPr>
        <p:txBody>
          <a:bodyPr/>
          <a:lstStyle/>
          <a:p>
            <a:endParaRPr lang="en-US"/>
          </a:p>
        </p:txBody>
      </p:sp>
      <p:sp>
        <p:nvSpPr>
          <p:cNvPr id="17" name="Card4 Accent"/>
          <p:cNvSpPr/>
          <p:nvPr/>
        </p:nvSpPr>
        <p:spPr>
          <a:xfrm>
            <a:off x="6309360" y="4069080"/>
            <a:ext cx="91440" cy="1965960"/>
          </a:xfrm>
          <a:prstGeom prst="rect">
            <a:avLst/>
          </a:prstGeom>
          <a:solidFill>
            <a:srgbClr val="1F52D6"/>
          </a:solidFill>
          <a:ln/>
        </p:spPr>
        <p:txBody>
          <a:bodyPr/>
          <a:lstStyle/>
          <a:p>
            <a:endParaRPr lang="en-US"/>
          </a:p>
        </p:txBody>
      </p:sp>
      <p:sp>
        <p:nvSpPr>
          <p:cNvPr id="18" name="Card4 Q"/>
          <p:cNvSpPr/>
          <p:nvPr/>
        </p:nvSpPr>
        <p:spPr>
          <a:xfrm>
            <a:off x="6629400" y="4213680"/>
            <a:ext cx="4800600" cy="335280"/>
          </a:xfrm>
          <a:prstGeom prst="rect">
            <a:avLst/>
          </a:prstGeom>
          <a:noFill/>
          <a:ln/>
        </p:spPr>
        <p:txBody>
          <a:bodyPr wrap="square" lIns="0" tIns="0" rIns="0" bIns="0" rtlCol="0" anchor="t"/>
          <a:lstStyle/>
          <a:p>
            <a:pPr marL="0" indent="0" algn="l">
              <a:buNone/>
            </a:pPr>
            <a:r>
              <a:rPr lang="en-US" sz="1500" b="1">
                <a:solidFill>
                  <a:srgbClr val="16233B"/>
                </a:solidFill>
                <a:latin typeface="Georgia" pitchFamily="34" charset="0"/>
                <a:ea typeface="Georgia" pitchFamily="34" charset="-122"/>
                <a:cs typeface="Georgia" pitchFamily="34" charset="-120"/>
              </a:rPr>
              <a:t>What additional data could improve performance?</a:t>
            </a:r>
            <a:endParaRPr lang="en-US" sz="1500"/>
          </a:p>
        </p:txBody>
      </p:sp>
      <p:sp>
        <p:nvSpPr>
          <p:cNvPr id="19" name="Card4 A List"/>
          <p:cNvSpPr/>
          <p:nvPr/>
        </p:nvSpPr>
        <p:spPr>
          <a:xfrm>
            <a:off x="6629400" y="4617720"/>
            <a:ext cx="4800600" cy="1329690"/>
          </a:xfrm>
          <a:prstGeom prst="rect">
            <a:avLst/>
          </a:prstGeom>
          <a:noFill/>
          <a:ln/>
        </p:spPr>
        <p:txBody>
          <a:bodyPr wrap="square" lIns="0" tIns="0" rIns="0" bIns="0" rtlCol="0" anchor="t"/>
          <a:lstStyle/>
          <a:p>
            <a:pPr marL="182880" indent="-182880" algn="l">
              <a:lnSpc>
                <a:spcPct val="100000"/>
              </a:lnSpc>
              <a:spcAft>
                <a:spcPts val="300"/>
              </a:spcAft>
              <a:buFont typeface="Arial" pitchFamily="34" charset="0"/>
              <a:buChar char="•"/>
            </a:pPr>
            <a:endParaRPr lang="en-US" sz="500" dirty="0">
              <a:solidFill>
                <a:srgbClr val="5C6B85"/>
              </a:solidFill>
              <a:latin typeface="Calibri" pitchFamily="34" charset="0"/>
              <a:ea typeface="Calibri" pitchFamily="34" charset="-122"/>
              <a:cs typeface="Calibri" pitchFamily="34" charset="-120"/>
            </a:endParaRPr>
          </a:p>
          <a:p>
            <a:pPr marL="182880" indent="-182880" algn="l">
              <a:lnSpc>
                <a:spcPct val="100000"/>
              </a:lnSpc>
              <a:spcAft>
                <a:spcPts val="300"/>
              </a:spcAft>
              <a:buFont typeface="Arial" pitchFamily="34" charset="0"/>
              <a:buChar char="•"/>
            </a:pPr>
            <a:r>
              <a:rPr lang="en-US" sz="1200" dirty="0">
                <a:solidFill>
                  <a:srgbClr val="5C6B85"/>
                </a:solidFill>
                <a:latin typeface="Calibri" pitchFamily="34" charset="0"/>
                <a:ea typeface="Calibri" pitchFamily="34" charset="-122"/>
                <a:cs typeface="Calibri" pitchFamily="34" charset="-120"/>
              </a:rPr>
              <a:t>Customer demographics</a:t>
            </a:r>
          </a:p>
          <a:p>
            <a:pPr marL="182880" indent="-182880" algn="l">
              <a:lnSpc>
                <a:spcPct val="100000"/>
              </a:lnSpc>
              <a:spcAft>
                <a:spcPts val="300"/>
              </a:spcAft>
              <a:buFont typeface="Arial" pitchFamily="34" charset="0"/>
              <a:buChar char="•"/>
            </a:pPr>
            <a:r>
              <a:rPr lang="en-US" sz="1200" dirty="0">
                <a:solidFill>
                  <a:srgbClr val="5C6B85"/>
                </a:solidFill>
                <a:latin typeface="Calibri" pitchFamily="34" charset="0"/>
                <a:ea typeface="Calibri" pitchFamily="34" charset="-122"/>
                <a:cs typeface="Calibri" pitchFamily="34" charset="-120"/>
              </a:rPr>
              <a:t>Website browsing behavior</a:t>
            </a:r>
          </a:p>
          <a:p>
            <a:pPr marL="182880" indent="-182880" algn="l">
              <a:lnSpc>
                <a:spcPct val="100000"/>
              </a:lnSpc>
              <a:spcAft>
                <a:spcPts val="300"/>
              </a:spcAft>
              <a:buFont typeface="Arial" pitchFamily="34" charset="0"/>
              <a:buChar char="•"/>
            </a:pPr>
            <a:r>
              <a:rPr lang="en-US" sz="1200" dirty="0">
                <a:solidFill>
                  <a:srgbClr val="5C6B85"/>
                </a:solidFill>
                <a:latin typeface="Calibri" pitchFamily="34" charset="0"/>
                <a:ea typeface="Calibri" pitchFamily="34" charset="-122"/>
                <a:cs typeface="Calibri" pitchFamily="34" charset="-120"/>
              </a:rPr>
              <a:t>Email campaign engagement</a:t>
            </a:r>
          </a:p>
          <a:p>
            <a:pPr marL="182880" indent="-182880" algn="l">
              <a:lnSpc>
                <a:spcPct val="100000"/>
              </a:lnSpc>
              <a:spcAft>
                <a:spcPts val="300"/>
              </a:spcAft>
              <a:buFont typeface="Arial" pitchFamily="34" charset="0"/>
              <a:buChar char="•"/>
            </a:pPr>
            <a:r>
              <a:rPr lang="en-US" sz="1200" dirty="0">
                <a:solidFill>
                  <a:srgbClr val="5C6B85"/>
                </a:solidFill>
                <a:latin typeface="Calibri" pitchFamily="34" charset="0"/>
                <a:ea typeface="Calibri" pitchFamily="34" charset="-122"/>
                <a:cs typeface="Calibri" pitchFamily="34" charset="-120"/>
              </a:rPr>
              <a:t>Loyalty program participation</a:t>
            </a:r>
          </a:p>
          <a:p>
            <a:pPr marL="182880" indent="-182880" algn="l">
              <a:lnSpc>
                <a:spcPct val="100000"/>
              </a:lnSpc>
              <a:spcAft>
                <a:spcPts val="300"/>
              </a:spcAft>
              <a:buFont typeface="Arial" pitchFamily="34" charset="0"/>
              <a:buChar char="•"/>
            </a:pPr>
            <a:r>
              <a:rPr lang="en-US" sz="1200" dirty="0">
                <a:solidFill>
                  <a:srgbClr val="5C6B85"/>
                </a:solidFill>
                <a:latin typeface="Calibri" pitchFamily="34" charset="0"/>
                <a:ea typeface="Calibri" pitchFamily="34" charset="-122"/>
                <a:cs typeface="Calibri" pitchFamily="34" charset="-120"/>
              </a:rPr>
              <a:t>Customer service interactions</a:t>
            </a:r>
          </a:p>
        </p:txBody>
      </p:sp>
      <p:sp>
        <p:nvSpPr>
          <p:cNvPr id="20" name="Footer"/>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00">
                <a:solidFill>
                  <a:srgbClr val="5C6B85"/>
                </a:solidFill>
                <a:latin typeface="Calibri" pitchFamily="34" charset="0"/>
                <a:ea typeface="Calibri" pitchFamily="34" charset="-122"/>
                <a:cs typeface="Calibri" pitchFamily="34" charset="-120"/>
              </a:rPr>
              <a:t>Using ML to Improve Customer Purchasing Decisions</a:t>
            </a:r>
            <a:endParaRPr lang="en-US" sz="900"/>
          </a:p>
        </p:txBody>
      </p:sp>
      <p:sp>
        <p:nvSpPr>
          <p:cNvPr id="21" name="Page Number"/>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900" b="1">
                <a:solidFill>
                  <a:srgbClr val="1F52D6"/>
                </a:solidFill>
                <a:latin typeface="Calibri" pitchFamily="34" charset="0"/>
                <a:ea typeface="Calibri" pitchFamily="34" charset="-122"/>
                <a:cs typeface="Calibri" pitchFamily="34" charset="-120"/>
              </a:rPr>
              <a:t>24</a:t>
            </a:r>
            <a:endParaRPr lang="en-US" sz="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Abstract network of cobalt blue nodes on a clean white background"/>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2148840"/>
            <a:ext cx="12191695" cy="3060000"/>
          </a:xfrm>
          <a:prstGeom prst="rect">
            <a:avLst/>
          </a:prstGeom>
          <a:solidFill>
            <a:srgbClr val="FFFFFF">
              <a:alpha val="82000"/>
            </a:srgbClr>
          </a:solidFill>
          <a:ln/>
        </p:spPr>
        <p:txBody>
          <a:bodyPr/>
          <a:lstStyle/>
          <a:p>
            <a:endParaRPr lang="en-US"/>
          </a:p>
        </p:txBody>
      </p:sp>
      <p:sp>
        <p:nvSpPr>
          <p:cNvPr id="4" name="Shape 1"/>
          <p:cNvSpPr/>
          <p:nvPr/>
        </p:nvSpPr>
        <p:spPr>
          <a:xfrm>
            <a:off x="5684368" y="2331720"/>
            <a:ext cx="822960" cy="82296"/>
          </a:xfrm>
          <a:prstGeom prst="rect">
            <a:avLst/>
          </a:prstGeom>
          <a:solidFill>
            <a:srgbClr val="F5A623"/>
          </a:solidFill>
          <a:ln/>
        </p:spPr>
        <p:txBody>
          <a:bodyPr/>
          <a:lstStyle/>
          <a:p>
            <a:endParaRPr lang="en-US"/>
          </a:p>
        </p:txBody>
      </p:sp>
      <p:sp>
        <p:nvSpPr>
          <p:cNvPr id="5" name="Text 2"/>
          <p:cNvSpPr/>
          <p:nvPr/>
        </p:nvSpPr>
        <p:spPr>
          <a:xfrm>
            <a:off x="0" y="2606040"/>
            <a:ext cx="12191695" cy="457200"/>
          </a:xfrm>
          <a:prstGeom prst="rect">
            <a:avLst/>
          </a:prstGeom>
          <a:noFill/>
          <a:ln/>
        </p:spPr>
        <p:txBody>
          <a:bodyPr wrap="square" lIns="0" tIns="0" rIns="0" bIns="0" rtlCol="0" anchor="ctr"/>
          <a:lstStyle/>
          <a:p>
            <a:pPr marL="0" indent="0" algn="ctr">
              <a:buNone/>
            </a:pPr>
            <a:r>
              <a:rPr lang="en-US" sz="1600" b="1" kern="0" spc="500" dirty="0">
                <a:solidFill>
                  <a:srgbClr val="1F52D6"/>
                </a:solidFill>
                <a:latin typeface="Calibri" pitchFamily="34" charset="0"/>
                <a:ea typeface="Calibri" pitchFamily="34" charset="-122"/>
                <a:cs typeface="Calibri" pitchFamily="34" charset="-120"/>
              </a:rPr>
              <a:t>THANK YOU</a:t>
            </a:r>
            <a:endParaRPr lang="en-US" sz="1600" dirty="0"/>
          </a:p>
        </p:txBody>
      </p:sp>
      <p:sp>
        <p:nvSpPr>
          <p:cNvPr id="6" name="Text 3"/>
          <p:cNvSpPr/>
          <p:nvPr/>
        </p:nvSpPr>
        <p:spPr>
          <a:xfrm>
            <a:off x="0" y="3063240"/>
            <a:ext cx="12191695" cy="1188720"/>
          </a:xfrm>
          <a:prstGeom prst="rect">
            <a:avLst/>
          </a:prstGeom>
          <a:noFill/>
          <a:ln/>
        </p:spPr>
        <p:txBody>
          <a:bodyPr wrap="square" lIns="0" tIns="0" rIns="0" bIns="0" rtlCol="0" anchor="ctr"/>
          <a:lstStyle/>
          <a:p>
            <a:pPr marL="0" indent="0" algn="ctr">
              <a:buNone/>
            </a:pPr>
            <a:r>
              <a:rPr lang="en-US" sz="4400" b="1">
                <a:solidFill>
                  <a:srgbClr val="16233B"/>
                </a:solidFill>
                <a:latin typeface="Georgia" pitchFamily="34" charset="0"/>
                <a:ea typeface="Georgia" pitchFamily="34" charset="-122"/>
                <a:cs typeface="Georgia" pitchFamily="34" charset="-120"/>
              </a:rPr>
              <a:t>Don’t just predict churn — prevent it.</a:t>
            </a:r>
            <a:endParaRPr lang="en-US" sz="6000" dirty="0"/>
          </a:p>
        </p:txBody>
      </p:sp>
      <p:sp>
        <p:nvSpPr>
          <p:cNvPr id="7" name="Text 4"/>
          <p:cNvSpPr/>
          <p:nvPr/>
        </p:nvSpPr>
        <p:spPr>
          <a:xfrm>
            <a:off x="0" y="4434840"/>
            <a:ext cx="12191695" cy="650000"/>
          </a:xfrm>
          <a:prstGeom prst="rect">
            <a:avLst/>
          </a:prstGeom>
          <a:noFill/>
          <a:ln/>
        </p:spPr>
        <p:txBody>
          <a:bodyPr wrap="square" lIns="0" tIns="0" rIns="0" bIns="0" rtlCol="0" anchor="ctr"/>
          <a:lstStyle/>
          <a:p>
            <a:pPr marL="0" indent="0" algn="ctr">
              <a:buNone/>
            </a:pPr>
            <a:r>
              <a:rPr lang="en-US" sz="1500" i="1">
                <a:solidFill>
                  <a:srgbClr val="5C6B85"/>
                </a:solidFill>
                <a:latin typeface="Calibri" pitchFamily="34" charset="0"/>
                <a:ea typeface="Calibri" pitchFamily="34" charset="-122"/>
                <a:cs typeface="Calibri" pitchFamily="34" charset="-120"/>
              </a:rPr>
              <a:t>Every at-risk customer we catch early is revenue kept, not lost.</a:t>
            </a:r>
            <a:endParaRPr lang="en-US" sz="1500" i="1"/>
          </a:p>
          <a:p>
            <a:pPr marL="0" indent="0" algn="ctr">
              <a:buNone/>
            </a:pPr>
            <a:r>
              <a:rPr lang="en-US" sz="1500" i="1">
                <a:solidFill>
                  <a:srgbClr val="5C6B85"/>
                </a:solidFill>
                <a:latin typeface="Calibri" pitchFamily="34" charset="0"/>
                <a:ea typeface="Calibri" pitchFamily="34" charset="-122"/>
                <a:cs typeface="Calibri" pitchFamily="34" charset="-120"/>
              </a:rPr>
              <a:t>Thank you — I welcome your questions and feedback.</a:t>
            </a:r>
            <a:endParaRPr lang="en-US" sz="1500" i="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2533</Words>
  <Application>Microsoft Office PowerPoint</Application>
  <PresentationFormat>Widescreen</PresentationFormat>
  <Paragraphs>494</Paragraphs>
  <Slides>25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Georgia</vt:lpstr>
      <vt:lpstr>Office Theme</vt:lpstr>
      <vt:lpstr>Predicting Customer Churn to Improve Retention and Business Performance</vt:lpstr>
      <vt:lpstr>The story in brief</vt:lpstr>
      <vt:lpstr>What we set out to solve</vt:lpstr>
      <vt:lpstr>Three related datasets</vt:lpstr>
      <vt:lpstr>Understanding the data</vt:lpstr>
      <vt:lpstr>Getting the data model-ready</vt:lpstr>
      <vt:lpstr>Four models, compared head-to-head</vt:lpstr>
      <vt:lpstr>How the models were built and judged</vt:lpstr>
      <vt:lpstr>Model performance comparison</vt:lpstr>
      <vt:lpstr>What drives churn</vt:lpstr>
      <vt:lpstr>How we built the segments</vt:lpstr>
      <vt:lpstr>Five distinct customer segments</vt:lpstr>
      <vt:lpstr>Signature segments in depth</vt:lpstr>
      <vt:lpstr>PowerPoint Presentation</vt:lpstr>
      <vt:lpstr>PowerPoint Presentation</vt:lpstr>
      <vt:lpstr>PowerPoint Presentation</vt:lpstr>
      <vt:lpstr>How we built the model</vt:lpstr>
      <vt:lpstr>Regression model comparison</vt:lpstr>
      <vt:lpstr>Why regression fell short</vt:lpstr>
      <vt:lpstr>PowerPoint Presentation</vt:lpstr>
      <vt:lpstr>What the retailer should do</vt:lpstr>
      <vt:lpstr>Expected benefits</vt:lpstr>
      <vt:lpstr>Where this can go next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Lisa .</dc:creator>
  <cp:lastModifiedBy>Lisa .</cp:lastModifiedBy>
  <cp:revision>4</cp:revision>
  <dcterms:created xsi:type="dcterms:W3CDTF">2026-07-06T20:39:34Z</dcterms:created>
  <dcterms:modified xsi:type="dcterms:W3CDTF">2026-07-07T02:36:57Z</dcterms:modified>
</cp:coreProperties>
</file>